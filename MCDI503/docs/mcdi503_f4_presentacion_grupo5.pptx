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9"/>
    <p:sldId id="257" r:id="rId10"/>
    <p:sldId id="258" r:id="rId11"/>
    <p:sldId id="259" r:id="rId12"/>
    <p:sldId id="260" r:id="rId13"/>
    <p:sldId id="261" r:id="rId8"/>
    <p:sldId id="262" r:id="rId7"/>
    <p:sldId id="263" r:id="rId6"/>
    <p:sldId id="264" r:id="rId5"/>
    <p:sldId id="265" r:id="rId4"/>
    <p:sldId id="266" r:id="rId3"/>
    <p:sldId id="267" r:id="rId2"/>
    <p:sldId id="268" r:id="rId21"/>
    <p:sldId id="269" r:id="rId22"/>
    <p:sldId id="270" r:id="rId23"/>
    <p:sldId id="271" r:id="rId24"/>
    <p:sldId id="272" r:id="rId2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6190" autoAdjust="0"/>
  </p:normalViewPr>
  <p:slideViewPr>
    <p:cSldViewPr snapToGrid="0">
      <p:cViewPr varScale="1">
        <p:scale>
          <a:sx n="122" d="100"/>
          <a:sy n="122" d="100"/>
        </p:scale>
        <p:origin x="224"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2.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ARRETE SOTO SEBASTIAN A" userId="S::s.navarretesoto@uandresbello.edu::573a2ba3-1626-4f75-8ee1-b3f975acfdab" providerId="AD" clId="Web-{DE86388F-34D4-787A-817D-AB12D38483A2}"/>
    <pc:docChg chg="modSld">
      <pc:chgData name="NAVARRETE SOTO SEBASTIAN A" userId="S::s.navarretesoto@uandresbello.edu::573a2ba3-1626-4f75-8ee1-b3f975acfdab" providerId="AD" clId="Web-{DE86388F-34D4-787A-817D-AB12D38483A2}" dt="2026-06-19T02:10:40.012" v="553" actId="20577"/>
      <pc:docMkLst>
        <pc:docMk/>
      </pc:docMkLst>
      <pc:sldChg chg="modSp">
        <pc:chgData name="NAVARRETE SOTO SEBASTIAN A" userId="S::s.navarretesoto@uandresbello.edu::573a2ba3-1626-4f75-8ee1-b3f975acfdab" providerId="AD" clId="Web-{DE86388F-34D4-787A-817D-AB12D38483A2}" dt="2026-06-19T02:09:22.321" v="464" actId="20577"/>
        <pc:sldMkLst>
          <pc:docMk/>
          <pc:sldMk cId="0" sldId="257"/>
        </pc:sldMkLst>
        <pc:spChg chg="mod">
          <ac:chgData name="NAVARRETE SOTO SEBASTIAN A" userId="S::s.navarretesoto@uandresbello.edu::573a2ba3-1626-4f75-8ee1-b3f975acfdab" providerId="AD" clId="Web-{DE86388F-34D4-787A-817D-AB12D38483A2}" dt="2026-06-19T02:09:22.321" v="464" actId="20577"/>
          <ac:spMkLst>
            <pc:docMk/>
            <pc:sldMk cId="0" sldId="257"/>
            <ac:spMk id="4" creationId="{00000000-0000-0000-0000-000000000000}"/>
          </ac:spMkLst>
        </pc:spChg>
      </pc:sldChg>
      <pc:sldChg chg="addSp delSp modSp">
        <pc:chgData name="NAVARRETE SOTO SEBASTIAN A" userId="S::s.navarretesoto@uandresbello.edu::573a2ba3-1626-4f75-8ee1-b3f975acfdab" providerId="AD" clId="Web-{DE86388F-34D4-787A-817D-AB12D38483A2}" dt="2026-06-19T01:59:16.604" v="46" actId="20577"/>
        <pc:sldMkLst>
          <pc:docMk/>
          <pc:sldMk cId="0" sldId="262"/>
        </pc:sldMkLst>
        <pc:spChg chg="mod">
          <ac:chgData name="NAVARRETE SOTO SEBASTIAN A" userId="S::s.navarretesoto@uandresbello.edu::573a2ba3-1626-4f75-8ee1-b3f975acfdab" providerId="AD" clId="Web-{DE86388F-34D4-787A-817D-AB12D38483A2}" dt="2026-06-19T01:59:03.916" v="19" actId="20577"/>
          <ac:spMkLst>
            <pc:docMk/>
            <pc:sldMk cId="0" sldId="262"/>
            <ac:spMk id="15" creationId="{00000000-0000-0000-0000-000000000000}"/>
          </ac:spMkLst>
        </pc:spChg>
        <pc:spChg chg="mod">
          <ac:chgData name="NAVARRETE SOTO SEBASTIAN A" userId="S::s.navarretesoto@uandresbello.edu::573a2ba3-1626-4f75-8ee1-b3f975acfdab" providerId="AD" clId="Web-{DE86388F-34D4-787A-817D-AB12D38483A2}" dt="2026-06-19T01:59:07.057" v="31" actId="20577"/>
          <ac:spMkLst>
            <pc:docMk/>
            <pc:sldMk cId="0" sldId="262"/>
            <ac:spMk id="18" creationId="{00000000-0000-0000-0000-000000000000}"/>
          </ac:spMkLst>
        </pc:spChg>
        <pc:spChg chg="mod">
          <ac:chgData name="NAVARRETE SOTO SEBASTIAN A" userId="S::s.navarretesoto@uandresbello.edu::573a2ba3-1626-4f75-8ee1-b3f975acfdab" providerId="AD" clId="Web-{DE86388F-34D4-787A-817D-AB12D38483A2}" dt="2026-06-19T01:59:16.604" v="46" actId="20577"/>
          <ac:spMkLst>
            <pc:docMk/>
            <pc:sldMk cId="0" sldId="262"/>
            <ac:spMk id="21" creationId="{00000000-0000-0000-0000-000000000000}"/>
          </ac:spMkLst>
        </pc:spChg>
        <pc:picChg chg="del">
          <ac:chgData name="NAVARRETE SOTO SEBASTIAN A" userId="S::s.navarretesoto@uandresbello.edu::573a2ba3-1626-4f75-8ee1-b3f975acfdab" providerId="AD" clId="Web-{DE86388F-34D4-787A-817D-AB12D38483A2}" dt="2026-06-19T01:58:42.712" v="0"/>
          <ac:picMkLst>
            <pc:docMk/>
            <pc:sldMk cId="0" sldId="262"/>
            <ac:picMk id="7" creationId="{00000000-0000-0000-0000-000000000000}"/>
          </ac:picMkLst>
        </pc:picChg>
        <pc:picChg chg="add mod">
          <ac:chgData name="NAVARRETE SOTO SEBASTIAN A" userId="S::s.navarretesoto@uandresbello.edu::573a2ba3-1626-4f75-8ee1-b3f975acfdab" providerId="AD" clId="Web-{DE86388F-34D4-787A-817D-AB12D38483A2}" dt="2026-06-19T01:58:55.322" v="6" actId="1076"/>
          <ac:picMkLst>
            <pc:docMk/>
            <pc:sldMk cId="0" sldId="262"/>
            <ac:picMk id="22" creationId="{BCFA456A-32C0-550E-7806-BC16F4594120}"/>
          </ac:picMkLst>
        </pc:picChg>
      </pc:sldChg>
      <pc:sldChg chg="addSp delSp modSp">
        <pc:chgData name="NAVARRETE SOTO SEBASTIAN A" userId="S::s.navarretesoto@uandresbello.edu::573a2ba3-1626-4f75-8ee1-b3f975acfdab" providerId="AD" clId="Web-{DE86388F-34D4-787A-817D-AB12D38483A2}" dt="2026-06-19T02:05:36.841" v="255" actId="20577"/>
        <pc:sldMkLst>
          <pc:docMk/>
          <pc:sldMk cId="0" sldId="264"/>
        </pc:sldMkLst>
        <pc:spChg chg="mod">
          <ac:chgData name="NAVARRETE SOTO SEBASTIAN A" userId="S::s.navarretesoto@uandresbello.edu::573a2ba3-1626-4f75-8ee1-b3f975acfdab" providerId="AD" clId="Web-{DE86388F-34D4-787A-817D-AB12D38483A2}" dt="2026-06-19T02:01:16.253" v="106" actId="20577"/>
          <ac:spMkLst>
            <pc:docMk/>
            <pc:sldMk cId="0" sldId="264"/>
            <ac:spMk id="4" creationId="{00000000-0000-0000-0000-000000000000}"/>
          </ac:spMkLst>
        </pc:spChg>
        <pc:spChg chg="mod">
          <ac:chgData name="NAVARRETE SOTO SEBASTIAN A" userId="S::s.navarretesoto@uandresbello.edu::573a2ba3-1626-4f75-8ee1-b3f975acfdab" providerId="AD" clId="Web-{DE86388F-34D4-787A-817D-AB12D38483A2}" dt="2026-06-19T02:03:14.663" v="189" actId="20577"/>
          <ac:spMkLst>
            <pc:docMk/>
            <pc:sldMk cId="0" sldId="264"/>
            <ac:spMk id="11" creationId="{00000000-0000-0000-0000-000000000000}"/>
          </ac:spMkLst>
        </pc:spChg>
        <pc:spChg chg="mod">
          <ac:chgData name="NAVARRETE SOTO SEBASTIAN A" userId="S::s.navarretesoto@uandresbello.edu::573a2ba3-1626-4f75-8ee1-b3f975acfdab" providerId="AD" clId="Web-{DE86388F-34D4-787A-817D-AB12D38483A2}" dt="2026-06-19T02:05:36.841" v="255" actId="20577"/>
          <ac:spMkLst>
            <pc:docMk/>
            <pc:sldMk cId="0" sldId="264"/>
            <ac:spMk id="25" creationId="{00000000-0000-0000-0000-000000000000}"/>
          </ac:spMkLst>
        </pc:spChg>
        <pc:picChg chg="del">
          <ac:chgData name="NAVARRETE SOTO SEBASTIAN A" userId="S::s.navarretesoto@uandresbello.edu::573a2ba3-1626-4f75-8ee1-b3f975acfdab" providerId="AD" clId="Web-{DE86388F-34D4-787A-817D-AB12D38483A2}" dt="2026-06-19T02:03:16.335" v="190"/>
          <ac:picMkLst>
            <pc:docMk/>
            <pc:sldMk cId="0" sldId="264"/>
            <ac:picMk id="7" creationId="{00000000-0000-0000-0000-000000000000}"/>
          </ac:picMkLst>
        </pc:picChg>
        <pc:picChg chg="add mod">
          <ac:chgData name="NAVARRETE SOTO SEBASTIAN A" userId="S::s.navarretesoto@uandresbello.edu::573a2ba3-1626-4f75-8ee1-b3f975acfdab" providerId="AD" clId="Web-{DE86388F-34D4-787A-817D-AB12D38483A2}" dt="2026-06-19T02:03:46.071" v="195" actId="1076"/>
          <ac:picMkLst>
            <pc:docMk/>
            <pc:sldMk cId="0" sldId="264"/>
            <ac:picMk id="26" creationId="{A6EEEAE5-4271-1365-0A02-D6C87237827A}"/>
          </ac:picMkLst>
        </pc:picChg>
      </pc:sldChg>
      <pc:sldChg chg="modSp">
        <pc:chgData name="NAVARRETE SOTO SEBASTIAN A" userId="S::s.navarretesoto@uandresbello.edu::573a2ba3-1626-4f75-8ee1-b3f975acfdab" providerId="AD" clId="Web-{DE86388F-34D4-787A-817D-AB12D38483A2}" dt="2026-06-19T02:10:40.012" v="553" actId="20577"/>
        <pc:sldMkLst>
          <pc:docMk/>
          <pc:sldMk cId="0" sldId="266"/>
        </pc:sldMkLst>
        <pc:spChg chg="mod">
          <ac:chgData name="NAVARRETE SOTO SEBASTIAN A" userId="S::s.navarretesoto@uandresbello.edu::573a2ba3-1626-4f75-8ee1-b3f975acfdab" providerId="AD" clId="Web-{DE86388F-34D4-787A-817D-AB12D38483A2}" dt="2026-06-19T02:10:40.012" v="553" actId="20577"/>
          <ac:spMkLst>
            <pc:docMk/>
            <pc:sldMk cId="0" sldId="266"/>
            <ac:spMk id="15" creationId="{00000000-0000-0000-0000-000000000000}"/>
          </ac:spMkLst>
        </pc:spChg>
      </pc:sldChg>
      <pc:sldChg chg="modSp">
        <pc:chgData name="NAVARRETE SOTO SEBASTIAN A" userId="S::s.navarretesoto@uandresbello.edu::573a2ba3-1626-4f75-8ee1-b3f975acfdab" providerId="AD" clId="Web-{DE86388F-34D4-787A-817D-AB12D38483A2}" dt="2026-06-19T02:08:53.788" v="456" actId="20577"/>
        <pc:sldMkLst>
          <pc:docMk/>
          <pc:sldMk cId="0" sldId="267"/>
        </pc:sldMkLst>
        <pc:spChg chg="mod">
          <ac:chgData name="NAVARRETE SOTO SEBASTIAN A" userId="S::s.navarretesoto@uandresbello.edu::573a2ba3-1626-4f75-8ee1-b3f975acfdab" providerId="AD" clId="Web-{DE86388F-34D4-787A-817D-AB12D38483A2}" dt="2026-06-19T02:08:53.788" v="456" actId="20577"/>
          <ac:spMkLst>
            <pc:docMk/>
            <pc:sldMk cId="0" sldId="267"/>
            <ac:spMk id="8" creationId="{00000000-0000-0000-0000-000000000000}"/>
          </ac:spMkLst>
        </pc:spChg>
        <pc:spChg chg="mod">
          <ac:chgData name="NAVARRETE SOTO SEBASTIAN A" userId="S::s.navarretesoto@uandresbello.edu::573a2ba3-1626-4f75-8ee1-b3f975acfdab" providerId="AD" clId="Web-{DE86388F-34D4-787A-817D-AB12D38483A2}" dt="2026-06-19T02:06:13.092" v="258" actId="20577"/>
          <ac:spMkLst>
            <pc:docMk/>
            <pc:sldMk cId="0" sldId="267"/>
            <ac:spMk id="14" creationId="{00000000-0000-0000-0000-000000000000}"/>
          </ac:spMkLst>
        </pc:spChg>
      </pc:sldChg>
    </pc:docChg>
  </pc:docChgLst>
  <pc:docChgLst>
    <pc:chgData name="MONCADA GONZALEZ ROBERTO C" userId="c3a4c01b-3d29-4b44-8132-0e66966b68b4" providerId="ADAL" clId="{C9B5974C-6C8C-4791-B165-1C5CC6259A00}"/>
    <pc:docChg chg="modSld">
      <pc:chgData name="MONCADA GONZALEZ ROBERTO C" userId="c3a4c01b-3d29-4b44-8132-0e66966b68b4" providerId="ADAL" clId="{C9B5974C-6C8C-4791-B165-1C5CC6259A00}" dt="2026-06-19T18:33:00.148" v="1"/>
      <pc:docMkLst>
        <pc:docMk/>
      </pc:docMkLst>
      <pc:sldChg chg="addSp modSp mod">
        <pc:chgData name="MONCADA GONZALEZ ROBERTO C" userId="c3a4c01b-3d29-4b44-8132-0e66966b68b4" providerId="ADAL" clId="{C9B5974C-6C8C-4791-B165-1C5CC6259A00}" dt="2026-06-19T18:33:00.148" v="1"/>
        <pc:sldMkLst>
          <pc:docMk/>
          <pc:sldMk cId="0" sldId="262"/>
        </pc:sldMkLst>
        <pc:spChg chg="mod">
          <ac:chgData name="MONCADA GONZALEZ ROBERTO C" userId="c3a4c01b-3d29-4b44-8132-0e66966b68b4" providerId="ADAL" clId="{C9B5974C-6C8C-4791-B165-1C5CC6259A00}" dt="2026-06-19T17:42:18.418" v="0" actId="113"/>
          <ac:spMkLst>
            <pc:docMk/>
            <pc:sldMk cId="0" sldId="262"/>
            <ac:spMk id="4" creationId="{00000000-0000-0000-0000-000000000000}"/>
          </ac:spMkLst>
        </pc:spChg>
        <pc:picChg chg="add mod">
          <ac:chgData name="MONCADA GONZALEZ ROBERTO C" userId="c3a4c01b-3d29-4b44-8132-0e66966b68b4" providerId="ADAL" clId="{C9B5974C-6C8C-4791-B165-1C5CC6259A00}" dt="2026-06-19T18:33:00.148" v="1"/>
          <ac:picMkLst>
            <pc:docMk/>
            <pc:sldMk cId="0" sldId="262"/>
            <ac:picMk id="25" creationId="{9EA8FE7A-8E11-B1D9-01D6-4A8C728B14B5}"/>
          </ac:picMkLst>
        </pc:picChg>
      </pc:sldChg>
      <pc:sldChg chg="addSp modSp">
        <pc:chgData name="MONCADA GONZALEZ ROBERTO C" userId="c3a4c01b-3d29-4b44-8132-0e66966b68b4" providerId="ADAL" clId="{C9B5974C-6C8C-4791-B165-1C5CC6259A00}" dt="2026-06-19T18:33:00.148" v="1"/>
        <pc:sldMkLst>
          <pc:docMk/>
          <pc:sldMk cId="0" sldId="263"/>
        </pc:sldMkLst>
        <pc:picChg chg="add mod">
          <ac:chgData name="MONCADA GONZALEZ ROBERTO C" userId="c3a4c01b-3d29-4b44-8132-0e66966b68b4" providerId="ADAL" clId="{C9B5974C-6C8C-4791-B165-1C5CC6259A00}" dt="2026-06-19T18:33:00.148" v="1"/>
          <ac:picMkLst>
            <pc:docMk/>
            <pc:sldMk cId="0" sldId="263"/>
            <ac:picMk id="24" creationId="{6E357A67-43A8-F720-686A-AC02D4175BA2}"/>
          </ac:picMkLst>
        </pc:picChg>
      </pc:sldChg>
      <pc:sldChg chg="addSp modSp">
        <pc:chgData name="MONCADA GONZALEZ ROBERTO C" userId="c3a4c01b-3d29-4b44-8132-0e66966b68b4" providerId="ADAL" clId="{C9B5974C-6C8C-4791-B165-1C5CC6259A00}" dt="2026-06-19T18:33:00.148" v="1"/>
        <pc:sldMkLst>
          <pc:docMk/>
          <pc:sldMk cId="0" sldId="264"/>
        </pc:sldMkLst>
        <pc:picChg chg="add mod">
          <ac:chgData name="MONCADA GONZALEZ ROBERTO C" userId="c3a4c01b-3d29-4b44-8132-0e66966b68b4" providerId="ADAL" clId="{C9B5974C-6C8C-4791-B165-1C5CC6259A00}" dt="2026-06-19T18:33:00.148" v="1"/>
          <ac:picMkLst>
            <pc:docMk/>
            <pc:sldMk cId="0" sldId="264"/>
            <ac:picMk id="29" creationId="{AD83446A-0A18-D7AC-E7D7-57F6ADC7C735}"/>
          </ac:picMkLst>
        </pc:picChg>
      </pc:sldChg>
    </pc:docChg>
  </pc:docChgLst>
  <pc:docChgLst>
    <pc:chgData name="NAVARRETE SOTO SEBASTIAN A" userId="S::s.navarretesoto@uandresbello.edu::573a2ba3-1626-4f75-8ee1-b3f975acfdab" providerId="AD" clId="Web-{F3F872E1-3A16-242B-D186-34B9A0F76E5D}"/>
    <pc:docChg chg="modSld">
      <pc:chgData name="NAVARRETE SOTO SEBASTIAN A" userId="S::s.navarretesoto@uandresbello.edu::573a2ba3-1626-4f75-8ee1-b3f975acfdab" providerId="AD" clId="Web-{F3F872E1-3A16-242B-D186-34B9A0F76E5D}" dt="2026-06-19T13:47:45.151" v="4" actId="20577"/>
      <pc:docMkLst>
        <pc:docMk/>
      </pc:docMkLst>
      <pc:sldChg chg="modSp">
        <pc:chgData name="NAVARRETE SOTO SEBASTIAN A" userId="S::s.navarretesoto@uandresbello.edu::573a2ba3-1626-4f75-8ee1-b3f975acfdab" providerId="AD" clId="Web-{F3F872E1-3A16-242B-D186-34B9A0F76E5D}" dt="2026-06-19T13:47:45.151" v="4" actId="20577"/>
        <pc:sldMkLst>
          <pc:docMk/>
          <pc:sldMk cId="0" sldId="267"/>
        </pc:sldMkLst>
        <pc:spChg chg="mod">
          <ac:chgData name="NAVARRETE SOTO SEBASTIAN A" userId="S::s.navarretesoto@uandresbello.edu::573a2ba3-1626-4f75-8ee1-b3f975acfdab" providerId="AD" clId="Web-{F3F872E1-3A16-242B-D186-34B9A0F76E5D}" dt="2026-06-19T13:47:45.151" v="4" actId="20577"/>
          <ac:spMkLst>
            <pc:docMk/>
            <pc:sldMk cId="0" sldId="267"/>
            <ac:spMk id="8" creationId="{00000000-0000-0000-0000-000000000000}"/>
          </ac:spMkLst>
        </pc:spChg>
      </pc:sldChg>
    </pc:docChg>
  </pc:docChgLst>
  <pc:docChgLst>
    <pc:chgData name="NAVARRETE SOTO SEBASTIAN A" userId="S::s.navarretesoto@uandresbello.edu::573a2ba3-1626-4f75-8ee1-b3f975acfdab" providerId="AD" clId="Web-{89F82020-830A-0CD7-FD85-5CA789107BA8}"/>
    <pc:docChg chg="modSld">
      <pc:chgData name="NAVARRETE SOTO SEBASTIAN A" userId="S::s.navarretesoto@uandresbello.edu::573a2ba3-1626-4f75-8ee1-b3f975acfdab" providerId="AD" clId="Web-{89F82020-830A-0CD7-FD85-5CA789107BA8}" dt="2026-06-19T12:43:20.028" v="57"/>
      <pc:docMkLst>
        <pc:docMk/>
      </pc:docMkLst>
      <pc:sldChg chg="modSp modNotes">
        <pc:chgData name="NAVARRETE SOTO SEBASTIAN A" userId="S::s.navarretesoto@uandresbello.edu::573a2ba3-1626-4f75-8ee1-b3f975acfdab" providerId="AD" clId="Web-{89F82020-830A-0CD7-FD85-5CA789107BA8}" dt="2026-06-19T12:43:20.028" v="57"/>
        <pc:sldMkLst>
          <pc:docMk/>
          <pc:sldMk cId="0" sldId="266"/>
        </pc:sldMkLst>
        <pc:spChg chg="mod">
          <ac:chgData name="NAVARRETE SOTO SEBASTIAN A" userId="S::s.navarretesoto@uandresbello.edu::573a2ba3-1626-4f75-8ee1-b3f975acfdab" providerId="AD" clId="Web-{89F82020-830A-0CD7-FD85-5CA789107BA8}" dt="2026-06-19T12:39:45.742" v="2" actId="20577"/>
          <ac:spMkLst>
            <pc:docMk/>
            <pc:sldMk cId="0" sldId="266"/>
            <ac:spMk id="15" creationId="{00000000-0000-0000-0000-000000000000}"/>
          </ac:spMkLst>
        </pc:spChg>
      </pc:sldChg>
      <pc:sldChg chg="modSp">
        <pc:chgData name="NAVARRETE SOTO SEBASTIAN A" userId="S::s.navarretesoto@uandresbello.edu::573a2ba3-1626-4f75-8ee1-b3f975acfdab" providerId="AD" clId="Web-{89F82020-830A-0CD7-FD85-5CA789107BA8}" dt="2026-06-19T12:41:55.177" v="55" actId="1076"/>
        <pc:sldMkLst>
          <pc:docMk/>
          <pc:sldMk cId="0" sldId="267"/>
        </pc:sldMkLst>
        <pc:spChg chg="mod">
          <ac:chgData name="NAVARRETE SOTO SEBASTIAN A" userId="S::s.navarretesoto@uandresbello.edu::573a2ba3-1626-4f75-8ee1-b3f975acfdab" providerId="AD" clId="Web-{89F82020-830A-0CD7-FD85-5CA789107BA8}" dt="2026-06-19T12:40:40.810" v="24" actId="1076"/>
          <ac:spMkLst>
            <pc:docMk/>
            <pc:sldMk cId="0" sldId="267"/>
            <ac:spMk id="3" creationId="{00000000-0000-0000-0000-000000000000}"/>
          </ac:spMkLst>
        </pc:spChg>
        <pc:spChg chg="mod">
          <ac:chgData name="NAVARRETE SOTO SEBASTIAN A" userId="S::s.navarretesoto@uandresbello.edu::573a2ba3-1626-4f75-8ee1-b3f975acfdab" providerId="AD" clId="Web-{89F82020-830A-0CD7-FD85-5CA789107BA8}" dt="2026-06-19T12:40:40.810" v="23" actId="1076"/>
          <ac:spMkLst>
            <pc:docMk/>
            <pc:sldMk cId="0" sldId="267"/>
            <ac:spMk id="4" creationId="{00000000-0000-0000-0000-000000000000}"/>
          </ac:spMkLst>
        </pc:spChg>
        <pc:spChg chg="mod">
          <ac:chgData name="NAVARRETE SOTO SEBASTIAN A" userId="S::s.navarretesoto@uandresbello.edu::573a2ba3-1626-4f75-8ee1-b3f975acfdab" providerId="AD" clId="Web-{89F82020-830A-0CD7-FD85-5CA789107BA8}" dt="2026-06-19T12:40:40.810" v="22" actId="1076"/>
          <ac:spMkLst>
            <pc:docMk/>
            <pc:sldMk cId="0" sldId="267"/>
            <ac:spMk id="5" creationId="{00000000-0000-0000-0000-000000000000}"/>
          </ac:spMkLst>
        </pc:spChg>
        <pc:spChg chg="mod">
          <ac:chgData name="NAVARRETE SOTO SEBASTIAN A" userId="S::s.navarretesoto@uandresbello.edu::573a2ba3-1626-4f75-8ee1-b3f975acfdab" providerId="AD" clId="Web-{89F82020-830A-0CD7-FD85-5CA789107BA8}" dt="2026-06-19T12:40:53.843" v="35" actId="1076"/>
          <ac:spMkLst>
            <pc:docMk/>
            <pc:sldMk cId="0" sldId="267"/>
            <ac:spMk id="7" creationId="{00000000-0000-0000-0000-000000000000}"/>
          </ac:spMkLst>
        </pc:spChg>
        <pc:spChg chg="mod">
          <ac:chgData name="NAVARRETE SOTO SEBASTIAN A" userId="S::s.navarretesoto@uandresbello.edu::573a2ba3-1626-4f75-8ee1-b3f975acfdab" providerId="AD" clId="Web-{89F82020-830A-0CD7-FD85-5CA789107BA8}" dt="2026-06-19T12:41:24.393" v="43" actId="20577"/>
          <ac:spMkLst>
            <pc:docMk/>
            <pc:sldMk cId="0" sldId="267"/>
            <ac:spMk id="8" creationId="{00000000-0000-0000-0000-000000000000}"/>
          </ac:spMkLst>
        </pc:spChg>
        <pc:spChg chg="mod">
          <ac:chgData name="NAVARRETE SOTO SEBASTIAN A" userId="S::s.navarretesoto@uandresbello.edu::573a2ba3-1626-4f75-8ee1-b3f975acfdab" providerId="AD" clId="Web-{89F82020-830A-0CD7-FD85-5CA789107BA8}" dt="2026-06-19T12:41:55.177" v="55" actId="1076"/>
          <ac:spMkLst>
            <pc:docMk/>
            <pc:sldMk cId="0" sldId="267"/>
            <ac:spMk id="9" creationId="{00000000-0000-0000-0000-000000000000}"/>
          </ac:spMkLst>
        </pc:spChg>
        <pc:spChg chg="mod">
          <ac:chgData name="NAVARRETE SOTO SEBASTIAN A" userId="S::s.navarretesoto@uandresbello.edu::573a2ba3-1626-4f75-8ee1-b3f975acfdab" providerId="AD" clId="Web-{89F82020-830A-0CD7-FD85-5CA789107BA8}" dt="2026-06-19T12:41:52.427" v="50" actId="1076"/>
          <ac:spMkLst>
            <pc:docMk/>
            <pc:sldMk cId="0" sldId="267"/>
            <ac:spMk id="10" creationId="{00000000-0000-0000-0000-000000000000}"/>
          </ac:spMkLst>
        </pc:spChg>
        <pc:spChg chg="mod">
          <ac:chgData name="NAVARRETE SOTO SEBASTIAN A" userId="S::s.navarretesoto@uandresbello.edu::573a2ba3-1626-4f75-8ee1-b3f975acfdab" providerId="AD" clId="Web-{89F82020-830A-0CD7-FD85-5CA789107BA8}" dt="2026-06-19T12:41:52.442" v="51" actId="1076"/>
          <ac:spMkLst>
            <pc:docMk/>
            <pc:sldMk cId="0" sldId="267"/>
            <ac:spMk id="11" creationId="{00000000-0000-0000-0000-000000000000}"/>
          </ac:spMkLst>
        </pc:spChg>
        <pc:spChg chg="mod">
          <ac:chgData name="NAVARRETE SOTO SEBASTIAN A" userId="S::s.navarretesoto@uandresbello.edu::573a2ba3-1626-4f75-8ee1-b3f975acfdab" providerId="AD" clId="Web-{89F82020-830A-0CD7-FD85-5CA789107BA8}" dt="2026-06-19T12:41:52.442" v="52" actId="1076"/>
          <ac:spMkLst>
            <pc:docMk/>
            <pc:sldMk cId="0" sldId="267"/>
            <ac:spMk id="12" creationId="{00000000-0000-0000-0000-000000000000}"/>
          </ac:spMkLst>
        </pc:spChg>
        <pc:spChg chg="mod">
          <ac:chgData name="NAVARRETE SOTO SEBASTIAN A" userId="S::s.navarretesoto@uandresbello.edu::573a2ba3-1626-4f75-8ee1-b3f975acfdab" providerId="AD" clId="Web-{89F82020-830A-0CD7-FD85-5CA789107BA8}" dt="2026-06-19T12:41:52.458" v="53" actId="1076"/>
          <ac:spMkLst>
            <pc:docMk/>
            <pc:sldMk cId="0" sldId="267"/>
            <ac:spMk id="13" creationId="{00000000-0000-0000-0000-000000000000}"/>
          </ac:spMkLst>
        </pc:spChg>
        <pc:spChg chg="mod">
          <ac:chgData name="NAVARRETE SOTO SEBASTIAN A" userId="S::s.navarretesoto@uandresbello.edu::573a2ba3-1626-4f75-8ee1-b3f975acfdab" providerId="AD" clId="Web-{89F82020-830A-0CD7-FD85-5CA789107BA8}" dt="2026-06-19T12:41:52.474" v="54" actId="1076"/>
          <ac:spMkLst>
            <pc:docMk/>
            <pc:sldMk cId="0" sldId="267"/>
            <ac:spMk id="14" creationId="{00000000-0000-0000-0000-000000000000}"/>
          </ac:spMkLst>
        </pc:spChg>
      </pc:sldChg>
    </pc:docChg>
  </pc:docChgLst>
  <pc:docChgLst>
    <pc:chgData name="NAVARRETE SOTO SEBASTIAN A" userId="S::s.navarretesoto@uandresbello.edu::573a2ba3-1626-4f75-8ee1-b3f975acfdab" providerId="AD" clId="Web-{F7E9CCC1-C411-A715-1950-4400E6C230FE}"/>
    <pc:docChg chg="modSld">
      <pc:chgData name="NAVARRETE SOTO SEBASTIAN A" userId="S::s.navarretesoto@uandresbello.edu::573a2ba3-1626-4f75-8ee1-b3f975acfdab" providerId="AD" clId="Web-{F7E9CCC1-C411-A715-1950-4400E6C230FE}" dt="2026-06-19T12:37:06.759" v="39"/>
      <pc:docMkLst>
        <pc:docMk/>
      </pc:docMkLst>
      <pc:sldChg chg="modNotes">
        <pc:chgData name="NAVARRETE SOTO SEBASTIAN A" userId="S::s.navarretesoto@uandresbello.edu::573a2ba3-1626-4f75-8ee1-b3f975acfdab" providerId="AD" clId="Web-{F7E9CCC1-C411-A715-1950-4400E6C230FE}" dt="2026-06-19T12:30:08.461" v="19"/>
        <pc:sldMkLst>
          <pc:docMk/>
          <pc:sldMk cId="0" sldId="260"/>
        </pc:sldMkLst>
      </pc:sldChg>
      <pc:sldChg chg="modNotes">
        <pc:chgData name="NAVARRETE SOTO SEBASTIAN A" userId="S::s.navarretesoto@uandresbello.edu::573a2ba3-1626-4f75-8ee1-b3f975acfdab" providerId="AD" clId="Web-{F7E9CCC1-C411-A715-1950-4400E6C230FE}" dt="2026-06-19T12:30:44.587" v="22"/>
        <pc:sldMkLst>
          <pc:docMk/>
          <pc:sldMk cId="0" sldId="262"/>
        </pc:sldMkLst>
      </pc:sldChg>
      <pc:sldChg chg="modSp modNotes">
        <pc:chgData name="NAVARRETE SOTO SEBASTIAN A" userId="S::s.navarretesoto@uandresbello.edu::573a2ba3-1626-4f75-8ee1-b3f975acfdab" providerId="AD" clId="Web-{F7E9CCC1-C411-A715-1950-4400E6C230FE}" dt="2026-06-19T12:32:02.763" v="28"/>
        <pc:sldMkLst>
          <pc:docMk/>
          <pc:sldMk cId="0" sldId="264"/>
        </pc:sldMkLst>
        <pc:spChg chg="mod">
          <ac:chgData name="NAVARRETE SOTO SEBASTIAN A" userId="S::s.navarretesoto@uandresbello.edu::573a2ba3-1626-4f75-8ee1-b3f975acfdab" providerId="AD" clId="Web-{F7E9CCC1-C411-A715-1950-4400E6C230FE}" dt="2026-06-19T12:25:21.246" v="2" actId="20577"/>
          <ac:spMkLst>
            <pc:docMk/>
            <pc:sldMk cId="0" sldId="264"/>
            <ac:spMk id="4" creationId="{00000000-0000-0000-0000-000000000000}"/>
          </ac:spMkLst>
        </pc:spChg>
        <pc:spChg chg="mod">
          <ac:chgData name="NAVARRETE SOTO SEBASTIAN A" userId="S::s.navarretesoto@uandresbello.edu::573a2ba3-1626-4f75-8ee1-b3f975acfdab" providerId="AD" clId="Web-{F7E9CCC1-C411-A715-1950-4400E6C230FE}" dt="2026-06-19T12:26:08.951" v="5" actId="20577"/>
          <ac:spMkLst>
            <pc:docMk/>
            <pc:sldMk cId="0" sldId="264"/>
            <ac:spMk id="11" creationId="{00000000-0000-0000-0000-000000000000}"/>
          </ac:spMkLst>
        </pc:spChg>
        <pc:spChg chg="mod">
          <ac:chgData name="NAVARRETE SOTO SEBASTIAN A" userId="S::s.navarretesoto@uandresbello.edu::573a2ba3-1626-4f75-8ee1-b3f975acfdab" providerId="AD" clId="Web-{F7E9CCC1-C411-A715-1950-4400E6C230FE}" dt="2026-06-19T12:26:15.076" v="7" actId="20577"/>
          <ac:spMkLst>
            <pc:docMk/>
            <pc:sldMk cId="0" sldId="264"/>
            <ac:spMk id="12" creationId="{00000000-0000-0000-0000-000000000000}"/>
          </ac:spMkLst>
        </pc:spChg>
        <pc:spChg chg="mod">
          <ac:chgData name="NAVARRETE SOTO SEBASTIAN A" userId="S::s.navarretesoto@uandresbello.edu::573a2ba3-1626-4f75-8ee1-b3f975acfdab" providerId="AD" clId="Web-{F7E9CCC1-C411-A715-1950-4400E6C230FE}" dt="2026-06-19T12:26:38.499" v="9" actId="20577"/>
          <ac:spMkLst>
            <pc:docMk/>
            <pc:sldMk cId="0" sldId="264"/>
            <ac:spMk id="25" creationId="{00000000-0000-0000-0000-000000000000}"/>
          </ac:spMkLst>
        </pc:spChg>
      </pc:sldChg>
      <pc:sldChg chg="modNotes">
        <pc:chgData name="NAVARRETE SOTO SEBASTIAN A" userId="S::s.navarretesoto@uandresbello.edu::573a2ba3-1626-4f75-8ee1-b3f975acfdab" providerId="AD" clId="Web-{F7E9CCC1-C411-A715-1950-4400E6C230FE}" dt="2026-06-19T12:33:44.126" v="32"/>
        <pc:sldMkLst>
          <pc:docMk/>
          <pc:sldMk cId="0" sldId="265"/>
        </pc:sldMkLst>
      </pc:sldChg>
      <pc:sldChg chg="modSp modNotes">
        <pc:chgData name="NAVARRETE SOTO SEBASTIAN A" userId="S::s.navarretesoto@uandresbello.edu::573a2ba3-1626-4f75-8ee1-b3f975acfdab" providerId="AD" clId="Web-{F7E9CCC1-C411-A715-1950-4400E6C230FE}" dt="2026-06-19T12:36:35.574" v="36"/>
        <pc:sldMkLst>
          <pc:docMk/>
          <pc:sldMk cId="0" sldId="266"/>
        </pc:sldMkLst>
        <pc:spChg chg="mod">
          <ac:chgData name="NAVARRETE SOTO SEBASTIAN A" userId="S::s.navarretesoto@uandresbello.edu::573a2ba3-1626-4f75-8ee1-b3f975acfdab" providerId="AD" clId="Web-{F7E9CCC1-C411-A715-1950-4400E6C230FE}" dt="2026-06-19T12:28:02.112" v="14" actId="20577"/>
          <ac:spMkLst>
            <pc:docMk/>
            <pc:sldMk cId="0" sldId="266"/>
            <ac:spMk id="15" creationId="{00000000-0000-0000-0000-000000000000}"/>
          </ac:spMkLst>
        </pc:spChg>
      </pc:sldChg>
      <pc:sldChg chg="modNotes">
        <pc:chgData name="NAVARRETE SOTO SEBASTIAN A" userId="S::s.navarretesoto@uandresbello.edu::573a2ba3-1626-4f75-8ee1-b3f975acfdab" providerId="AD" clId="Web-{F7E9CCC1-C411-A715-1950-4400E6C230FE}" dt="2026-06-19T12:37:06.759" v="39"/>
        <pc:sldMkLst>
          <pc:docMk/>
          <pc:sldMk cId="0" sldId="267"/>
        </pc:sldMkLst>
      </pc:sldChg>
    </pc:docChg>
  </pc:docChgLst>
  <pc:docChgLst>
    <pc:chgData name="NAVARRETE SOTO SEBASTIAN A" userId="S::s.navarretesoto@uandresbello.edu::573a2ba3-1626-4f75-8ee1-b3f975acfdab" providerId="AD" clId="Web-{2B220177-40C1-27ED-CB73-1F8347ED124F}"/>
    <pc:docChg chg="modSld">
      <pc:chgData name="NAVARRETE SOTO SEBASTIAN A" userId="S::s.navarretesoto@uandresbello.edu::573a2ba3-1626-4f75-8ee1-b3f975acfdab" providerId="AD" clId="Web-{2B220177-40C1-27ED-CB73-1F8347ED124F}" dt="2026-06-19T13:56:33.469" v="20"/>
      <pc:docMkLst>
        <pc:docMk/>
      </pc:docMkLst>
      <pc:sldChg chg="modNotes">
        <pc:chgData name="NAVARRETE SOTO SEBASTIAN A" userId="S::s.navarretesoto@uandresbello.edu::573a2ba3-1626-4f75-8ee1-b3f975acfdab" providerId="AD" clId="Web-{2B220177-40C1-27ED-CB73-1F8347ED124F}" dt="2026-06-19T13:52:46.414" v="2"/>
        <pc:sldMkLst>
          <pc:docMk/>
          <pc:sldMk cId="0" sldId="260"/>
        </pc:sldMkLst>
      </pc:sldChg>
      <pc:sldChg chg="modSp">
        <pc:chgData name="NAVARRETE SOTO SEBASTIAN A" userId="S::s.navarretesoto@uandresbello.edu::573a2ba3-1626-4f75-8ee1-b3f975acfdab" providerId="AD" clId="Web-{2B220177-40C1-27ED-CB73-1F8347ED124F}" dt="2026-06-19T13:56:33.469" v="20"/>
        <pc:sldMkLst>
          <pc:docMk/>
          <pc:sldMk cId="0" sldId="266"/>
        </pc:sldMkLst>
        <pc:spChg chg="mod">
          <ac:chgData name="NAVARRETE SOTO SEBASTIAN A" userId="S::s.navarretesoto@uandresbello.edu::573a2ba3-1626-4f75-8ee1-b3f975acfdab" providerId="AD" clId="Web-{2B220177-40C1-27ED-CB73-1F8347ED124F}" dt="2026-06-19T13:56:33.469" v="20"/>
          <ac:spMkLst>
            <pc:docMk/>
            <pc:sldMk cId="0" sldId="266"/>
            <ac:spMk id="15" creationId="{00000000-0000-0000-0000-000000000000}"/>
          </ac:spMkLst>
        </pc:spChg>
      </pc:sldChg>
    </pc:docChg>
  </pc:docChgLst>
  <pc:docChgLst>
    <pc:chgData name="NAVARRETE SOTO SEBASTIAN A" userId="S::s.navarretesoto@uandresbello.edu::573a2ba3-1626-4f75-8ee1-b3f975acfdab" providerId="AD" clId="Web-{5C1EB8C7-453A-DFD6-AFEB-20CF156D8140}"/>
    <pc:docChg chg="modSld">
      <pc:chgData name="NAVARRETE SOTO SEBASTIAN A" userId="S::s.navarretesoto@uandresbello.edu::573a2ba3-1626-4f75-8ee1-b3f975acfdab" providerId="AD" clId="Web-{5C1EB8C7-453A-DFD6-AFEB-20CF156D8140}" dt="2026-06-19T13:11:15.787" v="85"/>
      <pc:docMkLst>
        <pc:docMk/>
      </pc:docMkLst>
      <pc:sldChg chg="modSp">
        <pc:chgData name="NAVARRETE SOTO SEBASTIAN A" userId="S::s.navarretesoto@uandresbello.edu::573a2ba3-1626-4f75-8ee1-b3f975acfdab" providerId="AD" clId="Web-{5C1EB8C7-453A-DFD6-AFEB-20CF156D8140}" dt="2026-06-19T13:04:33.010" v="11" actId="20577"/>
        <pc:sldMkLst>
          <pc:docMk/>
          <pc:sldMk cId="0" sldId="258"/>
        </pc:sldMkLst>
        <pc:spChg chg="mod">
          <ac:chgData name="NAVARRETE SOTO SEBASTIAN A" userId="S::s.navarretesoto@uandresbello.edu::573a2ba3-1626-4f75-8ee1-b3f975acfdab" providerId="AD" clId="Web-{5C1EB8C7-453A-DFD6-AFEB-20CF156D8140}" dt="2026-06-19T13:04:33.010" v="11" actId="20577"/>
          <ac:spMkLst>
            <pc:docMk/>
            <pc:sldMk cId="0" sldId="258"/>
            <ac:spMk id="20" creationId="{00000000-0000-0000-0000-000000000000}"/>
          </ac:spMkLst>
        </pc:spChg>
      </pc:sldChg>
      <pc:sldChg chg="modSp">
        <pc:chgData name="NAVARRETE SOTO SEBASTIAN A" userId="S::s.navarretesoto@uandresbello.edu::573a2ba3-1626-4f75-8ee1-b3f975acfdab" providerId="AD" clId="Web-{5C1EB8C7-453A-DFD6-AFEB-20CF156D8140}" dt="2026-06-19T13:05:21.904" v="27" actId="20577"/>
        <pc:sldMkLst>
          <pc:docMk/>
          <pc:sldMk cId="0" sldId="259"/>
        </pc:sldMkLst>
        <pc:spChg chg="mod">
          <ac:chgData name="NAVARRETE SOTO SEBASTIAN A" userId="S::s.navarretesoto@uandresbello.edu::573a2ba3-1626-4f75-8ee1-b3f975acfdab" providerId="AD" clId="Web-{5C1EB8C7-453A-DFD6-AFEB-20CF156D8140}" dt="2026-06-19T13:05:11.278" v="22" actId="20577"/>
          <ac:spMkLst>
            <pc:docMk/>
            <pc:sldMk cId="0" sldId="259"/>
            <ac:spMk id="11" creationId="{00000000-0000-0000-0000-000000000000}"/>
          </ac:spMkLst>
        </pc:spChg>
        <pc:spChg chg="mod">
          <ac:chgData name="NAVARRETE SOTO SEBASTIAN A" userId="S::s.navarretesoto@uandresbello.edu::573a2ba3-1626-4f75-8ee1-b3f975acfdab" providerId="AD" clId="Web-{5C1EB8C7-453A-DFD6-AFEB-20CF156D8140}" dt="2026-06-19T13:05:21.904" v="27" actId="20577"/>
          <ac:spMkLst>
            <pc:docMk/>
            <pc:sldMk cId="0" sldId="259"/>
            <ac:spMk id="26" creationId="{00000000-0000-0000-0000-000000000000}"/>
          </ac:spMkLst>
        </pc:spChg>
      </pc:sldChg>
      <pc:sldChg chg="modSp modNotes">
        <pc:chgData name="NAVARRETE SOTO SEBASTIAN A" userId="S::s.navarretesoto@uandresbello.edu::573a2ba3-1626-4f75-8ee1-b3f975acfdab" providerId="AD" clId="Web-{5C1EB8C7-453A-DFD6-AFEB-20CF156D8140}" dt="2026-06-19T13:10:14.658" v="65"/>
        <pc:sldMkLst>
          <pc:docMk/>
          <pc:sldMk cId="0" sldId="260"/>
        </pc:sldMkLst>
        <pc:spChg chg="mod">
          <ac:chgData name="NAVARRETE SOTO SEBASTIAN A" userId="S::s.navarretesoto@uandresbello.edu::573a2ba3-1626-4f75-8ee1-b3f975acfdab" providerId="AD" clId="Web-{5C1EB8C7-453A-DFD6-AFEB-20CF156D8140}" dt="2026-06-19T13:06:01.688" v="29" actId="20577"/>
          <ac:spMkLst>
            <pc:docMk/>
            <pc:sldMk cId="0" sldId="260"/>
            <ac:spMk id="4" creationId="{00000000-0000-0000-0000-000000000000}"/>
          </ac:spMkLst>
        </pc:spChg>
      </pc:sldChg>
      <pc:sldChg chg="modSp modNotes">
        <pc:chgData name="NAVARRETE SOTO SEBASTIAN A" userId="S::s.navarretesoto@uandresbello.edu::573a2ba3-1626-4f75-8ee1-b3f975acfdab" providerId="AD" clId="Web-{5C1EB8C7-453A-DFD6-AFEB-20CF156D8140}" dt="2026-06-19T13:10:27.456" v="83"/>
        <pc:sldMkLst>
          <pc:docMk/>
          <pc:sldMk cId="0" sldId="262"/>
        </pc:sldMkLst>
        <pc:spChg chg="mod">
          <ac:chgData name="NAVARRETE SOTO SEBASTIAN A" userId="S::s.navarretesoto@uandresbello.edu::573a2ba3-1626-4f75-8ee1-b3f975acfdab" providerId="AD" clId="Web-{5C1EB8C7-453A-DFD6-AFEB-20CF156D8140}" dt="2026-06-19T13:07:03.286" v="44" actId="20577"/>
          <ac:spMkLst>
            <pc:docMk/>
            <pc:sldMk cId="0" sldId="262"/>
            <ac:spMk id="11" creationId="{00000000-0000-0000-0000-000000000000}"/>
          </ac:spMkLst>
        </pc:spChg>
      </pc:sldChg>
      <pc:sldChg chg="modSp">
        <pc:chgData name="NAVARRETE SOTO SEBASTIAN A" userId="S::s.navarretesoto@uandresbello.edu::573a2ba3-1626-4f75-8ee1-b3f975acfdab" providerId="AD" clId="Web-{5C1EB8C7-453A-DFD6-AFEB-20CF156D8140}" dt="2026-06-19T13:08:10.665" v="61" actId="20577"/>
        <pc:sldMkLst>
          <pc:docMk/>
          <pc:sldMk cId="0" sldId="263"/>
        </pc:sldMkLst>
        <pc:spChg chg="mod">
          <ac:chgData name="NAVARRETE SOTO SEBASTIAN A" userId="S::s.navarretesoto@uandresbello.edu::573a2ba3-1626-4f75-8ee1-b3f975acfdab" providerId="AD" clId="Web-{5C1EB8C7-453A-DFD6-AFEB-20CF156D8140}" dt="2026-06-19T13:07:41.429" v="48" actId="20577"/>
          <ac:spMkLst>
            <pc:docMk/>
            <pc:sldMk cId="0" sldId="263"/>
            <ac:spMk id="11" creationId="{00000000-0000-0000-0000-000000000000}"/>
          </ac:spMkLst>
        </pc:spChg>
        <pc:spChg chg="mod">
          <ac:chgData name="NAVARRETE SOTO SEBASTIAN A" userId="S::s.navarretesoto@uandresbello.edu::573a2ba3-1626-4f75-8ee1-b3f975acfdab" providerId="AD" clId="Web-{5C1EB8C7-453A-DFD6-AFEB-20CF156D8140}" dt="2026-06-19T13:08:10.665" v="61" actId="20577"/>
          <ac:spMkLst>
            <pc:docMk/>
            <pc:sldMk cId="0" sldId="263"/>
            <ac:spMk id="19" creationId="{00000000-0000-0000-0000-000000000000}"/>
          </ac:spMkLst>
        </pc:spChg>
      </pc:sldChg>
      <pc:sldChg chg="modNotes">
        <pc:chgData name="NAVARRETE SOTO SEBASTIAN A" userId="S::s.navarretesoto@uandresbello.edu::573a2ba3-1626-4f75-8ee1-b3f975acfdab" providerId="AD" clId="Web-{5C1EB8C7-453A-DFD6-AFEB-20CF156D8140}" dt="2026-06-19T13:11:15.787" v="85"/>
        <pc:sldMkLst>
          <pc:docMk/>
          <pc:sldMk cId="0" sldId="266"/>
        </pc:sldMkLst>
      </pc:sldChg>
      <pc:sldChg chg="modSp">
        <pc:chgData name="NAVARRETE SOTO SEBASTIAN A" userId="S::s.navarretesoto@uandresbello.edu::573a2ba3-1626-4f75-8ee1-b3f975acfdab" providerId="AD" clId="Web-{5C1EB8C7-453A-DFD6-AFEB-20CF156D8140}" dt="2026-06-19T12:45:44.154" v="8" actId="20577"/>
        <pc:sldMkLst>
          <pc:docMk/>
          <pc:sldMk cId="0" sldId="267"/>
        </pc:sldMkLst>
        <pc:spChg chg="mod">
          <ac:chgData name="NAVARRETE SOTO SEBASTIAN A" userId="S::s.navarretesoto@uandresbello.edu::573a2ba3-1626-4f75-8ee1-b3f975acfdab" providerId="AD" clId="Web-{5C1EB8C7-453A-DFD6-AFEB-20CF156D8140}" dt="2026-06-19T12:45:44.154" v="8" actId="20577"/>
          <ac:spMkLst>
            <pc:docMk/>
            <pc:sldMk cId="0" sldId="267"/>
            <ac:spMk id="8"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E0E6F0"/>
                </a:solidFill>
                <a:latin typeface="Calibri"/>
              </a:rPr>
              <a:t>Supervivencia por clase y sexo (%)</a:t>
            </a:r>
          </a:p>
        </c:rich>
      </c:tx>
      <c:layout/>
      <c:overlay val="0"/>
    </c:title>
    <c:autoTitleDeleted val="0"/>
    <c:plotArea>
      <c:barChart>
        <c:barDir val="col"/>
        <c:grouping val="clustered"/>
        <c:ser>
          <c:idx val="0"/>
          <c:order val="0"/>
          <c:tx>
            <c:strRef>
              <c:f>Sheet1!$B$1</c:f>
              <c:strCache>
                <c:ptCount val="1"/>
                <c:pt idx="0">
                  <c:v>Mujeres</c:v>
                </c:pt>
              </c:strCache>
            </c:strRef>
          </c:tx>
          <c:spPr>
            <a:solidFill>
              <a:srgbClr val="4FC3F7"/>
            </a:solidFill>
          </c:spPr>
          <c:cat>
            <c:strRef>
              <c:f>Sheet1!$A$2:$A$4</c:f>
              <c:strCache>
                <c:ptCount val="3"/>
                <c:pt idx="0">
                  <c:v>1.ª clase</c:v>
                </c:pt>
                <c:pt idx="1">
                  <c:v>2.ª clase</c:v>
                </c:pt>
                <c:pt idx="2">
                  <c:v>3.ª clase</c:v>
                </c:pt>
              </c:strCache>
            </c:strRef>
          </c:cat>
          <c:val>
            <c:numRef>
              <c:f>Sheet1!$B$2:$B$4</c:f>
              <c:numCache>
                <c:formatCode>General</c:formatCode>
                <c:ptCount val="3"/>
                <c:pt idx="0">
                  <c:v>96.8</c:v>
                </c:pt>
                <c:pt idx="1">
                  <c:v>92.1</c:v>
                </c:pt>
                <c:pt idx="2">
                  <c:v>50.0</c:v>
                </c:pt>
              </c:numCache>
            </c:numRef>
          </c:val>
        </c:ser>
        <c:ser>
          <c:idx val="1"/>
          <c:order val="1"/>
          <c:tx>
            <c:strRef>
              <c:f>Sheet1!$C$1</c:f>
              <c:strCache>
                <c:ptCount val="1"/>
                <c:pt idx="0">
                  <c:v>Hombres</c:v>
                </c:pt>
              </c:strCache>
            </c:strRef>
          </c:tx>
          <c:spPr>
            <a:solidFill>
              <a:srgbClr val="FFB74D"/>
            </a:solidFill>
          </c:spPr>
          <c:cat>
            <c:strRef>
              <c:f>Sheet1!$A$2:$A$4</c:f>
              <c:strCache>
                <c:ptCount val="3"/>
                <c:pt idx="0">
                  <c:v>1.ª clase</c:v>
                </c:pt>
                <c:pt idx="1">
                  <c:v>2.ª clase</c:v>
                </c:pt>
                <c:pt idx="2">
                  <c:v>3.ª clase</c:v>
                </c:pt>
              </c:strCache>
            </c:strRef>
          </c:cat>
          <c:val>
            <c:numRef>
              <c:f>Sheet1!$C$2:$C$4</c:f>
              <c:numCache>
                <c:formatCode>General</c:formatCode>
                <c:ptCount val="3"/>
                <c:pt idx="0">
                  <c:v>36.9</c:v>
                </c:pt>
                <c:pt idx="1">
                  <c:v>15.7</c:v>
                </c:pt>
                <c:pt idx="2">
                  <c:v>13.5</c:v>
                </c:pt>
              </c:numCache>
            </c:numRef>
          </c:val>
        </c:ser>
        <c:dLbls>
          <c:numFmt formatCode="0.0&quot;%&quot;" sourceLinked="0"/>
          <c:txPr>
            <a:bodyPr/>
            <a:lstStyle/>
            <a:p>
              <a:pPr>
                <a:defRPr sz="1100">
                  <a:solidFill>
                    <a:srgbClr val="E0E6F0"/>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2A3E54"/>
            </a:solidFill>
          </a:ln>
        </c:spPr>
        <c:txPr>
          <a:bodyPr/>
          <a:lstStyle/>
          <a:p>
            <a:pPr>
              <a:defRPr sz="1100">
                <a:solidFill>
                  <a:srgbClr val="B0C4DE"/>
                </a:solidFill>
              </a:defRPr>
            </a:pPr>
          </a:p>
        </c:txPr>
        <c:crossAx val="-2113994440"/>
        <c:crosses val="autoZero"/>
        <c:auto val="1"/>
        <c:lblAlgn val="ctr"/>
        <c:lblOffset val="100"/>
        <c:noMultiLvlLbl val="0"/>
      </c:catAx>
      <c:valAx>
        <c:axId val="-2113994440"/>
        <c:scaling>
          <c:max val="100.0"/>
          <c:min val="0.0"/>
        </c:scaling>
        <c:delete val="0"/>
        <c:axPos val="l"/>
        <c:majorGridlines>
          <c:spPr>
            <a:ln w="6350">
              <a:solidFill>
                <a:srgbClr val="2A3E54"/>
              </a:solidFill>
            </a:ln>
          </c:spPr>
        </c:majorGridlines>
        <c:numFmt formatCode="0&quot;%&quot;" sourceLinked="0"/>
        <c:majorTickMark val="out"/>
        <c:minorTickMark val="none"/>
        <c:tickLblPos val="nextTo"/>
        <c:spPr>
          <a:ln>
            <a:solidFill>
              <a:srgbClr val="2A3E54"/>
            </a:solidFill>
          </a:ln>
        </c:spPr>
        <c:txPr>
          <a:bodyPr/>
          <a:lstStyle/>
          <a:p>
            <a:pPr>
              <a:defRPr sz="1100">
                <a:solidFill>
                  <a:srgbClr val="B0C4DE"/>
                </a:solidFill>
              </a:defRPr>
            </a:pPr>
          </a:p>
        </c:txPr>
        <c:crossAx val="-2068027336"/>
        <c:crosses val="autoZero"/>
        <c:majorUnit val="25.0"/>
      </c:valAx>
    </c:plotArea>
    <c:legend>
      <c:legendPos val="b"/>
      <c:overlay val="0"/>
      <c:txPr>
        <a:bodyPr/>
        <a:lstStyle/>
        <a:p>
          <a:pPr>
            <a:defRPr sz="1100">
              <a:solidFill>
                <a:srgbClr val="B0C4DE"/>
              </a:solidFill>
            </a:defRPr>
          </a:pPr>
        </a:p>
      </c:txPr>
    </c:legend>
    <c:dispBlanksAs val="gap"/>
  </c:chart>
  <c:spPr>
    <a:solidFill>
      <a:srgbClr val="152435"/>
    </a:solidFill>
    <a:ln>
      <a:noFill/>
    </a:ln>
  </c:spPr>
  <c:txPr>
    <a:bodyPr/>
    <a:lstStyle/>
    <a:p>
      <a:pPr>
        <a:defRPr sz="1100">
          <a:solidFill>
            <a:srgbClr val="B0C4DE"/>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Información mutua</c:v>
                </c:pt>
              </c:strCache>
            </c:strRef>
          </c:tx>
          <c:dPt>
            <c:idx val="0"/>
            <c:spPr>
              <a:solidFill>
                <a:srgbClr val="FFB74D"/>
              </a:solidFill>
            </c:spPr>
          </c:dPt>
          <c:dPt>
            <c:idx val="1"/>
            <c:spPr>
              <a:solidFill>
                <a:srgbClr val="FFB74D"/>
              </a:solidFill>
            </c:spPr>
          </c:dPt>
          <c:dPt>
            <c:idx val="2"/>
            <c:spPr>
              <a:solidFill>
                <a:srgbClr val="EF9A9A"/>
              </a:solidFill>
            </c:spPr>
          </c:dPt>
          <c:dPt>
            <c:idx val="3"/>
            <c:spPr>
              <a:solidFill>
                <a:srgbClr val="4FC3F7"/>
              </a:solidFill>
            </c:spPr>
          </c:dPt>
          <c:dPt>
            <c:idx val="4"/>
            <c:spPr>
              <a:solidFill>
                <a:srgbClr val="FFB74D"/>
              </a:solidFill>
            </c:spPr>
          </c:dPt>
          <c:dPt>
            <c:idx val="5"/>
            <c:spPr>
              <a:solidFill>
                <a:srgbClr val="4FC3F7"/>
              </a:solidFill>
            </c:spPr>
          </c:dPt>
          <c:dPt>
            <c:idx val="6"/>
            <c:spPr>
              <a:solidFill>
                <a:srgbClr val="EF9A9A"/>
              </a:solidFill>
            </c:spPr>
          </c:dPt>
          <c:dPt>
            <c:idx val="7"/>
            <c:spPr>
              <a:solidFill>
                <a:srgbClr val="EF9A9A"/>
              </a:solidFill>
            </c:spPr>
          </c:dPt>
          <c:dPt>
            <c:idx val="8"/>
            <c:spPr>
              <a:solidFill>
                <a:srgbClr val="4FC3F7"/>
              </a:solidFill>
            </c:spPr>
          </c:dPt>
          <c:dPt>
            <c:idx val="9"/>
            <c:spPr>
              <a:solidFill>
                <a:srgbClr val="4FC3F7"/>
              </a:solidFill>
            </c:spPr>
          </c:dPt>
          <c:dPt>
            <c:idx val="10"/>
            <c:spPr>
              <a:solidFill>
                <a:srgbClr val="4FC3F7"/>
              </a:solidFill>
            </c:spPr>
          </c:dPt>
          <c:cat>
            <c:strRef>
              <c:f>Sheet1!$A$2:$A$12</c:f>
              <c:strCache>
                <c:ptCount val="11"/>
                <c:pt idx="0">
                  <c:v>AgeGroup</c:v>
                </c:pt>
                <c:pt idx="1">
                  <c:v>Embarked_clean</c:v>
                </c:pt>
                <c:pt idx="2">
                  <c:v>IsAlone</c:v>
                </c:pt>
                <c:pt idx="3">
                  <c:v>FamilySize</c:v>
                </c:pt>
                <c:pt idx="4">
                  <c:v>Deck_combinado</c:v>
                </c:pt>
                <c:pt idx="5">
                  <c:v>TicketGroupSize</c:v>
                </c:pt>
                <c:pt idx="6">
                  <c:v>Pclass</c:v>
                </c:pt>
                <c:pt idx="7">
                  <c:v>Age_clean</c:v>
                </c:pt>
                <c:pt idx="8">
                  <c:v>Fare_per_person_log</c:v>
                </c:pt>
                <c:pt idx="9">
                  <c:v>Title_agrupado</c:v>
                </c:pt>
                <c:pt idx="10">
                  <c:v>Sex_Pclass</c:v>
                </c:pt>
              </c:strCache>
            </c:strRef>
          </c:cat>
          <c:val>
            <c:numRef>
              <c:f>Sheet1!$B$2:$B$12</c:f>
              <c:numCache>
                <c:formatCode>General</c:formatCode>
                <c:ptCount val="11"/>
                <c:pt idx="0">
                  <c:v>0.009</c:v>
                </c:pt>
                <c:pt idx="1">
                  <c:v>0.014</c:v>
                </c:pt>
                <c:pt idx="2">
                  <c:v>0.021</c:v>
                </c:pt>
                <c:pt idx="3">
                  <c:v>0.048</c:v>
                </c:pt>
                <c:pt idx="4">
                  <c:v>0.055</c:v>
                </c:pt>
                <c:pt idx="5">
                  <c:v>0.058</c:v>
                </c:pt>
                <c:pt idx="6">
                  <c:v>0.058</c:v>
                </c:pt>
                <c:pt idx="7">
                  <c:v>0.068</c:v>
                </c:pt>
                <c:pt idx="8">
                  <c:v>0.11</c:v>
                </c:pt>
                <c:pt idx="9">
                  <c:v>0.169</c:v>
                </c:pt>
                <c:pt idx="10">
                  <c:v>0.218</c:v>
                </c:pt>
              </c:numCache>
            </c:numRef>
          </c:val>
        </c:ser>
        <c:dLbls>
          <c:numFmt formatCode="0.000" sourceLinked="0"/>
          <c:txPr>
            <a:bodyPr/>
            <a:lstStyle/>
            <a:p>
              <a:pPr>
                <a:defRPr sz="1050">
                  <a:solidFill>
                    <a:srgbClr val="E0E6F0"/>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2A3E54"/>
            </a:solidFill>
          </a:ln>
        </c:spPr>
        <c:txPr>
          <a:bodyPr/>
          <a:lstStyle/>
          <a:p>
            <a:pPr>
              <a:defRPr sz="1100">
                <a:solidFill>
                  <a:srgbClr val="B0C4DE"/>
                </a:solidFill>
              </a:defRPr>
            </a:pPr>
          </a:p>
        </c:txPr>
        <c:crossAx val="-2113994440"/>
        <c:crosses val="autoZero"/>
        <c:auto val="1"/>
        <c:lblAlgn val="ctr"/>
        <c:lblOffset val="100"/>
        <c:noMultiLvlLbl val="0"/>
      </c:catAx>
      <c:valAx>
        <c:axId val="-2113994440"/>
        <c:scaling>
          <c:max val="0.25"/>
          <c:min val="0.0"/>
        </c:scaling>
        <c:delete val="0"/>
        <c:axPos val="b"/>
        <c:majorGridlines>
          <c:spPr>
            <a:ln w="6350">
              <a:solidFill>
                <a:srgbClr val="2A3E54"/>
              </a:solidFill>
            </a:ln>
          </c:spPr>
        </c:majorGridlines>
        <c:numFmt formatCode="0.00" sourceLinked="0"/>
        <c:majorTickMark val="out"/>
        <c:minorTickMark val="none"/>
        <c:tickLblPos val="nextTo"/>
        <c:spPr>
          <a:ln>
            <a:solidFill>
              <a:srgbClr val="2A3E54"/>
            </a:solidFill>
          </a:ln>
        </c:spPr>
        <c:txPr>
          <a:bodyPr/>
          <a:lstStyle/>
          <a:p>
            <a:pPr>
              <a:defRPr sz="1100">
                <a:solidFill>
                  <a:srgbClr val="B0C4DE"/>
                </a:solidFill>
              </a:defRPr>
            </a:pPr>
          </a:p>
        </c:txPr>
        <c:crossAx val="-2068027336"/>
        <c:crosses val="autoZero"/>
        <c:majorUnit val="0.05"/>
      </c:valAx>
    </c:plotArea>
    <c:dispBlanksAs val="gap"/>
  </c:chart>
  <c:spPr>
    <a:solidFill>
      <a:srgbClr val="152435"/>
    </a:solidFill>
    <a:ln>
      <a:noFill/>
    </a:ln>
  </c:spPr>
  <c:txPr>
    <a:bodyPr/>
    <a:lstStyle/>
    <a:p>
      <a:pPr>
        <a:defRPr sz="1050">
          <a:solidFill>
            <a:srgbClr val="B0C4DE"/>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A52BF3-E5FB-4DB2-9BD7-644159546F26}" type="datetimeFigureOut">
              <a:t>20-06-26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578A85-49C7-4F31-BD27-05F13AE72FDD}" type="slidenum">
              <a:t>‹#›</a:t>
            </a:fld>
            <a:endParaRPr lang="en-US"/>
          </a:p>
        </p:txBody>
      </p:sp>
    </p:spTree>
    <p:extLst>
      <p:ext uri="{BB962C8B-B14F-4D97-AF65-F5344CB8AC3E}">
        <p14:creationId xmlns:p14="http://schemas.microsoft.com/office/powerpoint/2010/main" val="3966919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1 | ARTURO KNOPKE VERA | ≈ 0:45 min</a:t>
            </a:r>
          </a:p>
          <a:p>
            <a:r>
              <a:t>═══════════════════════════════════════════════════════</a:t>
            </a:r>
          </a:p>
          <a:p/>
          <a:p>
            <a:r>
              <a:t>[Mientras se proyecta la portada — el equipo está frente a la cámara]</a:t>
            </a:r>
          </a:p>
          <a:p/>
          <a:p>
            <a:r>
              <a:t>"Buenos días. Somos el Grupo 5 del Magíster en Ciencia de Datos de la Universidad Andrés Bello. Presentamos el cierre técnico de nuestro proyecto en MCDI503, Exploración inteligente para la ciencia de datos: un pipeline reproducible de ingeniería de variables y selección preliminar de características sobre el dataset Titanic.</a:t>
            </a:r>
          </a:p>
          <a:p/>
          <a:p>
            <a:r>
              <a:t>Participamos los cuatro integrantes, y cada uno presenta un bloque de unos cinco minutos. Yo parto con el problema, el dataset y los hallazgos previos. Nicolás explica las transformaciones y la primera variable derivada. Roberto presenta la segunda variable derivada y la selección de características. Y Sebastián cierra con los resultados, la trazabilidad, las limitaciones y las conclusiones."</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2 | ARTURO KNOPKE VERA | ≈ 1:15 min</a:t>
            </a:r>
          </a:p>
          <a:p>
            <a:r>
              <a:t>═══════════════════════════════════════════════════════</a:t>
            </a:r>
          </a:p>
          <a:p/>
          <a:p>
            <a:r>
              <a:t>"El proyecto trabaja con el naufragio del RMS Titanic, en 1912, un caso clásico de clasificación binaria. Para cada uno de los 891 pasajeros sabemos si sobrevivió, y de ellos 342 lo hicieron: un 38,4 por ciento. La pregunta que guió todas las fases es qué características del pasajero se asocian con sobrevivir.</a:t>
            </a:r>
          </a:p>
          <a:p/>
          <a:p>
            <a:r>
              <a:t>En esta última fase el objetivo no es entrenar un modelo, sino dejar los datos listos para modelar. Eso significa aplicar transformaciones justificadas, crear pocas variables derivadas con un valor analítico claro y seleccionar características con criterios explícitos, todo de forma reproducible.</a:t>
            </a:r>
          </a:p>
          <a:p/>
          <a:p>
            <a:r>
              <a:t>El valor para la toma de decisiones es concreto. Saber qué variables llevan la señal permite construir después un modelo simple, interpretable y sin fuga de información, y entender qué factores importaron de verdad, en lugar de confiar en la intuición histórica."</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3 | ARTURO KNOPKE VERA | ≈ 1:30 min</a:t>
            </a:r>
          </a:p>
          <a:p>
            <a:r>
              <a:t>═══════════════════════════════════════════════════════</a:t>
            </a:r>
          </a:p>
          <a:p/>
          <a:p>
            <a:r>
              <a:t>"Trabajamos con el dataset Titanic de Kaggle, con 891 registros y 12 variables, y lo integramos con la versión de seaborn-data, que agrega variables como class, who, deck y alone.</a:t>
            </a:r>
          </a:p>
          <a:p/>
          <a:p>
            <a:r>
              <a:t>En la Fase 1 hicimos el análisis exploratorio inicial, reproducible: estructura, tipos y distribuciones. En las Fases 2 y 3 limpiamos e integramos. Imputamos Embarked con la moda y Age con la mediana estratificada por clase y sexo; validamos que las dos fuentes coincidían al cien por ciento en siete variables; y creamos variables como Title_agrupado, FamilySize, AgeGroup, Fare_log y Deck_combinado. Además hicimos el análisis univariado y bivariado, con chi-cuadrado, V de Cramér y Mann-Whitney.</a:t>
            </a:r>
          </a:p>
          <a:p/>
          <a:p>
            <a:r>
              <a:t>Todo eso quedó en titanic_prepared.csv, con 891 filas y 32 columnas. La Fase 4 parte exactamente de ahí: no vuelve al dato crudo, reutiliza esa limpieza validada y construye el dataset final de características."</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4 | ARTURO KNOPKE VERA | ≈ 1:30 min</a:t>
            </a:r>
          </a:p>
          <a:p>
            <a:r>
              <a:t>═══════════════════════════════════════════════════════</a:t>
            </a:r>
          </a:p>
          <a:p/>
          <a:p>
            <a:r>
              <a:t>"De los análisis previos salieron cuatro hallazgos que explican cada decisión de esta fase.</a:t>
            </a:r>
          </a:p>
          <a:p/>
          <a:p>
            <a:r>
              <a:t>Primero: el 13 por ciento de los valores de Fare son atípicos, y el 92 por ciento de ellos comparte número de ticket con otro pasajero. Son tarifas de grupo legítimas, no errores. Eso motiva el escalado robusto y una tarifa por persona.</a:t>
            </a:r>
          </a:p>
          <a:p/>
          <a:p>
            <a:r>
              <a:t>Segundo: el efecto de la clase sobre la supervivencia depende del sexo. Entre las mujeres sobrevive el 97, el 92 y el 50 por ciento en primera, segunda y tercera clase; entre los hombres, el 37, el 16 y el 14 por ciento. Eso motiva una variable de interacción.</a:t>
            </a:r>
          </a:p>
          <a:p/>
          <a:p>
            <a:r>
              <a:t>Tercero: el título, Title_agrupado, tiene más relevancia que el sexo porque distingue a los niños, y la fuente seaborn-data repite información que ya teníamos en Pclass, Embarked y Cabin. Hay que verificar y eliminar redundancias.</a:t>
            </a:r>
          </a:p>
          <a:p/>
          <a:p>
            <a:r>
              <a:t>Y cuarto: la edad continua no muestra diferencia significativa, con p igual a 0,25, mientras que el grupo etario sí; además, el camarote es desconocido en el 77 por ciento de los casos. Ambas variables requieren revisión.</a:t>
            </a:r>
          </a:p>
          <a:p/>
          <a:p>
            <a:r>
              <a:t>Con esto le paso la palabra a Nicolás, que explica las transformaciones."</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5 | NICOLÁS SOLETIC COBOS | ≈ 1:00 min</a:t>
            </a:r>
          </a:p>
          <a:p>
            <a:r>
              <a:t>═══════════════════════════════════════════════════════</a:t>
            </a:r>
          </a:p>
          <a:p/>
          <a:p>
            <a:r>
              <a:t>[Nicolás toma la palabra]</a:t>
            </a:r>
          </a:p>
          <a:p/>
          <a:p>
            <a:r>
              <a:t>"Gracias, Arturo. Antes del detalle, esta es la visión general del pipeline de la Fase 4. Parte de titanic_prepared.csv, con 891 filas y 32 columnas, y sigue cinco pasos.</a:t>
            </a:r>
          </a:p>
          <a:p/>
          <a:p>
            <a:r>
              <a:t>Primero, un diagnóstico de escala y asimetría, para saber qué transformación falta. Segundo, la creación de dos variables derivadas. Tercero, la selección preliminar con cuatro criterios. Cuarto, la codificación y el escalado del conjunto final. Y quinto, la exportación de titanic_features.csv, con 891 filas y 29 columnas: 27 características, más el identificador y la variable objetivo. En el camino descartamos de forma explícita 14 columnas: las seis heredadas de seaborn-data y ocho propias.</a:t>
            </a:r>
          </a:p>
          <a:p/>
          <a:p>
            <a:r>
              <a:t>Todo queda registrado en una bitácora dentro del notebook, que Sebastián mostrará más adelante. Yo me concentro en las transformaciones y en la primera variable derivada."</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6 | NICOLÁS SOLETIC COBOS | ≈ 1:30 min</a:t>
            </a:r>
          </a:p>
          <a:p>
            <a:r>
              <a:t>═══════════════════════════════════════════════════════</a:t>
            </a:r>
          </a:p>
          <a:p/>
          <a:p>
            <a:r>
              <a:t>"Las Fases 2 y 3 ya habían corregido la asimetría de Fare con una transformación logarítmica, que la bajó de 4,78 a 0,39. Lo que faltaba era dejar las variables numéricas en una escala comparable, porque modelos como la regresión regularizada, KNN o SVM son sensibles a ella.</a:t>
            </a:r>
          </a:p>
          <a:p/>
          <a:p>
            <a:r>
              <a:t>Revisamos la asimetría residual: SibSp 3,69, Parch 2,74 y FamilySize 2,72, aunque las dos primeras ya se resumieron en FamilySize; Age_clean 0,53, moderada; y Fare_log 0,39.</a:t>
            </a:r>
          </a:p>
          <a:p/>
          <a:p>
            <a:r>
              <a:t>La decisión clave fue el método de escalado. Elegimos RobustScaler, que centra con la mediana y escala con el rango intercuartílico, y no StandardScaler. Ambos son transformaciones afines: no cambian la forma de la distribución ni atenúan los extremos. La diferencia es que la mediana y el rango intercuartílico no se desplazan con la cola derecha. Y esas colas son legítimas: grupos y familias numerosas, y tarifas de grupo que no vamos a eliminar. En FamilySize, por ejemplo, la media es 1,90 y la mediana, 1.</a:t>
            </a:r>
          </a:p>
          <a:p/>
          <a:p>
            <a:r>
              <a:t>Escalamos las tres variables numéricas finales: Fare_per_person_log, FamilySize y TicketGroupSize; Fare en sí no se escala. Tras dividir por el ticket y aplicar log1p, la tarifa por persona conserva solo 24 atípicos, un 2,7 por ciento, frente a los 116 de Fare. En el gráfico se ve el efecto: mediana cero y rango intercuartílico uno, y los extremos se conservan; de hecho, RobustScaler no los atenúa: FamilySize escalada llega a 10."</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7 | NICOLÁS SOLETIC COBOS | ≈ 1:00 min</a:t>
            </a:r>
          </a:p>
          <a:p>
            <a:r>
              <a:t>═══════════════════════════════════════════════════════</a:t>
            </a:r>
          </a:p>
          <a:p/>
          <a:p>
            <a:r>
              <a:t>"Esta tabla resume todas las transformaciones. RobustScaler se aplica a las tres variables numéricas continuas finales, porque sus colas de valores legítimos no distorsionan la mediana ni el IQR. La tarifa por persona pasa antes por log1p, que baja su asimetría de 4,37 a 0,33.</a:t>
            </a:r>
          </a:p>
          <a:p/>
          <a:p>
            <a:r>
              <a:t>Las cinco variables nominales, Title_agrupado, Sex_Pclass, AgeGroup, Embarked_clean y Deck_combinado, se codifican con one-hot, con una categoría de referencia explícita, la más frecuente de cada una. Eso evita la colinealidad perfecta y deja cada coeficiente interpretable frente a un grupo bien poblado. Genera 24 columnas indicadoras.</a:t>
            </a:r>
          </a:p>
          <a:p/>
          <a:p>
            <a:r>
              <a:t>Y Pclass sale del conjunto final: es una combinación lineal exacta de las dummies de Sex_Pclass, y mantenerla generaría colinealidad perfecta. Verificamos que la matriz final tenga rango completo: 28 de 28 columnas.</a:t>
            </a:r>
          </a:p>
          <a:p/>
          <a:p>
            <a:r>
              <a:t>El resultado son 27 características completamente numéricas, sin valores faltantes y sin colinealidad exacta, que un modelo puede consumir tal cual."</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8 | NICOLÁS SOLETIC COBOS | ≈ 1:30 min</a:t>
            </a:r>
          </a:p>
          <a:p>
            <a:r>
              <a:t>═══════════════════════════════════════════════════════</a:t>
            </a:r>
          </a:p>
          <a:p/>
          <a:p>
            <a:r>
              <a:t>"Ahora la primera variable derivada: Fare_per_person_log. La motivación viene del hallazgo de los tickets compartidos. 134 números de ticket se repiten y agrupan a 344 pasajeros, así que Fare muchas veces es la tarifa de un grupo, no de una persona. Usarla tal cual confunde 'pagó una tarifa alta' con 'viajó en un grupo grande'.</a:t>
            </a:r>
          </a:p>
          <a:p/>
          <a:p>
            <a:r>
              <a:t>La regla es simple: contamos cuántos pasajeros comparten cada ticket, eso es TicketGroupSize; dividimos Fare por ese número y aplicamos log1p. Ojo: TicketGroupSize no es lo mismo que FamilySize; difieren en el 32 por ciento de los casos, porque un ticket puede compartirse entre personas que no son familia.</a:t>
            </a:r>
          </a:p>
          <a:p/>
          <a:p>
            <a:r>
              <a:t>El gráfico compara Fare con la tarifa por persona, por clase. La variable se asocia con la supervivencia: U de Mann-Whitney de 58.829, p del orden de 10 a la menos 21 y correlación biserial de 0,373, con medianas de 8,05 y 13,00.</a:t>
            </a:r>
          </a:p>
          <a:p/>
          <a:p>
            <a:r>
              <a:t>Y un matiz honesto: con el Spearman parcial, al controlar por tamaño de grupo, la asociación de Fare_log con la supervivencia cae un 17 por ciento y la de esta variable solo un 2; es decir, depende mucho menos del tamaño del grupo. Pero su asociación marginal no es mayor que la de Fare_log: la biserial es 0,373 frente a 0,384. Por eso la preferimos por interpretabilidad y menor confusión con el grupo, no por mayor relevancia. Con residuos lineales, en cambio, ambas caen cerca de un 11 por ciento: el resultado depende del método, y lo decimos.</a:t>
            </a:r>
          </a:p>
          <a:p/>
          <a:p>
            <a:r>
              <a:t>Roberto continúa con la segunda variable derivada."</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9 | ROBERTO MONCADA GONZÁLEZ | ≈ 1:15 min</a:t>
            </a:r>
          </a:p>
          <a:p>
            <a:r>
              <a:t>═══════════════════════════════════════════════════════</a:t>
            </a:r>
          </a:p>
          <a:p/>
          <a:p>
            <a:r>
              <a:t>[Roberto toma la palabra]</a:t>
            </a:r>
          </a:p>
          <a:p/>
          <a:p>
            <a:r>
              <a:t>"Gracias, Nicolás. La segunda variable derivada es Sex_Pclass, que combina sexo y clase en seis niveles. La motivación se ve en el gráfico: entre las mujeres la supervivencia es de 97 y 92 por ciento en primera y segunda clase, y baja a 50 en tercera; entre los hombres es de 37, 16 y 14 por ciento. El efecto de la clase no es igual para ambos sexos.</a:t>
            </a:r>
          </a:p>
          <a:p/>
          <a:p>
            <a:r>
              <a:t>La V de Cramér de Sex_Pclass es 0,627, mayor que la del sexo, 0,541, o la de la clase, 0,340. Pero cuidado: cruzar dos variables siempre aporta al menos la misma información, así que eso por sí solo no prueba que exista interacción. Por eso hicimos un test de razón de verosimilitudes contra el modelo aditivo: LR de 28,79, dos grados de libertad, p de 5,6 por 10 a la menos 7. La interacción es real.</a:t>
            </a:r>
          </a:p>
          <a:p/>
          <a:p>
            <a:r>
              <a:t>Y ninguna de las dos variables derivadas usa Survived ni variables posteriores al hundimiento, así que no hay fuga de información hacia el objetivo."</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10 | ROBERTO MONCADA GONZÁLEZ | ≈ 1:15 min</a:t>
            </a:r>
          </a:p>
          <a:p>
            <a:r>
              <a:t>═══════════════════════════════════════════════════════</a:t>
            </a:r>
          </a:p>
          <a:p/>
          <a:p>
            <a:r>
              <a:t>"Pasamos a la selección preliminar de características. Usamos cuatro criterios explícitos: relevancia frente a Survived, medida con V de Cramér, correlación biserial e información mutua; redundancia con otras variables; interpretabilidad; y consistencia, evaluada como estabilidad del ranking con 21 semillas.</a:t>
            </a:r>
          </a:p>
          <a:p/>
          <a:p>
            <a:r>
              <a:t>Con ellos resolvimos tres redundancias. Primera: las seis columnas heredadas de seaborn-data se reconstruyen al cien por ciento a partir de columnas propias, así que se descartan. Segunda: Title_agrupado y Sex tienen una V de Cramér de 0,995 entre sí; nos quedamos con Title_agrupado, porque distingue a los niños, y descartamos Sex_bin. Tercera, la redundancia exacta: IsAlone es una función de FamilySize, y Pclass es una combinación lineal exacta de las dummies de Sex_Pclass, que ya contiene sexo y clase. Una variable que es función exacta de otras no aporta información nueva y además genera colinealidad perfecta, así que descartamos ambas.</a:t>
            </a:r>
          </a:p>
          <a:p/>
          <a:p>
            <a:r>
              <a:t>Además, con el Spearman parcial vimos que Fare_per_person_log depende mucho menos del tamaño del grupo que Fare_log, aunque no tiene mayor asociación marginal; la elegimos por interpretabilidad. La redundancia parcial, como la de Title_agrupado con Sex_Pclass, se conserva y se documenta."</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11 | ROBERTO MONCADA GONZÁLEZ | ≈ 1:15 min</a:t>
            </a:r>
          </a:p>
          <a:p>
            <a:r>
              <a:t>═══════════════════════════════════════════════════════</a:t>
            </a:r>
          </a:p>
          <a:p/>
          <a:p>
            <a:r>
              <a:t>"Como evidencia de relevancia sin entrenar un modelo, calculamos la información mutua, en nats, de cada variable candidata con Survived. Como el método agrega ruido a las variables continuas, probamos su estabilidad con 21 semillas.</a:t>
            </a:r>
          </a:p>
          <a:p/>
          <a:p>
            <a:r>
              <a:t>El extremo superior es estable: Sex_Pclass, Title_agrupado y Fare_per_person_log son siempre las tres primeras. El inferior también: AgeGroup y Embarked_clean. Solo varían con la semilla las variables continuas, Fare_per_person_log y Age_clean; FamilySize y TicketGroupSize son conteos enteros y las tratamos como discretas, por eso son exactas. Como la información mutua combina dos estimadores no comparables, la leemos como un orden aproximado, y no decide sola ningún descarte.</a:t>
            </a:r>
          </a:p>
          <a:p/>
          <a:p>
            <a:r>
              <a:t>El caso de AgeGroup enseña algo importante: es estadísticamente significativa, con V de 0,137 y p de 0,002, pero su información mutua es marginal. Significancia no es lo mismo que relevancia práctica. La conservamos como variable a revisar por su sentido sustantivo: 'niños primero'. Y un matiz: la información mutua de Age_clean supera siempre a la de AgeGroup; aun así descartamos Age_clean, por tener casi un 20 por ciento de edades imputadas y por interpretabilidad, y lo dejamos para revalidar con un modelo.</a:t>
            </a:r>
          </a:p>
          <a:p/>
          <a:p>
            <a:r>
              <a:t>En el gráfico, azul es priorizar o conservar, naranja es revisar y rojo es descartar."</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12 | ROBERTO MONCADA GONZÁLEZ | ≈ 1:15 min</a:t>
            </a:r>
          </a:p>
          <a:p>
            <a:r>
              <a:t>═══════════════════════════════════════════════════════</a:t>
            </a:r>
          </a:p>
          <a:p/>
          <a:p>
            <a:r>
              <a:t>"Esta es la tabla final de decisiones. Priorizamos Sex_Pclass y Title_agrupado, que tienen la mayor relevancia.</a:t>
            </a:r>
          </a:p>
          <a:p/>
          <a:p>
            <a:r>
              <a:t>Conservamos Fare_per_person_log, FamilySize y TicketGroupSize: asociación moderada o débil pero significativa, y conceptos distintos entre sí; FamilySize y TicketGroupSize difieren en cerca de un tercio de los casos.</a:t>
            </a:r>
          </a:p>
          <a:p/>
          <a:p>
            <a:r>
              <a:t>Dejamos en revisión AgeGroup y Embarked_clean, de asociación débil e información mutua marginal, y Deck_combinado, cuyo 77 por ciento es 'Desconocida', una categoría explícita, no imputada. Las conservamos, pero documentando su debilidad.</a:t>
            </a:r>
          </a:p>
          <a:p/>
          <a:p>
            <a:r>
              <a:t>Y descartamos catorce columnas de forma explícita: Pclass, por ser combinación lineal exacta de Sex_Pclass; IsAlone, por redundancia exacta con FamilySize; Age_clean, sin diferencia entre sobrevivientes y no sobrevivientes, con p de 0,25, con casi un 20 por ciento de edades imputadas, y a revalidar con un modelo; Sex_bin, Fare_log y FareBand, por redundancia; Age_registrada y Cabin_registrada, que no aportan señal nueva; y las seis columnas de seaborn-data.</a:t>
            </a:r>
          </a:p>
          <a:p/>
          <a:p>
            <a:r>
              <a:t>Sebastián presenta ahora el resultado final."</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13 | SEBASTIÁN NAVARRETE SOTO | ≈ 1:00 min</a:t>
            </a:r>
          </a:p>
          <a:p>
            <a:r>
              <a:t>═══════════════════════════════════════════════════════</a:t>
            </a:r>
          </a:p>
          <a:p/>
          <a:p>
            <a:r>
              <a:t>[Sebastián toma la palabra]</a:t>
            </a:r>
          </a:p>
          <a:p/>
          <a:p>
            <a:r>
              <a:t>"Gracias, Roberto. El resultado del pipeline es titanic_features.csv: 891 filas y 29 columnas, es decir, 27 características más el identificador y la variable objetivo, sin ningún valor faltante. Pasamos de 32 columnas, con redundancia de señal, a un conjunto acotado donde cada variable está justificada, y cada una de las 36 columnas disponibles tiene un destino documentado.</a:t>
            </a:r>
          </a:p>
          <a:p/>
          <a:p>
            <a:r>
              <a:t>Las 27 se componen de 24 columnas indicadoras, con una categoría de referencia explícita, y tres variables numéricas escaladas con RobustScaler. Respecto de la entrada, descartamos 14 columnas de forma explícita, incorporamos dos variables derivadas con evidencia cuantitativa, y verificamos que la matriz tiene rango completo, es decir, sin colinealidad exacta.</a:t>
            </a:r>
          </a:p>
          <a:p/>
          <a:p>
            <a:r>
              <a:t>El conjunto queda listo para un modelo de clasificación binaria, incluso uno sensible a la escala, sin más transformaciones, excluyendo PassengerId de las variables predictoras."</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14 | SEBASTIÁN NAVARRETE SOTO | ≈ 0:45 min</a:t>
            </a:r>
          </a:p>
          <a:p>
            <a:r>
              <a:t>═══════════════════════════════════════════════════════</a:t>
            </a:r>
          </a:p>
          <a:p/>
          <a:p>
            <a:r>
              <a:t>"La trazabilidad es un requisito central. El notebook está ejecutado de principio a fin, con rutas relativas, semilla fija en 42 y dependencias en requirements.txt. Cada acción del pipeline queda en una bitácora de diez pasos con su efecto en los datos, y las decisiones de selección, en una tabla única, y el destino de cada una de las 36 columnas, en un inventario.</a:t>
            </a:r>
          </a:p>
          <a:p/>
          <a:p>
            <a:r>
              <a:t>Además, los tres productos se corresponden uno a uno: cada apartado del informe remite a una sección del notebook y a un bloque de esta presentación, como muestra la tabla."</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15 | SEBASTIÁN NAVARRETE SOTO | ≈ 1:00 min</a:t>
            </a:r>
          </a:p>
          <a:p>
            <a:r>
              <a:t>═══════════════════════════════════════════════════════</a:t>
            </a:r>
          </a:p>
          <a:p/>
          <a:p>
            <a:r>
              <a:t>"¿Qué aporta este cierre? Para comprender el problema, mostramos que la tarifa observada mezcla precio y tamaño de grupo, y que el efecto de la clase no es uniforme por sexo: en las mujeres solo cae con fuerza en tercera clase, y en los hombres ya es bajo desde segunda. La señal dominante es sexo por clase, título y tarifa por persona.</a:t>
            </a:r>
          </a:p>
          <a:p/>
          <a:p>
            <a:r>
              <a:t>Para el modelamiento, entregamos un conjunto acotado, codificado y escalado, con Sex_Pclass, que permite a un modelo lineal capturar un efecto no aditivo. Como líneas base sugerimos regresión logística regularizada y árboles.</a:t>
            </a:r>
          </a:p>
          <a:p/>
          <a:p>
            <a:r>
              <a:t>Y en cuanto a confianza: sin colinealidad exacta y con la redundancia parcial documentada, sin fuga hacia el objetivo en la construcción de las variables, y con cada decisión respaldada por evidencia."</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16 | SEBASTIÁN NAVARRETE SOTO | ≈ 1:15 min</a:t>
            </a:r>
          </a:p>
          <a:p>
            <a:r>
              <a:t>═══════════════════════════════════════════════════════</a:t>
            </a:r>
          </a:p>
          <a:p/>
          <a:p>
            <a:r>
              <a:t>"Ahora, los supuestos y las limitaciones. Asumimos que los 15 registros con tarifa cero, todos hombres, son un valor legítimo del dominio, posiblemente personal de la naviera, aunque no podemos confirmarlo. Asumimos también que nuestros criterios bastan para una selección preliminar, que debe revalidarse con el desempeño de un modelo real, en particular el descarte de Age_clean, y que el one-hot es adecuado con 891 filas.</a:t>
            </a:r>
          </a:p>
          <a:p/>
          <a:p>
            <a:r>
              <a:t>Entre las limitaciones: Deck_combinado es 77 por ciento 'Desconocida', una categoría explícita y no imputada; persiste una redundancia parcial entre Title_agrupado y Sex_Pclass; la evidencia de relevancia es univariada y no descarta otras interacciones; y con 891 casos, los subgrupos pequeños son frágiles.</a:t>
            </a:r>
          </a:p>
          <a:p/>
          <a:p>
            <a:r>
              <a:t>Y una limitación importante: el RobustScaler y la codificación se ajustaron sobre los 891 registros, sin separar entrenamiento y prueba. Al modelar, deben ajustarse solo con los datos de entrenamiento, por ejemplo dentro de un Pipeline con validación cruzada, para evitar fuga de información."</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DIAPOSITIVA 17 | SEBASTIÁN NAVARRETE SOTO | ≈ 1:00 min</a:t>
            </a:r>
          </a:p>
          <a:p>
            <a:r>
              <a:t>═══════════════════════════════════════════════════════</a:t>
            </a:r>
          </a:p>
          <a:p/>
          <a:p>
            <a:r>
              <a:t>"Para cerrar: partimos de un dataset ya limpio y, con un pipeline reproducible, obtuvimos 27 características justificadas para predecir la supervivencia en el Titanic.</a:t>
            </a:r>
          </a:p>
          <a:p/>
          <a:p>
            <a:r>
              <a:t>Las transformaciones nacieron de hallazgos concretos: el escalado robusto, de los atípicos legítimos de tarifa; la tarifa por persona, de los tickets compartidos; y Sex_Pclass, de la interacción entre sexo y clase. La selección se hizo con criterios explícitos y evidencia estadística, no por intuición.</a:t>
            </a:r>
          </a:p>
          <a:p/>
          <a:p>
            <a:r>
              <a:t>El siguiente paso natural es entrenar modelos de línea base con validación cruzada, ajustando el escalado solo con datos de entrenamiento. El notebook, el informe y esta presentación están disponibles en nuestro repositorio de GitHub.</a:t>
            </a:r>
          </a:p>
          <a:p/>
          <a:p>
            <a:r>
              <a:t>Muchas gracias por su atención."</a:t>
            </a:r>
          </a:p>
          <a:p/>
          <a:p>
            <a:r>
              <a:t>[Fin de la grabación]</a:t>
            </a:r>
          </a:p>
          <a:p/>
          <a:p>
            <a:r>
              <a:t>[→ Avanzar a la siguiente diapositiva]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0"/>
            <a:ext cx="36576" cy="6858000"/>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052560" y="0"/>
            <a:ext cx="3139135" cy="68580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0" y="1554480"/>
            <a:ext cx="2926080" cy="2377440"/>
          </a:xfrm>
          <a:prstGeom prst="rect">
            <a:avLst/>
          </a:prstGeom>
          <a:noFill/>
        </p:spPr>
        <p:txBody>
          <a:bodyPr wrap="square" lIns="45720" rIns="45720" tIns="27432" bIns="27432" anchor="ctr">
            <a:spAutoFit/>
          </a:bodyPr>
          <a:lstStyle/>
          <a:p>
            <a:pPr algn="ctr">
              <a:spcAft>
                <a:spcPts val="0"/>
              </a:spcAft>
            </a:pPr>
            <a:r>
              <a:rPr sz="3400" b="0" i="0">
                <a:solidFill>
                  <a:srgbClr val="4FC3F7"/>
                </a:solidFill>
                <a:latin typeface="Calibri Light"/>
              </a:rPr>
              <a:t>Titanic</a:t>
            </a:r>
          </a:p>
          <a:p>
            <a:pPr algn="ctr">
              <a:spcAft>
                <a:spcPts val="0"/>
              </a:spcAft>
            </a:pPr>
            <a:r>
              <a:rPr sz="3400" b="0" i="0">
                <a:solidFill>
                  <a:srgbClr val="4FC3F7"/>
                </a:solidFill>
                <a:latin typeface="Calibri Light"/>
              </a:rPr>
              <a:t>Fase 4</a:t>
            </a:r>
          </a:p>
        </p:txBody>
      </p:sp>
      <p:sp>
        <p:nvSpPr>
          <p:cNvPr id="6" name="TextBox 5"/>
          <p:cNvSpPr txBox="1"/>
          <p:nvPr/>
        </p:nvSpPr>
        <p:spPr>
          <a:xfrm>
            <a:off x="411480" y="777240"/>
            <a:ext cx="8412480" cy="2286000"/>
          </a:xfrm>
          <a:prstGeom prst="rect">
            <a:avLst/>
          </a:prstGeom>
          <a:noFill/>
        </p:spPr>
        <p:txBody>
          <a:bodyPr wrap="square" lIns="45720" rIns="45720" tIns="27432" bIns="27432" anchor="ctr">
            <a:spAutoFit/>
          </a:bodyPr>
          <a:lstStyle/>
          <a:p>
            <a:pPr algn="l">
              <a:lnSpc>
                <a:spcPct val="105000"/>
              </a:lnSpc>
              <a:spcAft>
                <a:spcPts val="0"/>
              </a:spcAft>
            </a:pPr>
            <a:r>
              <a:rPr sz="4000" b="0" i="0">
                <a:solidFill>
                  <a:srgbClr val="E0E6F0"/>
                </a:solidFill>
                <a:latin typeface="Calibri Light"/>
              </a:rPr>
              <a:t>Ingeniería de variables y</a:t>
            </a:r>
          </a:p>
          <a:p>
            <a:pPr algn="l">
              <a:lnSpc>
                <a:spcPct val="105000"/>
              </a:lnSpc>
              <a:spcAft>
                <a:spcPts val="0"/>
              </a:spcAft>
            </a:pPr>
            <a:r>
              <a:rPr sz="4000" b="0" i="0">
                <a:solidFill>
                  <a:srgbClr val="E0E6F0"/>
                </a:solidFill>
                <a:latin typeface="Calibri Light"/>
              </a:rPr>
              <a:t>selección de características</a:t>
            </a:r>
          </a:p>
        </p:txBody>
      </p:sp>
      <p:sp>
        <p:nvSpPr>
          <p:cNvPr id="7" name="Rectangle 6"/>
          <p:cNvSpPr/>
          <p:nvPr/>
        </p:nvSpPr>
        <p:spPr>
          <a:xfrm>
            <a:off x="411480" y="3127248"/>
            <a:ext cx="7132320" cy="45720"/>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273552"/>
            <a:ext cx="8229600" cy="914400"/>
          </a:xfrm>
          <a:prstGeom prst="rect">
            <a:avLst/>
          </a:prstGeom>
          <a:noFill/>
        </p:spPr>
        <p:txBody>
          <a:bodyPr wrap="square" lIns="45720" rIns="45720" tIns="27432" bIns="27432" anchor="t">
            <a:spAutoFit/>
          </a:bodyPr>
          <a:lstStyle/>
          <a:p>
            <a:pPr algn="l">
              <a:spcAft>
                <a:spcPts val="300"/>
              </a:spcAft>
            </a:pPr>
            <a:r>
              <a:rPr sz="1500" b="0" i="0">
                <a:solidFill>
                  <a:srgbClr val="4FC3F7"/>
                </a:solidFill>
                <a:latin typeface="Calibri"/>
              </a:rPr>
              <a:t>Evaluación Sumativa 3 — Fase 4: cierre del proyecto</a:t>
            </a:r>
          </a:p>
          <a:p>
            <a:pPr algn="l">
              <a:spcAft>
                <a:spcPts val="300"/>
              </a:spcAft>
            </a:pPr>
            <a:r>
              <a:rPr sz="1500" b="0" i="0">
                <a:solidFill>
                  <a:srgbClr val="4FC3F7"/>
                </a:solidFill>
                <a:latin typeface="Calibri"/>
              </a:rPr>
              <a:t>MCDI503 — Exploración inteligente para la ciencia de datos</a:t>
            </a:r>
          </a:p>
        </p:txBody>
      </p:sp>
      <p:sp>
        <p:nvSpPr>
          <p:cNvPr id="9" name="TextBox 8"/>
          <p:cNvSpPr txBox="1"/>
          <p:nvPr/>
        </p:nvSpPr>
        <p:spPr>
          <a:xfrm>
            <a:off x="411480" y="4251960"/>
            <a:ext cx="5486400" cy="1463040"/>
          </a:xfrm>
          <a:prstGeom prst="rect">
            <a:avLst/>
          </a:prstGeom>
          <a:noFill/>
        </p:spPr>
        <p:txBody>
          <a:bodyPr wrap="square" lIns="45720" rIns="45720" tIns="27432" bIns="27432" anchor="t">
            <a:spAutoFit/>
          </a:bodyPr>
          <a:lstStyle/>
          <a:p>
            <a:pPr algn="l">
              <a:spcAft>
                <a:spcPts val="300"/>
              </a:spcAft>
            </a:pPr>
            <a:r>
              <a:rPr sz="1400" b="0" i="0">
                <a:solidFill>
                  <a:srgbClr val="B0C4DE"/>
                </a:solidFill>
                <a:latin typeface="Calibri"/>
              </a:rPr>
              <a:t>Arturo Knopke Vera</a:t>
            </a:r>
          </a:p>
          <a:p>
            <a:pPr algn="l">
              <a:spcAft>
                <a:spcPts val="300"/>
              </a:spcAft>
            </a:pPr>
            <a:r>
              <a:rPr sz="1400" b="0" i="0">
                <a:solidFill>
                  <a:srgbClr val="B0C4DE"/>
                </a:solidFill>
                <a:latin typeface="Calibri"/>
              </a:rPr>
              <a:t>Nicolás Soletic Cobos</a:t>
            </a:r>
          </a:p>
          <a:p>
            <a:pPr algn="l">
              <a:spcAft>
                <a:spcPts val="300"/>
              </a:spcAft>
            </a:pPr>
            <a:r>
              <a:rPr sz="1400" b="0" i="0">
                <a:solidFill>
                  <a:srgbClr val="B0C4DE"/>
                </a:solidFill>
                <a:latin typeface="Calibri"/>
              </a:rPr>
              <a:t>Roberto Moncada González</a:t>
            </a:r>
          </a:p>
          <a:p>
            <a:pPr algn="l">
              <a:spcAft>
                <a:spcPts val="300"/>
              </a:spcAft>
            </a:pPr>
            <a:r>
              <a:rPr sz="1400" b="0" i="0">
                <a:solidFill>
                  <a:srgbClr val="B0C4DE"/>
                </a:solidFill>
                <a:latin typeface="Calibri"/>
              </a:rPr>
              <a:t>Sebastián Navarrete Soto</a:t>
            </a:r>
          </a:p>
        </p:txBody>
      </p:sp>
      <p:sp>
        <p:nvSpPr>
          <p:cNvPr id="10" name="TextBox 9"/>
          <p:cNvSpPr txBox="1"/>
          <p:nvPr/>
        </p:nvSpPr>
        <p:spPr>
          <a:xfrm>
            <a:off x="411480" y="6291072"/>
            <a:ext cx="8412480" cy="365760"/>
          </a:xfrm>
          <a:prstGeom prst="rect">
            <a:avLst/>
          </a:prstGeom>
          <a:noFill/>
        </p:spPr>
        <p:txBody>
          <a:bodyPr wrap="square" lIns="45720" rIns="45720" tIns="27432" bIns="27432" anchor="t">
            <a:spAutoFit/>
          </a:bodyPr>
          <a:lstStyle/>
          <a:p>
            <a:pPr algn="l">
              <a:spcAft>
                <a:spcPts val="0"/>
              </a:spcAft>
            </a:pPr>
            <a:r>
              <a:rPr sz="1100" b="0" i="0">
                <a:solidFill>
                  <a:srgbClr val="7090B0"/>
                </a:solidFill>
                <a:latin typeface="Calibri"/>
              </a:rPr>
              <a:t>Docente: Sergio Paraíso Medina  |  Universidad Andrés Bello  |  Septiembre de 2026</a:t>
            </a:r>
          </a:p>
        </p:txBody>
      </p:sp>
      <p:sp>
        <p:nvSpPr>
          <p:cNvPr id="11"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Problema y contexto del proyecto</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¿Qué características del pasajero se asocian con sobrevivir, y cómo dejamos los datos listos para modelar?</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Arturo Knopke Vera  ·  Diapositiva 2 / 17</a:t>
            </a:r>
          </a:p>
        </p:txBody>
      </p:sp>
      <p:sp>
        <p:nvSpPr>
          <p:cNvPr id="7" name="Rectangle 6"/>
          <p:cNvSpPr/>
          <p:nvPr/>
        </p:nvSpPr>
        <p:spPr>
          <a:xfrm>
            <a:off x="365760" y="1280160"/>
            <a:ext cx="2697480" cy="14173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53312"/>
            <a:ext cx="2514600" cy="708660"/>
          </a:xfrm>
          <a:prstGeom prst="rect">
            <a:avLst/>
          </a:prstGeom>
          <a:noFill/>
        </p:spPr>
        <p:txBody>
          <a:bodyPr wrap="square" lIns="45720" rIns="45720" tIns="27432" bIns="27432" anchor="ctr">
            <a:spAutoFit/>
          </a:bodyPr>
          <a:lstStyle/>
          <a:p>
            <a:pPr algn="ctr">
              <a:spcAft>
                <a:spcPts val="0"/>
              </a:spcAft>
            </a:pPr>
            <a:r>
              <a:rPr sz="2600" b="0" i="0">
                <a:solidFill>
                  <a:srgbClr val="4FC3F7"/>
                </a:solidFill>
                <a:latin typeface="Calibri Light"/>
              </a:rPr>
              <a:t>891</a:t>
            </a:r>
          </a:p>
        </p:txBody>
      </p:sp>
      <p:sp>
        <p:nvSpPr>
          <p:cNvPr id="9" name="TextBox 8"/>
          <p:cNvSpPr txBox="1"/>
          <p:nvPr/>
        </p:nvSpPr>
        <p:spPr>
          <a:xfrm>
            <a:off x="457200" y="2059686"/>
            <a:ext cx="2514600" cy="595274"/>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pasajeros del RMS Titanic
(unidad de análisis)</a:t>
            </a:r>
          </a:p>
        </p:txBody>
      </p:sp>
      <p:sp>
        <p:nvSpPr>
          <p:cNvPr id="10" name="Rectangle 9"/>
          <p:cNvSpPr/>
          <p:nvPr/>
        </p:nvSpPr>
        <p:spPr>
          <a:xfrm>
            <a:off x="3246120" y="1280160"/>
            <a:ext cx="2697480" cy="14173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1353312"/>
            <a:ext cx="2514600" cy="708660"/>
          </a:xfrm>
          <a:prstGeom prst="rect">
            <a:avLst/>
          </a:prstGeom>
          <a:noFill/>
        </p:spPr>
        <p:txBody>
          <a:bodyPr wrap="square" lIns="45720" rIns="45720" tIns="27432" bIns="27432" anchor="ctr">
            <a:spAutoFit/>
          </a:bodyPr>
          <a:lstStyle/>
          <a:p>
            <a:pPr algn="ctr">
              <a:spcAft>
                <a:spcPts val="0"/>
              </a:spcAft>
            </a:pPr>
            <a:r>
              <a:rPr sz="2600" b="0" i="0">
                <a:solidFill>
                  <a:srgbClr val="81C784"/>
                </a:solidFill>
                <a:latin typeface="Calibri Light"/>
              </a:rPr>
              <a:t>38,4 %</a:t>
            </a:r>
          </a:p>
        </p:txBody>
      </p:sp>
      <p:sp>
        <p:nvSpPr>
          <p:cNvPr id="12" name="TextBox 11"/>
          <p:cNvSpPr txBox="1"/>
          <p:nvPr/>
        </p:nvSpPr>
        <p:spPr>
          <a:xfrm>
            <a:off x="3337560" y="2059686"/>
            <a:ext cx="2514600" cy="595274"/>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sobrevivió
(342 de 891)</a:t>
            </a:r>
          </a:p>
        </p:txBody>
      </p:sp>
      <p:sp>
        <p:nvSpPr>
          <p:cNvPr id="13" name="Rectangle 12"/>
          <p:cNvSpPr/>
          <p:nvPr/>
        </p:nvSpPr>
        <p:spPr>
          <a:xfrm>
            <a:off x="6126480" y="1280160"/>
            <a:ext cx="2697480" cy="14173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353312"/>
            <a:ext cx="2514600" cy="708660"/>
          </a:xfrm>
          <a:prstGeom prst="rect">
            <a:avLst/>
          </a:prstGeom>
          <a:noFill/>
        </p:spPr>
        <p:txBody>
          <a:bodyPr wrap="square" lIns="45720" rIns="45720" tIns="27432" bIns="27432" anchor="ctr">
            <a:spAutoFit/>
          </a:bodyPr>
          <a:lstStyle/>
          <a:p>
            <a:pPr algn="ctr">
              <a:spcAft>
                <a:spcPts val="0"/>
              </a:spcAft>
            </a:pPr>
            <a:r>
              <a:rPr sz="2600" b="0" i="0">
                <a:solidFill>
                  <a:srgbClr val="4FC3F7"/>
                </a:solidFill>
                <a:latin typeface="Calibri Light"/>
              </a:rPr>
              <a:t>1 objetivo</a:t>
            </a:r>
          </a:p>
        </p:txBody>
      </p:sp>
      <p:sp>
        <p:nvSpPr>
          <p:cNvPr id="15" name="TextBox 14"/>
          <p:cNvSpPr txBox="1"/>
          <p:nvPr/>
        </p:nvSpPr>
        <p:spPr>
          <a:xfrm>
            <a:off x="6217920" y="2059686"/>
            <a:ext cx="2514600" cy="595274"/>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Survived, variable binaria
(clasificación)</a:t>
            </a:r>
          </a:p>
        </p:txBody>
      </p:sp>
      <p:sp>
        <p:nvSpPr>
          <p:cNvPr id="16" name="Rectangle 15"/>
          <p:cNvSpPr/>
          <p:nvPr/>
        </p:nvSpPr>
        <p:spPr>
          <a:xfrm>
            <a:off x="9006840" y="1280160"/>
            <a:ext cx="2697480" cy="14173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1353312"/>
            <a:ext cx="2514600" cy="708660"/>
          </a:xfrm>
          <a:prstGeom prst="rect">
            <a:avLst/>
          </a:prstGeom>
          <a:noFill/>
        </p:spPr>
        <p:txBody>
          <a:bodyPr wrap="square" lIns="45720" rIns="45720" tIns="27432" bIns="27432" anchor="ctr">
            <a:spAutoFit/>
          </a:bodyPr>
          <a:lstStyle/>
          <a:p>
            <a:pPr algn="ctr">
              <a:spcAft>
                <a:spcPts val="0"/>
              </a:spcAft>
            </a:pPr>
            <a:r>
              <a:rPr sz="2600" b="0" i="0">
                <a:solidFill>
                  <a:srgbClr val="FFB74D"/>
                </a:solidFill>
                <a:latin typeface="Calibri Light"/>
              </a:rPr>
              <a:t>Sin modelo</a:t>
            </a:r>
          </a:p>
        </p:txBody>
      </p:sp>
      <p:sp>
        <p:nvSpPr>
          <p:cNvPr id="18" name="TextBox 17"/>
          <p:cNvSpPr txBox="1"/>
          <p:nvPr/>
        </p:nvSpPr>
        <p:spPr>
          <a:xfrm>
            <a:off x="9098280" y="2059686"/>
            <a:ext cx="2514600" cy="595274"/>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entrenar modelos queda
fuera de esta fase (RA4)</a:t>
            </a:r>
          </a:p>
        </p:txBody>
      </p:sp>
      <p:sp>
        <p:nvSpPr>
          <p:cNvPr id="19" name="Rectangle 18"/>
          <p:cNvSpPr/>
          <p:nvPr/>
        </p:nvSpPr>
        <p:spPr>
          <a:xfrm>
            <a:off x="365760" y="2880360"/>
            <a:ext cx="11430000" cy="16459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2880360"/>
            <a:ext cx="1143000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990088"/>
            <a:ext cx="1115568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Objetivo general del cierre</a:t>
            </a:r>
          </a:p>
        </p:txBody>
      </p:sp>
      <p:sp>
        <p:nvSpPr>
          <p:cNvPr id="22" name="TextBox 21"/>
          <p:cNvSpPr txBox="1"/>
          <p:nvPr/>
        </p:nvSpPr>
        <p:spPr>
          <a:xfrm>
            <a:off x="502920" y="3291840"/>
            <a:ext cx="11155680" cy="1188720"/>
          </a:xfrm>
          <a:prstGeom prst="rect">
            <a:avLst/>
          </a:prstGeom>
          <a:noFill/>
        </p:spPr>
        <p:txBody>
          <a:bodyPr wrap="square" lIns="45720" rIns="45720" tIns="27432" bIns="27432" anchor="t">
            <a:spAutoFit/>
          </a:bodyPr>
          <a:lstStyle/>
          <a:p>
            <a:pPr algn="l">
              <a:spcAft>
                <a:spcPts val="800"/>
              </a:spcAft>
            </a:pPr>
            <a:r>
              <a:rPr sz="1450" b="0" i="0">
                <a:solidFill>
                  <a:srgbClr val="B0C4DE"/>
                </a:solidFill>
                <a:latin typeface="Calibri"/>
              </a:rPr>
              <a:t>Construir un pipeline exploratorio reproducible que aplique transformaciones justificadas, cree un número acotado de variables derivadas con valor analítico explícito y seleccione características con criterios declarados.</a:t>
            </a:r>
          </a:p>
          <a:p>
            <a:pPr algn="l">
              <a:spcAft>
                <a:spcPts val="800"/>
              </a:spcAft>
            </a:pPr>
            <a:r>
              <a:rPr sz="1450" b="1" i="0">
                <a:solidFill>
                  <a:srgbClr val="E0E6F0"/>
                </a:solidFill>
                <a:latin typeface="Calibri"/>
              </a:rPr>
              <a:t>Resultado esperado: </a:t>
            </a:r>
            <a:r>
              <a:rPr sz="1450" b="0" i="0">
                <a:solidFill>
                  <a:srgbClr val="B0C4DE"/>
                </a:solidFill>
                <a:latin typeface="Calibri"/>
              </a:rPr>
              <a:t>un conjunto de características codificado, escalado y trazable, listo para una etapa posterior de modelamiento.</a:t>
            </a:r>
          </a:p>
        </p:txBody>
      </p:sp>
      <p:sp>
        <p:nvSpPr>
          <p:cNvPr id="23" name="Rectangle 22"/>
          <p:cNvSpPr/>
          <p:nvPr/>
        </p:nvSpPr>
        <p:spPr>
          <a:xfrm>
            <a:off x="365760" y="4709160"/>
            <a:ext cx="9509760" cy="16002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4709160"/>
            <a:ext cx="950976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818888"/>
            <a:ext cx="923544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Valor esperado para la toma de decisiones</a:t>
            </a:r>
          </a:p>
        </p:txBody>
      </p:sp>
      <p:sp>
        <p:nvSpPr>
          <p:cNvPr id="26" name="TextBox 25"/>
          <p:cNvSpPr txBox="1"/>
          <p:nvPr/>
        </p:nvSpPr>
        <p:spPr>
          <a:xfrm>
            <a:off x="502920" y="5120640"/>
            <a:ext cx="9235440" cy="1143000"/>
          </a:xfrm>
          <a:prstGeom prst="rect">
            <a:avLst/>
          </a:prstGeom>
          <a:noFill/>
        </p:spPr>
        <p:txBody>
          <a:bodyPr wrap="square" lIns="45720" rIns="45720" tIns="27432" bIns="27432" anchor="t">
            <a:spAutoFit/>
          </a:bodyPr>
          <a:lstStyle/>
          <a:p>
            <a:pPr algn="l">
              <a:spcAft>
                <a:spcPts val="0"/>
              </a:spcAft>
            </a:pPr>
            <a:r>
              <a:rPr sz="1300" b="0" i="1">
                <a:solidFill>
                  <a:srgbClr val="B0C4DE"/>
                </a:solidFill>
                <a:latin typeface="Calibri"/>
              </a:rPr>
              <a:t>Saber qué variables llevan la señal permite construir después un modelo simple, interpretable y sin fuga de información, y entender qué factores pesaron realmente en la supervivencia en lugar de confiar en la intuición histórica.</a:t>
            </a:r>
          </a:p>
        </p:txBody>
      </p:sp>
      <p:sp>
        <p:nvSpPr>
          <p:cNvPr id="27"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Dataset y recorrido de las fases previas</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Titanic (Kaggle) integrado con seaborn-data → titanic_prepared.csv, el punto de partida de la Fase 4</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Arturo Knopke Vera  ·  Diapositiva 3 / 17</a:t>
            </a:r>
          </a:p>
        </p:txBody>
      </p:sp>
      <p:sp>
        <p:nvSpPr>
          <p:cNvPr id="7" name="Rectangle 6"/>
          <p:cNvSpPr/>
          <p:nvPr/>
        </p:nvSpPr>
        <p:spPr>
          <a:xfrm>
            <a:off x="365760" y="1280160"/>
            <a:ext cx="3657600" cy="27432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80160"/>
            <a:ext cx="365760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371600"/>
            <a:ext cx="3383280" cy="411480"/>
          </a:xfrm>
          <a:prstGeom prst="rect">
            <a:avLst/>
          </a:prstGeom>
          <a:noFill/>
        </p:spPr>
        <p:txBody>
          <a:bodyPr wrap="square" lIns="45720" rIns="45720" tIns="27432" bIns="27432" anchor="t">
            <a:spAutoFit/>
          </a:bodyPr>
          <a:lstStyle/>
          <a:p>
            <a:pPr algn="l">
              <a:spcAft>
                <a:spcPts val="0"/>
              </a:spcAft>
            </a:pPr>
            <a:r>
              <a:rPr sz="2400" b="0" i="0">
                <a:solidFill>
                  <a:srgbClr val="4FC3F7"/>
                </a:solidFill>
                <a:latin typeface="Calibri Light"/>
              </a:rPr>
              <a:t>F1</a:t>
            </a:r>
          </a:p>
        </p:txBody>
      </p:sp>
      <p:sp>
        <p:nvSpPr>
          <p:cNvPr id="10" name="TextBox 9"/>
          <p:cNvSpPr txBox="1"/>
          <p:nvPr/>
        </p:nvSpPr>
        <p:spPr>
          <a:xfrm>
            <a:off x="502920" y="1828800"/>
            <a:ext cx="3383280" cy="365760"/>
          </a:xfrm>
          <a:prstGeom prst="rect">
            <a:avLst/>
          </a:prstGeom>
          <a:noFill/>
        </p:spPr>
        <p:txBody>
          <a:bodyPr wrap="square" lIns="45720" rIns="45720" tIns="27432" bIns="27432" anchor="t">
            <a:spAutoFit/>
          </a:bodyPr>
          <a:lstStyle/>
          <a:p>
            <a:pPr algn="l">
              <a:spcAft>
                <a:spcPts val="0"/>
              </a:spcAft>
            </a:pPr>
            <a:r>
              <a:rPr sz="1400" b="1" i="0">
                <a:solidFill>
                  <a:srgbClr val="E0E6F0"/>
                </a:solidFill>
                <a:latin typeface="Calibri"/>
              </a:rPr>
              <a:t>EDA inicial reproducible</a:t>
            </a:r>
          </a:p>
        </p:txBody>
      </p:sp>
      <p:sp>
        <p:nvSpPr>
          <p:cNvPr id="11" name="TextBox 10"/>
          <p:cNvSpPr txBox="1"/>
          <p:nvPr/>
        </p:nvSpPr>
        <p:spPr>
          <a:xfrm>
            <a:off x="502920" y="2240280"/>
            <a:ext cx="3383280" cy="1737360"/>
          </a:xfrm>
          <a:prstGeom prst="rect">
            <a:avLst/>
          </a:prstGeom>
          <a:noFill/>
        </p:spPr>
        <p:txBody>
          <a:bodyPr wrap="square" lIns="45720" rIns="45720" tIns="27432" bIns="27432" anchor="t">
            <a:spAutoFit/>
          </a:bodyPr>
          <a:lstStyle/>
          <a:p>
            <a:pPr algn="l" marL="219456" indent="-219456">
              <a:spcAft>
                <a:spcPts val="600"/>
              </a:spcAft>
              <a:buClr>
                <a:srgbClr val="4FC3F7"/>
              </a:buClr>
              <a:buFont typeface="Arial"/>
              <a:buChar char="▸"/>
            </a:pPr>
            <a:r>
              <a:rPr sz="1250" b="0" i="0">
                <a:solidFill>
                  <a:srgbClr val="B0C4DE"/>
                </a:solidFill>
                <a:latin typeface="Calibri"/>
              </a:rPr>
              <a:t>Estructura, tipos y calidad del dataset</a:t>
            </a:r>
          </a:p>
          <a:p>
            <a:pPr algn="l" marL="219456" indent="-219456">
              <a:spcAft>
                <a:spcPts val="600"/>
              </a:spcAft>
              <a:buClr>
                <a:srgbClr val="4FC3F7"/>
              </a:buClr>
              <a:buFont typeface="Arial"/>
              <a:buChar char="▸"/>
            </a:pPr>
            <a:r>
              <a:rPr sz="1250" b="0" i="0">
                <a:solidFill>
                  <a:srgbClr val="B0C4DE"/>
                </a:solidFill>
                <a:latin typeface="Calibri"/>
              </a:rPr>
              <a:t>Distribuciones y frecuencias</a:t>
            </a:r>
          </a:p>
          <a:p>
            <a:pPr algn="l" marL="219456" indent="-219456">
              <a:spcAft>
                <a:spcPts val="600"/>
              </a:spcAft>
              <a:buClr>
                <a:srgbClr val="4FC3F7"/>
              </a:buClr>
              <a:buFont typeface="Arial"/>
              <a:buChar char="▸"/>
            </a:pPr>
            <a:r>
              <a:rPr sz="1250" b="0" i="0">
                <a:solidFill>
                  <a:srgbClr val="B0C4DE"/>
                </a:solidFill>
                <a:latin typeface="Calibri"/>
              </a:rPr>
              <a:t>Notebook y repositorio en GitHub</a:t>
            </a:r>
          </a:p>
        </p:txBody>
      </p:sp>
      <p:sp>
        <p:nvSpPr>
          <p:cNvPr id="12" name="Rectangle 11"/>
          <p:cNvSpPr/>
          <p:nvPr/>
        </p:nvSpPr>
        <p:spPr>
          <a:xfrm>
            <a:off x="4206240" y="1280160"/>
            <a:ext cx="3657600" cy="27432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06240" y="1280160"/>
            <a:ext cx="365760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1371600"/>
            <a:ext cx="3383280" cy="411480"/>
          </a:xfrm>
          <a:prstGeom prst="rect">
            <a:avLst/>
          </a:prstGeom>
          <a:noFill/>
        </p:spPr>
        <p:txBody>
          <a:bodyPr wrap="square" lIns="45720" rIns="45720" tIns="27432" bIns="27432" anchor="t">
            <a:spAutoFit/>
          </a:bodyPr>
          <a:lstStyle/>
          <a:p>
            <a:pPr algn="l">
              <a:spcAft>
                <a:spcPts val="0"/>
              </a:spcAft>
            </a:pPr>
            <a:r>
              <a:rPr sz="2400" b="0" i="0">
                <a:solidFill>
                  <a:srgbClr val="4FC3F7"/>
                </a:solidFill>
                <a:latin typeface="Calibri Light"/>
              </a:rPr>
              <a:t>F2-3</a:t>
            </a:r>
          </a:p>
        </p:txBody>
      </p:sp>
      <p:sp>
        <p:nvSpPr>
          <p:cNvPr id="15" name="TextBox 14"/>
          <p:cNvSpPr txBox="1"/>
          <p:nvPr/>
        </p:nvSpPr>
        <p:spPr>
          <a:xfrm>
            <a:off x="4343400" y="1828800"/>
            <a:ext cx="3383280" cy="365760"/>
          </a:xfrm>
          <a:prstGeom prst="rect">
            <a:avLst/>
          </a:prstGeom>
          <a:noFill/>
        </p:spPr>
        <p:txBody>
          <a:bodyPr wrap="square" lIns="45720" rIns="45720" tIns="27432" bIns="27432" anchor="t">
            <a:spAutoFit/>
          </a:bodyPr>
          <a:lstStyle/>
          <a:p>
            <a:pPr algn="l">
              <a:spcAft>
                <a:spcPts val="0"/>
              </a:spcAft>
            </a:pPr>
            <a:r>
              <a:rPr sz="1400" b="1" i="0">
                <a:solidFill>
                  <a:srgbClr val="E0E6F0"/>
                </a:solidFill>
                <a:latin typeface="Calibri"/>
              </a:rPr>
              <a:t>Preparación y análisis</a:t>
            </a:r>
          </a:p>
        </p:txBody>
      </p:sp>
      <p:sp>
        <p:nvSpPr>
          <p:cNvPr id="16" name="TextBox 15"/>
          <p:cNvSpPr txBox="1"/>
          <p:nvPr/>
        </p:nvSpPr>
        <p:spPr>
          <a:xfrm>
            <a:off x="4343400" y="2240280"/>
            <a:ext cx="3383280" cy="1737360"/>
          </a:xfrm>
          <a:prstGeom prst="rect">
            <a:avLst/>
          </a:prstGeom>
          <a:noFill/>
        </p:spPr>
        <p:txBody>
          <a:bodyPr wrap="square" lIns="45720" rIns="45720" tIns="27432" bIns="27432" anchor="t">
            <a:spAutoFit/>
          </a:bodyPr>
          <a:lstStyle/>
          <a:p>
            <a:pPr algn="l" marL="219456" indent="-219456">
              <a:spcAft>
                <a:spcPts val="600"/>
              </a:spcAft>
              <a:buClr>
                <a:srgbClr val="4FC3F7"/>
              </a:buClr>
              <a:buFont typeface="Arial"/>
              <a:buChar char="▸"/>
            </a:pPr>
            <a:r>
              <a:rPr sz="1250" b="0" i="0">
                <a:solidFill>
                  <a:srgbClr val="B0C4DE"/>
                </a:solidFill>
                <a:latin typeface="Calibri"/>
              </a:rPr>
              <a:t>Imputación: Embarked (moda) y Age (mediana por Pclass × Sex)</a:t>
            </a:r>
          </a:p>
          <a:p>
            <a:pPr algn="l" marL="219456" indent="-219456">
              <a:spcAft>
                <a:spcPts val="600"/>
              </a:spcAft>
              <a:buClr>
                <a:srgbClr val="4FC3F7"/>
              </a:buClr>
              <a:buFont typeface="Arial"/>
              <a:buChar char="▸"/>
            </a:pPr>
            <a:r>
              <a:rPr sz="1250" b="0" i="0">
                <a:solidFill>
                  <a:srgbClr val="B0C4DE"/>
                </a:solidFill>
                <a:latin typeface="Calibri"/>
              </a:rPr>
              <a:t>Integración con seaborn-data: 100 % de coincidencia en 7 variables</a:t>
            </a:r>
          </a:p>
          <a:p>
            <a:pPr algn="l" marL="219456" indent="-219456">
              <a:spcAft>
                <a:spcPts val="600"/>
              </a:spcAft>
              <a:buClr>
                <a:srgbClr val="4FC3F7"/>
              </a:buClr>
              <a:buFont typeface="Arial"/>
              <a:buChar char="▸"/>
            </a:pPr>
            <a:r>
              <a:rPr sz="1250" b="0" i="0">
                <a:solidFill>
                  <a:srgbClr val="B0C4DE"/>
                </a:solidFill>
                <a:latin typeface="Calibri"/>
              </a:rPr>
              <a:t>Variables: Title_agrupado, FamilySize, AgeGroup, Fare_log, Deck_combinado</a:t>
            </a:r>
          </a:p>
          <a:p>
            <a:pPr algn="l" marL="219456" indent="-219456">
              <a:spcAft>
                <a:spcPts val="600"/>
              </a:spcAft>
              <a:buClr>
                <a:srgbClr val="4FC3F7"/>
              </a:buClr>
              <a:buFont typeface="Arial"/>
              <a:buChar char="▸"/>
            </a:pPr>
            <a:r>
              <a:rPr sz="1250" b="0" i="0">
                <a:solidFill>
                  <a:srgbClr val="B0C4DE"/>
                </a:solidFill>
                <a:latin typeface="Calibri"/>
              </a:rPr>
              <a:t>Bivariado: χ², V de Cramér, Mann-Whitney</a:t>
            </a:r>
          </a:p>
        </p:txBody>
      </p:sp>
      <p:sp>
        <p:nvSpPr>
          <p:cNvPr id="17" name="Rectangle 16"/>
          <p:cNvSpPr/>
          <p:nvPr/>
        </p:nvSpPr>
        <p:spPr>
          <a:xfrm>
            <a:off x="8046720" y="1280160"/>
            <a:ext cx="3657600" cy="27432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280160"/>
            <a:ext cx="3657600" cy="73152"/>
          </a:xfrm>
          <a:prstGeom prst="rect">
            <a:avLst/>
          </a:prstGeom>
          <a:solidFill>
            <a:srgbClr val="81C7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80" y="1371600"/>
            <a:ext cx="3383280" cy="411480"/>
          </a:xfrm>
          <a:prstGeom prst="rect">
            <a:avLst/>
          </a:prstGeom>
          <a:noFill/>
        </p:spPr>
        <p:txBody>
          <a:bodyPr wrap="square" lIns="45720" rIns="45720" tIns="27432" bIns="27432" anchor="t">
            <a:spAutoFit/>
          </a:bodyPr>
          <a:lstStyle/>
          <a:p>
            <a:pPr algn="l">
              <a:spcAft>
                <a:spcPts val="0"/>
              </a:spcAft>
            </a:pPr>
            <a:r>
              <a:rPr sz="2400" b="0" i="0">
                <a:solidFill>
                  <a:srgbClr val="81C784"/>
                </a:solidFill>
                <a:latin typeface="Calibri Light"/>
              </a:rPr>
              <a:t>F4</a:t>
            </a:r>
          </a:p>
        </p:txBody>
      </p:sp>
      <p:sp>
        <p:nvSpPr>
          <p:cNvPr id="20" name="TextBox 19"/>
          <p:cNvSpPr txBox="1"/>
          <p:nvPr/>
        </p:nvSpPr>
        <p:spPr>
          <a:xfrm>
            <a:off x="8183880" y="1828800"/>
            <a:ext cx="3383280" cy="365760"/>
          </a:xfrm>
          <a:prstGeom prst="rect">
            <a:avLst/>
          </a:prstGeom>
          <a:noFill/>
        </p:spPr>
        <p:txBody>
          <a:bodyPr wrap="square" lIns="45720" rIns="45720" tIns="27432" bIns="27432" anchor="t">
            <a:spAutoFit/>
          </a:bodyPr>
          <a:lstStyle/>
          <a:p>
            <a:pPr algn="l">
              <a:spcAft>
                <a:spcPts val="0"/>
              </a:spcAft>
            </a:pPr>
            <a:r>
              <a:rPr sz="1400" b="1" i="0">
                <a:solidFill>
                  <a:srgbClr val="E0E6F0"/>
                </a:solidFill>
                <a:latin typeface="Calibri"/>
              </a:rPr>
              <a:t>Ingeniería de variables</a:t>
            </a:r>
          </a:p>
        </p:txBody>
      </p:sp>
      <p:sp>
        <p:nvSpPr>
          <p:cNvPr id="21" name="TextBox 20"/>
          <p:cNvSpPr txBox="1"/>
          <p:nvPr/>
        </p:nvSpPr>
        <p:spPr>
          <a:xfrm>
            <a:off x="8183880" y="2240280"/>
            <a:ext cx="3383280" cy="1737360"/>
          </a:xfrm>
          <a:prstGeom prst="rect">
            <a:avLst/>
          </a:prstGeom>
          <a:noFill/>
        </p:spPr>
        <p:txBody>
          <a:bodyPr wrap="square" lIns="45720" rIns="45720" tIns="27432" bIns="27432" anchor="t">
            <a:spAutoFit/>
          </a:bodyPr>
          <a:lstStyle/>
          <a:p>
            <a:pPr algn="l" marL="219456" indent="-219456">
              <a:spcAft>
                <a:spcPts val="600"/>
              </a:spcAft>
              <a:buClr>
                <a:srgbClr val="4FC3F7"/>
              </a:buClr>
              <a:buFont typeface="Arial"/>
              <a:buChar char="▸"/>
            </a:pPr>
            <a:r>
              <a:rPr sz="1250" b="0" i="0">
                <a:solidFill>
                  <a:srgbClr val="B0C4DE"/>
                </a:solidFill>
                <a:latin typeface="Calibri"/>
              </a:rPr>
              <a:t>Este video</a:t>
            </a:r>
          </a:p>
          <a:p>
            <a:pPr algn="l" marL="219456" indent="-219456">
              <a:spcAft>
                <a:spcPts val="600"/>
              </a:spcAft>
              <a:buClr>
                <a:srgbClr val="4FC3F7"/>
              </a:buClr>
              <a:buFont typeface="Arial"/>
              <a:buChar char="▸"/>
            </a:pPr>
            <a:r>
              <a:rPr sz="1250" b="0" i="0">
                <a:solidFill>
                  <a:srgbClr val="B0C4DE"/>
                </a:solidFill>
                <a:latin typeface="Calibri"/>
              </a:rPr>
              <a:t>Entrada: titanic_prepared.csv (891 × 32)</a:t>
            </a:r>
          </a:p>
          <a:p>
            <a:pPr algn="l" marL="219456" indent="-219456">
              <a:spcAft>
                <a:spcPts val="600"/>
              </a:spcAft>
              <a:buClr>
                <a:srgbClr val="4FC3F7"/>
              </a:buClr>
              <a:buFont typeface="Arial"/>
              <a:buChar char="▸"/>
            </a:pPr>
            <a:r>
              <a:rPr sz="1250" b="0" i="0">
                <a:solidFill>
                  <a:srgbClr val="B0C4DE"/>
                </a:solidFill>
                <a:latin typeface="Calibri"/>
              </a:rPr>
              <a:t>Salida: titanic_features.csv (891 × 29)</a:t>
            </a:r>
          </a:p>
          <a:p>
            <a:pPr algn="l" marL="219456" indent="-219456">
              <a:spcAft>
                <a:spcPts val="600"/>
              </a:spcAft>
              <a:buClr>
                <a:srgbClr val="4FC3F7"/>
              </a:buClr>
              <a:buFont typeface="Arial"/>
              <a:buChar char="▸"/>
            </a:pPr>
            <a:r>
              <a:rPr sz="1250" b="0" i="0">
                <a:solidFill>
                  <a:srgbClr val="B0C4DE"/>
                </a:solidFill>
                <a:latin typeface="Calibri"/>
              </a:rPr>
              <a:t>Sin volver al dato crudo</a:t>
            </a:r>
          </a:p>
        </p:txBody>
      </p:sp>
      <p:sp>
        <p:nvSpPr>
          <p:cNvPr id="22" name="TextBox 21"/>
          <p:cNvSpPr txBox="1"/>
          <p:nvPr/>
        </p:nvSpPr>
        <p:spPr>
          <a:xfrm>
            <a:off x="3913632" y="2377440"/>
            <a:ext cx="320040" cy="457200"/>
          </a:xfrm>
          <a:prstGeom prst="rect">
            <a:avLst/>
          </a:prstGeom>
          <a:noFill/>
        </p:spPr>
        <p:txBody>
          <a:bodyPr wrap="square" lIns="45720" rIns="45720" tIns="27432" bIns="27432" anchor="t">
            <a:spAutoFit/>
          </a:bodyPr>
          <a:lstStyle/>
          <a:p>
            <a:pPr algn="ctr">
              <a:spcAft>
                <a:spcPts val="0"/>
              </a:spcAft>
            </a:pPr>
            <a:r>
              <a:rPr sz="2200" b="0" i="0">
                <a:solidFill>
                  <a:srgbClr val="4FC3F7"/>
                </a:solidFill>
                <a:latin typeface="Calibri"/>
              </a:rPr>
              <a:t>→</a:t>
            </a:r>
          </a:p>
        </p:txBody>
      </p:sp>
      <p:sp>
        <p:nvSpPr>
          <p:cNvPr id="23" name="TextBox 22"/>
          <p:cNvSpPr txBox="1"/>
          <p:nvPr/>
        </p:nvSpPr>
        <p:spPr>
          <a:xfrm>
            <a:off x="7754112" y="2377440"/>
            <a:ext cx="320040" cy="457200"/>
          </a:xfrm>
          <a:prstGeom prst="rect">
            <a:avLst/>
          </a:prstGeom>
          <a:noFill/>
        </p:spPr>
        <p:txBody>
          <a:bodyPr wrap="square" lIns="45720" rIns="45720" tIns="27432" bIns="27432" anchor="t">
            <a:spAutoFit/>
          </a:bodyPr>
          <a:lstStyle/>
          <a:p>
            <a:pPr algn="ctr">
              <a:spcAft>
                <a:spcPts val="0"/>
              </a:spcAft>
            </a:pPr>
            <a:r>
              <a:rPr sz="2200" b="0" i="0">
                <a:solidFill>
                  <a:srgbClr val="4FC3F7"/>
                </a:solidFill>
                <a:latin typeface="Calibri"/>
              </a:rPr>
              <a:t>→</a:t>
            </a:r>
          </a:p>
        </p:txBody>
      </p:sp>
      <p:sp>
        <p:nvSpPr>
          <p:cNvPr id="24" name="Rectangle 23"/>
          <p:cNvSpPr/>
          <p:nvPr/>
        </p:nvSpPr>
        <p:spPr>
          <a:xfrm>
            <a:off x="365760" y="4206240"/>
            <a:ext cx="3657600" cy="45720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224528"/>
            <a:ext cx="1280160" cy="420624"/>
          </a:xfrm>
          <a:prstGeom prst="rect">
            <a:avLst/>
          </a:prstGeom>
          <a:noFill/>
        </p:spPr>
        <p:txBody>
          <a:bodyPr wrap="square" lIns="45720" rIns="45720" tIns="27432" bIns="27432" anchor="ctr">
            <a:spAutoFit/>
          </a:bodyPr>
          <a:lstStyle/>
          <a:p>
            <a:pPr algn="l">
              <a:spcAft>
                <a:spcPts val="0"/>
              </a:spcAft>
            </a:pPr>
            <a:r>
              <a:rPr sz="1500" b="0" i="0">
                <a:solidFill>
                  <a:srgbClr val="4FC3F7"/>
                </a:solidFill>
                <a:latin typeface="Calibri Light"/>
              </a:rPr>
              <a:t>891 × 12</a:t>
            </a:r>
          </a:p>
        </p:txBody>
      </p:sp>
      <p:sp>
        <p:nvSpPr>
          <p:cNvPr id="26" name="TextBox 25"/>
          <p:cNvSpPr txBox="1"/>
          <p:nvPr/>
        </p:nvSpPr>
        <p:spPr>
          <a:xfrm>
            <a:off x="1737360" y="4224528"/>
            <a:ext cx="2286000" cy="420624"/>
          </a:xfrm>
          <a:prstGeom prst="rect">
            <a:avLst/>
          </a:prstGeom>
          <a:noFill/>
        </p:spPr>
        <p:txBody>
          <a:bodyPr wrap="square" lIns="45720" rIns="45720" tIns="27432" bIns="27432" anchor="ctr">
            <a:spAutoFit/>
          </a:bodyPr>
          <a:lstStyle/>
          <a:p>
            <a:pPr algn="l">
              <a:spcAft>
                <a:spcPts val="0"/>
              </a:spcAft>
            </a:pPr>
            <a:r>
              <a:rPr sz="1150" b="0" i="0">
                <a:solidFill>
                  <a:srgbClr val="B0C4DE"/>
                </a:solidFill>
                <a:latin typeface="Calibri"/>
              </a:rPr>
              <a:t>Titanic-Dataset.csv (Kaggle)</a:t>
            </a:r>
          </a:p>
        </p:txBody>
      </p:sp>
      <p:sp>
        <p:nvSpPr>
          <p:cNvPr id="27" name="Rectangle 26"/>
          <p:cNvSpPr/>
          <p:nvPr/>
        </p:nvSpPr>
        <p:spPr>
          <a:xfrm>
            <a:off x="4206240" y="4206240"/>
            <a:ext cx="3657600" cy="45720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97680" y="4224528"/>
            <a:ext cx="1280160" cy="420624"/>
          </a:xfrm>
          <a:prstGeom prst="rect">
            <a:avLst/>
          </a:prstGeom>
          <a:noFill/>
        </p:spPr>
        <p:txBody>
          <a:bodyPr wrap="square" lIns="45720" rIns="45720" tIns="27432" bIns="27432" anchor="ctr">
            <a:spAutoFit/>
          </a:bodyPr>
          <a:lstStyle/>
          <a:p>
            <a:pPr algn="l">
              <a:spcAft>
                <a:spcPts val="0"/>
              </a:spcAft>
            </a:pPr>
            <a:r>
              <a:rPr sz="1500" b="0" i="0">
                <a:solidFill>
                  <a:srgbClr val="4FC3F7"/>
                </a:solidFill>
                <a:latin typeface="Calibri Light"/>
              </a:rPr>
              <a:t>891 × 15</a:t>
            </a:r>
          </a:p>
        </p:txBody>
      </p:sp>
      <p:sp>
        <p:nvSpPr>
          <p:cNvPr id="29" name="TextBox 28"/>
          <p:cNvSpPr txBox="1"/>
          <p:nvPr/>
        </p:nvSpPr>
        <p:spPr>
          <a:xfrm>
            <a:off x="5577840" y="4224528"/>
            <a:ext cx="2286000" cy="420624"/>
          </a:xfrm>
          <a:prstGeom prst="rect">
            <a:avLst/>
          </a:prstGeom>
          <a:noFill/>
        </p:spPr>
        <p:txBody>
          <a:bodyPr wrap="square" lIns="45720" rIns="45720" tIns="27432" bIns="27432" anchor="ctr">
            <a:spAutoFit/>
          </a:bodyPr>
          <a:lstStyle/>
          <a:p>
            <a:pPr algn="l">
              <a:spcAft>
                <a:spcPts val="0"/>
              </a:spcAft>
            </a:pPr>
            <a:r>
              <a:rPr sz="1150" b="0" i="0">
                <a:solidFill>
                  <a:srgbClr val="B0C4DE"/>
                </a:solidFill>
                <a:latin typeface="Calibri"/>
              </a:rPr>
              <a:t>titanic, seaborn-data</a:t>
            </a:r>
          </a:p>
        </p:txBody>
      </p:sp>
      <p:sp>
        <p:nvSpPr>
          <p:cNvPr id="30" name="Rectangle 29"/>
          <p:cNvSpPr/>
          <p:nvPr/>
        </p:nvSpPr>
        <p:spPr>
          <a:xfrm>
            <a:off x="8046720" y="4206240"/>
            <a:ext cx="3657600" cy="45720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38160" y="4224528"/>
            <a:ext cx="1280160" cy="420624"/>
          </a:xfrm>
          <a:prstGeom prst="rect">
            <a:avLst/>
          </a:prstGeom>
          <a:noFill/>
        </p:spPr>
        <p:txBody>
          <a:bodyPr wrap="square" lIns="45720" rIns="45720" tIns="27432" bIns="27432" anchor="ctr">
            <a:spAutoFit/>
          </a:bodyPr>
          <a:lstStyle/>
          <a:p>
            <a:pPr algn="l">
              <a:spcAft>
                <a:spcPts val="0"/>
              </a:spcAft>
            </a:pPr>
            <a:r>
              <a:rPr sz="1500" b="0" i="0">
                <a:solidFill>
                  <a:srgbClr val="4FC3F7"/>
                </a:solidFill>
                <a:latin typeface="Calibri Light"/>
              </a:rPr>
              <a:t>891 × 32</a:t>
            </a:r>
          </a:p>
        </p:txBody>
      </p:sp>
      <p:sp>
        <p:nvSpPr>
          <p:cNvPr id="32" name="TextBox 31"/>
          <p:cNvSpPr txBox="1"/>
          <p:nvPr/>
        </p:nvSpPr>
        <p:spPr>
          <a:xfrm>
            <a:off x="9418320" y="4224528"/>
            <a:ext cx="2286000" cy="420624"/>
          </a:xfrm>
          <a:prstGeom prst="rect">
            <a:avLst/>
          </a:prstGeom>
          <a:noFill/>
        </p:spPr>
        <p:txBody>
          <a:bodyPr wrap="square" lIns="45720" rIns="45720" tIns="27432" bIns="27432" anchor="ctr">
            <a:spAutoFit/>
          </a:bodyPr>
          <a:lstStyle/>
          <a:p>
            <a:pPr algn="l">
              <a:spcAft>
                <a:spcPts val="0"/>
              </a:spcAft>
            </a:pPr>
            <a:r>
              <a:rPr sz="1150" b="0" i="0">
                <a:solidFill>
                  <a:srgbClr val="B0C4DE"/>
                </a:solidFill>
                <a:latin typeface="Calibri"/>
              </a:rPr>
              <a:t>titanic_prepared.csv (preparado)</a:t>
            </a:r>
          </a:p>
        </p:txBody>
      </p:sp>
      <p:sp>
        <p:nvSpPr>
          <p:cNvPr id="33" name="Rectangle 32"/>
          <p:cNvSpPr/>
          <p:nvPr/>
        </p:nvSpPr>
        <p:spPr>
          <a:xfrm>
            <a:off x="365760" y="4846320"/>
            <a:ext cx="9509760" cy="109728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4892040"/>
            <a:ext cx="9235440" cy="1005839"/>
          </a:xfrm>
          <a:prstGeom prst="rect">
            <a:avLst/>
          </a:prstGeom>
          <a:noFill/>
        </p:spPr>
        <p:txBody>
          <a:bodyPr wrap="square" lIns="45720" rIns="45720" tIns="27432" bIns="27432" anchor="ctr">
            <a:spAutoFit/>
          </a:bodyPr>
          <a:lstStyle/>
          <a:p>
            <a:pPr algn="l">
              <a:spcAft>
                <a:spcPts val="0"/>
              </a:spcAft>
            </a:pPr>
            <a:r>
              <a:rPr sz="1400" b="0" i="1">
                <a:solidFill>
                  <a:srgbClr val="4FC3F7"/>
                </a:solidFill>
                <a:latin typeface="Calibri"/>
              </a:rPr>
              <a:t>La Fase 4 no vuelve al dato crudo: reutiliza la limpieza, la imputación y la integración validadas en las Fases 2-3 y construye encima de ellas, dejando cada decisión documentada en el notebook.</a:t>
            </a:r>
          </a:p>
        </p:txBody>
      </p:sp>
      <p:sp>
        <p:nvSpPr>
          <p:cNvPr id="35"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Hallazgos exploratorios que motivan la Fase 4</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Cuatro hallazgos previos y la decisión del pipeline a la que da origen cada uno</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Arturo Knopke Vera  ·  Diapositiva 4 / 17</a:t>
            </a:r>
          </a:p>
        </p:txBody>
      </p:sp>
      <p:sp>
        <p:nvSpPr>
          <p:cNvPr id="7" name="Rectangle 6"/>
          <p:cNvSpPr/>
          <p:nvPr/>
        </p:nvSpPr>
        <p:spPr>
          <a:xfrm>
            <a:off x="365760" y="1280160"/>
            <a:ext cx="5669280" cy="16002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80160"/>
            <a:ext cx="566928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389888"/>
            <a:ext cx="539496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1  Atípicos de Fare</a:t>
            </a:r>
          </a:p>
        </p:txBody>
      </p:sp>
      <p:sp>
        <p:nvSpPr>
          <p:cNvPr id="10" name="TextBox 9"/>
          <p:cNvSpPr txBox="1"/>
          <p:nvPr/>
        </p:nvSpPr>
        <p:spPr>
          <a:xfrm>
            <a:off x="502920" y="1737360"/>
            <a:ext cx="5394960" cy="685800"/>
          </a:xfrm>
          <a:prstGeom prst="rect">
            <a:avLst/>
          </a:prstGeom>
          <a:noFill/>
        </p:spPr>
        <p:txBody>
          <a:bodyPr wrap="square" lIns="45720" rIns="45720" tIns="27432" bIns="27432" anchor="t">
            <a:spAutoFit/>
          </a:bodyPr>
          <a:lstStyle/>
          <a:p>
            <a:pPr algn="l">
              <a:spcAft>
                <a:spcPts val="0"/>
              </a:spcAft>
            </a:pPr>
            <a:r>
              <a:rPr sz="1200" b="0" i="0">
                <a:solidFill>
                  <a:srgbClr val="B0C4DE"/>
                </a:solidFill>
                <a:latin typeface="Calibri"/>
              </a:rPr>
              <a:t>13,0 % de los valores de Fare son atípicos (IQR) y el 92,2 % de ellos comparte Ticket: son tarifas de grupo legítimas, no errores.</a:t>
            </a:r>
          </a:p>
        </p:txBody>
      </p:sp>
      <p:sp>
        <p:nvSpPr>
          <p:cNvPr id="11" name="TextBox 10"/>
          <p:cNvSpPr txBox="1"/>
          <p:nvPr/>
        </p:nvSpPr>
        <p:spPr>
          <a:xfrm>
            <a:off x="502920" y="2441448"/>
            <a:ext cx="5394960" cy="384048"/>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 </a:t>
            </a:r>
            <a:r>
              <a:rPr sz="1250" b="1" i="0">
                <a:solidFill>
                  <a:srgbClr val="4FC3F7"/>
                </a:solidFill>
                <a:latin typeface="Calibri"/>
              </a:rPr>
              <a:t>RobustScaler y tarifa por persona (Fare_per_person)</a:t>
            </a:r>
          </a:p>
        </p:txBody>
      </p:sp>
      <p:sp>
        <p:nvSpPr>
          <p:cNvPr id="12" name="Rectangle 11"/>
          <p:cNvSpPr/>
          <p:nvPr/>
        </p:nvSpPr>
        <p:spPr>
          <a:xfrm>
            <a:off x="6126480" y="1280160"/>
            <a:ext cx="5669280" cy="16002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280160"/>
            <a:ext cx="566928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389888"/>
            <a:ext cx="539496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2  Interacción sexo × clase</a:t>
            </a:r>
          </a:p>
        </p:txBody>
      </p:sp>
      <p:sp>
        <p:nvSpPr>
          <p:cNvPr id="15" name="TextBox 14"/>
          <p:cNvSpPr txBox="1"/>
          <p:nvPr/>
        </p:nvSpPr>
        <p:spPr>
          <a:xfrm>
            <a:off x="6263640" y="1737360"/>
            <a:ext cx="5394960" cy="685800"/>
          </a:xfrm>
          <a:prstGeom prst="rect">
            <a:avLst/>
          </a:prstGeom>
          <a:noFill/>
        </p:spPr>
        <p:txBody>
          <a:bodyPr wrap="square" lIns="45720" rIns="45720" tIns="27432" bIns="27432" anchor="t">
            <a:spAutoFit/>
          </a:bodyPr>
          <a:lstStyle/>
          <a:p>
            <a:pPr algn="l">
              <a:spcAft>
                <a:spcPts val="0"/>
              </a:spcAft>
            </a:pPr>
            <a:r>
              <a:rPr sz="1200" b="0" i="0">
                <a:solidFill>
                  <a:srgbClr val="B0C4DE"/>
                </a:solidFill>
                <a:latin typeface="Calibri"/>
              </a:rPr>
              <a:t>Supervivencia femenina 96,8 / 92,1 / 50,0 % y masculina 36,9 / 15,7 / 13,5 % en 1.ª, 2.ª y 3.ª clase.</a:t>
            </a:r>
          </a:p>
        </p:txBody>
      </p:sp>
      <p:sp>
        <p:nvSpPr>
          <p:cNvPr id="16" name="TextBox 15"/>
          <p:cNvSpPr txBox="1"/>
          <p:nvPr/>
        </p:nvSpPr>
        <p:spPr>
          <a:xfrm>
            <a:off x="6263640" y="2441448"/>
            <a:ext cx="5394960" cy="384048"/>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 </a:t>
            </a:r>
            <a:r>
              <a:rPr sz="1250" b="1" i="0">
                <a:solidFill>
                  <a:srgbClr val="4FC3F7"/>
                </a:solidFill>
                <a:latin typeface="Calibri"/>
              </a:rPr>
              <a:t>Variable derivada Sex_Pclass</a:t>
            </a:r>
          </a:p>
        </p:txBody>
      </p:sp>
      <p:sp>
        <p:nvSpPr>
          <p:cNvPr id="17" name="Rectangle 16"/>
          <p:cNvSpPr/>
          <p:nvPr/>
        </p:nvSpPr>
        <p:spPr>
          <a:xfrm>
            <a:off x="365760" y="2971800"/>
            <a:ext cx="5669280" cy="16002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2971800"/>
            <a:ext cx="566928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081528"/>
            <a:ext cx="539496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3  Redundancia entre fuentes</a:t>
            </a:r>
          </a:p>
        </p:txBody>
      </p:sp>
      <p:sp>
        <p:nvSpPr>
          <p:cNvPr id="20" name="TextBox 19"/>
          <p:cNvSpPr txBox="1"/>
          <p:nvPr/>
        </p:nvSpPr>
        <p:spPr>
          <a:xfrm>
            <a:off x="502920" y="3429000"/>
            <a:ext cx="5394960" cy="685800"/>
          </a:xfrm>
          <a:prstGeom prst="rect">
            <a:avLst/>
          </a:prstGeom>
          <a:noFill/>
        </p:spPr>
        <p:txBody>
          <a:bodyPr wrap="square" lIns="45720" rIns="45720" tIns="27432" bIns="27432" anchor="t">
            <a:spAutoFit/>
          </a:bodyPr>
          <a:lstStyle/>
          <a:p>
            <a:pPr algn="l">
              <a:spcAft>
                <a:spcPts val="0"/>
              </a:spcAft>
            </a:pPr>
            <a:r>
              <a:rPr sz="1200" b="0" i="0">
                <a:solidFill>
                  <a:srgbClr val="B0C4DE"/>
                </a:solidFill>
                <a:latin typeface="Calibri"/>
              </a:rPr>
              <a:t>Title_agrupado (V = 0,57) supera a Sex (V = 0,54); seaborn-data repite información de Pclass, Embarked y Cabin.</a:t>
            </a:r>
          </a:p>
        </p:txBody>
      </p:sp>
      <p:sp>
        <p:nvSpPr>
          <p:cNvPr id="21" name="TextBox 20"/>
          <p:cNvSpPr txBox="1"/>
          <p:nvPr/>
        </p:nvSpPr>
        <p:spPr>
          <a:xfrm>
            <a:off x="502920" y="4133087"/>
            <a:ext cx="5394960" cy="384048"/>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 </a:t>
            </a:r>
            <a:r>
              <a:rPr sz="1250" b="1" i="0">
                <a:solidFill>
                  <a:srgbClr val="4FC3F7"/>
                </a:solidFill>
                <a:latin typeface="Calibri"/>
              </a:rPr>
              <a:t>Verificar y eliminar redundancias</a:t>
            </a:r>
          </a:p>
        </p:txBody>
      </p:sp>
      <p:sp>
        <p:nvSpPr>
          <p:cNvPr id="22" name="Rectangle 21"/>
          <p:cNvSpPr/>
          <p:nvPr/>
        </p:nvSpPr>
        <p:spPr>
          <a:xfrm>
            <a:off x="6126480" y="2971800"/>
            <a:ext cx="5669280" cy="16002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0" y="2971800"/>
            <a:ext cx="566928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3081528"/>
            <a:ext cx="539496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4  Edad y camarote</a:t>
            </a:r>
          </a:p>
        </p:txBody>
      </p:sp>
      <p:sp>
        <p:nvSpPr>
          <p:cNvPr id="25" name="TextBox 24"/>
          <p:cNvSpPr txBox="1"/>
          <p:nvPr/>
        </p:nvSpPr>
        <p:spPr>
          <a:xfrm>
            <a:off x="6263640" y="3429000"/>
            <a:ext cx="5394960" cy="685800"/>
          </a:xfrm>
          <a:prstGeom prst="rect">
            <a:avLst/>
          </a:prstGeom>
          <a:noFill/>
        </p:spPr>
        <p:txBody>
          <a:bodyPr wrap="square" lIns="45720" rIns="45720" tIns="27432" bIns="27432" anchor="t">
            <a:spAutoFit/>
          </a:bodyPr>
          <a:lstStyle/>
          <a:p>
            <a:pPr algn="l">
              <a:spcAft>
                <a:spcPts val="0"/>
              </a:spcAft>
            </a:pPr>
            <a:r>
              <a:rPr sz="1200" b="0" i="0">
                <a:solidFill>
                  <a:srgbClr val="B0C4DE"/>
                </a:solidFill>
                <a:latin typeface="Calibri"/>
              </a:rPr>
              <a:t>Age_clean no difiere entre grupos (p = 0,25) pero AgeGroup sí (p = 0,002); Deck es «Desconocida» en ~77 % de los casos.</a:t>
            </a:r>
          </a:p>
        </p:txBody>
      </p:sp>
      <p:sp>
        <p:nvSpPr>
          <p:cNvPr id="26" name="TextBox 25"/>
          <p:cNvSpPr txBox="1"/>
          <p:nvPr/>
        </p:nvSpPr>
        <p:spPr>
          <a:xfrm>
            <a:off x="6263640" y="4133087"/>
            <a:ext cx="5394960" cy="384048"/>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 </a:t>
            </a:r>
            <a:r>
              <a:rPr sz="1250" b="1" i="0">
                <a:solidFill>
                  <a:srgbClr val="4FC3F7"/>
                </a:solidFill>
                <a:latin typeface="Calibri"/>
              </a:rPr>
              <a:t>Revisar AgeGroup y Deck_combinado</a:t>
            </a:r>
          </a:p>
        </p:txBody>
      </p:sp>
      <p:sp>
        <p:nvSpPr>
          <p:cNvPr id="27" name="Rectangle 26"/>
          <p:cNvSpPr/>
          <p:nvPr/>
        </p:nvSpPr>
        <p:spPr>
          <a:xfrm>
            <a:off x="365760" y="4846320"/>
            <a:ext cx="9509760" cy="109728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892040"/>
            <a:ext cx="9235440" cy="1005839"/>
          </a:xfrm>
          <a:prstGeom prst="rect">
            <a:avLst/>
          </a:prstGeom>
          <a:noFill/>
        </p:spPr>
        <p:txBody>
          <a:bodyPr wrap="square" lIns="45720" rIns="45720" tIns="27432" bIns="27432" anchor="ctr">
            <a:spAutoFit/>
          </a:bodyPr>
          <a:lstStyle/>
          <a:p>
            <a:pPr algn="l">
              <a:spcAft>
                <a:spcPts val="0"/>
              </a:spcAft>
            </a:pPr>
            <a:r>
              <a:rPr sz="1400" b="0" i="1">
                <a:solidFill>
                  <a:srgbClr val="4FC3F7"/>
                </a:solidFill>
                <a:latin typeface="Calibri"/>
              </a:rPr>
              <a:t>Cada transformación y cada variable derivada de la Fase 4 tiene su origen en un hallazgo del análisis previo; ninguna se agregó «por si acaso».</a:t>
            </a:r>
          </a:p>
        </p:txBody>
      </p:sp>
      <p:sp>
        <p:nvSpPr>
          <p:cNvPr id="29"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Visión general del pipeline de la Fase 4</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De un dataset de 891 × 32 a un conjunto de características de 891 × 29, sin entrenar modelos</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Nicolás Soletic Cobos  ·  Diapositiva 5 / 17</a:t>
            </a:r>
          </a:p>
        </p:txBody>
      </p:sp>
      <p:sp>
        <p:nvSpPr>
          <p:cNvPr id="7" name="Rectangle 6"/>
          <p:cNvSpPr/>
          <p:nvPr/>
        </p:nvSpPr>
        <p:spPr>
          <a:xfrm>
            <a:off x="365760" y="1325880"/>
            <a:ext cx="2103120" cy="219456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25880"/>
            <a:ext cx="210312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17320"/>
            <a:ext cx="1920239" cy="502920"/>
          </a:xfrm>
          <a:prstGeom prst="rect">
            <a:avLst/>
          </a:prstGeom>
          <a:noFill/>
        </p:spPr>
        <p:txBody>
          <a:bodyPr wrap="square" lIns="45720" rIns="45720" tIns="27432" bIns="27432" anchor="t">
            <a:spAutoFit/>
          </a:bodyPr>
          <a:lstStyle/>
          <a:p>
            <a:pPr algn="ctr">
              <a:spcAft>
                <a:spcPts val="0"/>
              </a:spcAft>
            </a:pPr>
            <a:r>
              <a:rPr sz="2600" b="0" i="0">
                <a:solidFill>
                  <a:srgbClr val="4FC3F7"/>
                </a:solidFill>
                <a:latin typeface="Calibri Light"/>
              </a:rPr>
              <a:t>1</a:t>
            </a:r>
          </a:p>
        </p:txBody>
      </p:sp>
      <p:sp>
        <p:nvSpPr>
          <p:cNvPr id="10" name="TextBox 9"/>
          <p:cNvSpPr txBox="1"/>
          <p:nvPr/>
        </p:nvSpPr>
        <p:spPr>
          <a:xfrm>
            <a:off x="457200" y="1965960"/>
            <a:ext cx="1920239" cy="548640"/>
          </a:xfrm>
          <a:prstGeom prst="rect">
            <a:avLst/>
          </a:prstGeom>
          <a:noFill/>
        </p:spPr>
        <p:txBody>
          <a:bodyPr wrap="square" lIns="45720" rIns="45720" tIns="27432" bIns="27432" anchor="ctr">
            <a:spAutoFit/>
          </a:bodyPr>
          <a:lstStyle/>
          <a:p>
            <a:pPr algn="ctr">
              <a:spcAft>
                <a:spcPts val="0"/>
              </a:spcAft>
            </a:pPr>
            <a:r>
              <a:rPr sz="1400" b="1" i="0">
                <a:solidFill>
                  <a:srgbClr val="E0E6F0"/>
                </a:solidFill>
                <a:latin typeface="Calibri"/>
              </a:rPr>
              <a:t>Diagnóstico</a:t>
            </a:r>
          </a:p>
        </p:txBody>
      </p:sp>
      <p:sp>
        <p:nvSpPr>
          <p:cNvPr id="11" name="TextBox 10"/>
          <p:cNvSpPr txBox="1"/>
          <p:nvPr/>
        </p:nvSpPr>
        <p:spPr>
          <a:xfrm>
            <a:off x="475488" y="2560320"/>
            <a:ext cx="1883663" cy="1005840"/>
          </a:xfrm>
          <a:prstGeom prst="rect">
            <a:avLst/>
          </a:prstGeom>
          <a:noFill/>
        </p:spPr>
        <p:txBody>
          <a:bodyPr wrap="square" lIns="45720" rIns="45720" tIns="27432" bIns="27432" anchor="t">
            <a:spAutoFit/>
          </a:bodyPr>
          <a:lstStyle/>
          <a:p>
            <a:pPr algn="ctr">
              <a:spcAft>
                <a:spcPts val="0"/>
              </a:spcAft>
            </a:pPr>
            <a:r>
              <a:rPr sz="1250" b="0" i="0">
                <a:solidFill>
                  <a:srgbClr val="B0C4DE"/>
                </a:solidFill>
                <a:latin typeface="Calibri"/>
              </a:rPr>
              <a:t>Asimetría y escala de las variables numéricas</a:t>
            </a:r>
          </a:p>
        </p:txBody>
      </p:sp>
      <p:sp>
        <p:nvSpPr>
          <p:cNvPr id="12" name="TextBox 11"/>
          <p:cNvSpPr txBox="1"/>
          <p:nvPr/>
        </p:nvSpPr>
        <p:spPr>
          <a:xfrm>
            <a:off x="2450591" y="2240280"/>
            <a:ext cx="292608" cy="457200"/>
          </a:xfrm>
          <a:prstGeom prst="rect">
            <a:avLst/>
          </a:prstGeom>
          <a:noFill/>
        </p:spPr>
        <p:txBody>
          <a:bodyPr wrap="square" lIns="45720" rIns="45720" tIns="27432" bIns="27432" anchor="t">
            <a:spAutoFit/>
          </a:bodyPr>
          <a:lstStyle/>
          <a:p>
            <a:pPr algn="ctr">
              <a:spcAft>
                <a:spcPts val="0"/>
              </a:spcAft>
            </a:pPr>
            <a:r>
              <a:rPr sz="2000" b="0" i="0">
                <a:solidFill>
                  <a:srgbClr val="4FC3F7"/>
                </a:solidFill>
                <a:latin typeface="Calibri"/>
              </a:rPr>
              <a:t>→</a:t>
            </a:r>
          </a:p>
        </p:txBody>
      </p:sp>
      <p:sp>
        <p:nvSpPr>
          <p:cNvPr id="13" name="Rectangle 12"/>
          <p:cNvSpPr/>
          <p:nvPr/>
        </p:nvSpPr>
        <p:spPr>
          <a:xfrm>
            <a:off x="2697479" y="1325880"/>
            <a:ext cx="2103120" cy="219456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7479" y="1325880"/>
            <a:ext cx="210312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1417320"/>
            <a:ext cx="1920239" cy="502920"/>
          </a:xfrm>
          <a:prstGeom prst="rect">
            <a:avLst/>
          </a:prstGeom>
          <a:noFill/>
        </p:spPr>
        <p:txBody>
          <a:bodyPr wrap="square" lIns="45720" rIns="45720" tIns="27432" bIns="27432" anchor="t">
            <a:spAutoFit/>
          </a:bodyPr>
          <a:lstStyle/>
          <a:p>
            <a:pPr algn="ctr">
              <a:spcAft>
                <a:spcPts val="0"/>
              </a:spcAft>
            </a:pPr>
            <a:r>
              <a:rPr sz="2600" b="0" i="0">
                <a:solidFill>
                  <a:srgbClr val="4FC3F7"/>
                </a:solidFill>
                <a:latin typeface="Calibri Light"/>
              </a:rPr>
              <a:t>2</a:t>
            </a:r>
          </a:p>
        </p:txBody>
      </p:sp>
      <p:sp>
        <p:nvSpPr>
          <p:cNvPr id="16" name="TextBox 15"/>
          <p:cNvSpPr txBox="1"/>
          <p:nvPr/>
        </p:nvSpPr>
        <p:spPr>
          <a:xfrm>
            <a:off x="2788920" y="1965960"/>
            <a:ext cx="1920239" cy="548640"/>
          </a:xfrm>
          <a:prstGeom prst="rect">
            <a:avLst/>
          </a:prstGeom>
          <a:noFill/>
        </p:spPr>
        <p:txBody>
          <a:bodyPr wrap="square" lIns="45720" rIns="45720" tIns="27432" bIns="27432" anchor="ctr">
            <a:spAutoFit/>
          </a:bodyPr>
          <a:lstStyle/>
          <a:p>
            <a:pPr algn="ctr">
              <a:spcAft>
                <a:spcPts val="0"/>
              </a:spcAft>
            </a:pPr>
            <a:r>
              <a:rPr sz="1400" b="1" i="0">
                <a:solidFill>
                  <a:srgbClr val="E0E6F0"/>
                </a:solidFill>
                <a:latin typeface="Calibri"/>
              </a:rPr>
              <a:t>Variables derivadas</a:t>
            </a:r>
          </a:p>
        </p:txBody>
      </p:sp>
      <p:sp>
        <p:nvSpPr>
          <p:cNvPr id="17" name="TextBox 16"/>
          <p:cNvSpPr txBox="1"/>
          <p:nvPr/>
        </p:nvSpPr>
        <p:spPr>
          <a:xfrm>
            <a:off x="2807208" y="2560320"/>
            <a:ext cx="1883663" cy="1005840"/>
          </a:xfrm>
          <a:prstGeom prst="rect">
            <a:avLst/>
          </a:prstGeom>
          <a:noFill/>
        </p:spPr>
        <p:txBody>
          <a:bodyPr wrap="square" lIns="45720" rIns="45720" tIns="27432" bIns="27432" anchor="t">
            <a:spAutoFit/>
          </a:bodyPr>
          <a:lstStyle/>
          <a:p>
            <a:pPr algn="ctr">
              <a:spcAft>
                <a:spcPts val="0"/>
              </a:spcAft>
            </a:pPr>
            <a:r>
              <a:rPr sz="1250" b="0" i="0">
                <a:solidFill>
                  <a:srgbClr val="B0C4DE"/>
                </a:solidFill>
                <a:latin typeface="Calibri"/>
              </a:rPr>
              <a:t>Fare_per_person_log y Sex_Pclass</a:t>
            </a:r>
          </a:p>
        </p:txBody>
      </p:sp>
      <p:sp>
        <p:nvSpPr>
          <p:cNvPr id="18" name="TextBox 17"/>
          <p:cNvSpPr txBox="1"/>
          <p:nvPr/>
        </p:nvSpPr>
        <p:spPr>
          <a:xfrm>
            <a:off x="4782312" y="2240280"/>
            <a:ext cx="292608" cy="457200"/>
          </a:xfrm>
          <a:prstGeom prst="rect">
            <a:avLst/>
          </a:prstGeom>
          <a:noFill/>
        </p:spPr>
        <p:txBody>
          <a:bodyPr wrap="square" lIns="45720" rIns="45720" tIns="27432" bIns="27432" anchor="t">
            <a:spAutoFit/>
          </a:bodyPr>
          <a:lstStyle/>
          <a:p>
            <a:pPr algn="ctr">
              <a:spcAft>
                <a:spcPts val="0"/>
              </a:spcAft>
            </a:pPr>
            <a:r>
              <a:rPr sz="2000" b="0" i="0">
                <a:solidFill>
                  <a:srgbClr val="4FC3F7"/>
                </a:solidFill>
                <a:latin typeface="Calibri"/>
              </a:rPr>
              <a:t>→</a:t>
            </a:r>
          </a:p>
        </p:txBody>
      </p:sp>
      <p:sp>
        <p:nvSpPr>
          <p:cNvPr id="19" name="Rectangle 18"/>
          <p:cNvSpPr/>
          <p:nvPr/>
        </p:nvSpPr>
        <p:spPr>
          <a:xfrm>
            <a:off x="5029200" y="1325880"/>
            <a:ext cx="2103120" cy="219456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0" y="1325880"/>
            <a:ext cx="210312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1417320"/>
            <a:ext cx="1920239" cy="502920"/>
          </a:xfrm>
          <a:prstGeom prst="rect">
            <a:avLst/>
          </a:prstGeom>
          <a:noFill/>
        </p:spPr>
        <p:txBody>
          <a:bodyPr wrap="square" lIns="45720" rIns="45720" tIns="27432" bIns="27432" anchor="t">
            <a:spAutoFit/>
          </a:bodyPr>
          <a:lstStyle/>
          <a:p>
            <a:pPr algn="ctr">
              <a:spcAft>
                <a:spcPts val="0"/>
              </a:spcAft>
            </a:pPr>
            <a:r>
              <a:rPr sz="2600" b="0" i="0">
                <a:solidFill>
                  <a:srgbClr val="4FC3F7"/>
                </a:solidFill>
                <a:latin typeface="Calibri Light"/>
              </a:rPr>
              <a:t>3</a:t>
            </a:r>
          </a:p>
        </p:txBody>
      </p:sp>
      <p:sp>
        <p:nvSpPr>
          <p:cNvPr id="22" name="TextBox 21"/>
          <p:cNvSpPr txBox="1"/>
          <p:nvPr/>
        </p:nvSpPr>
        <p:spPr>
          <a:xfrm>
            <a:off x="5120640" y="1965960"/>
            <a:ext cx="1920239" cy="548640"/>
          </a:xfrm>
          <a:prstGeom prst="rect">
            <a:avLst/>
          </a:prstGeom>
          <a:noFill/>
        </p:spPr>
        <p:txBody>
          <a:bodyPr wrap="square" lIns="45720" rIns="45720" tIns="27432" bIns="27432" anchor="ctr">
            <a:spAutoFit/>
          </a:bodyPr>
          <a:lstStyle/>
          <a:p>
            <a:pPr algn="ctr">
              <a:spcAft>
                <a:spcPts val="0"/>
              </a:spcAft>
            </a:pPr>
            <a:r>
              <a:rPr sz="1400" b="1" i="0">
                <a:solidFill>
                  <a:srgbClr val="E0E6F0"/>
                </a:solidFill>
                <a:latin typeface="Calibri"/>
              </a:rPr>
              <a:t>Selección</a:t>
            </a:r>
          </a:p>
        </p:txBody>
      </p:sp>
      <p:sp>
        <p:nvSpPr>
          <p:cNvPr id="23" name="TextBox 22"/>
          <p:cNvSpPr txBox="1"/>
          <p:nvPr/>
        </p:nvSpPr>
        <p:spPr>
          <a:xfrm>
            <a:off x="5138928" y="2560320"/>
            <a:ext cx="1883663" cy="1005840"/>
          </a:xfrm>
          <a:prstGeom prst="rect">
            <a:avLst/>
          </a:prstGeom>
          <a:noFill/>
        </p:spPr>
        <p:txBody>
          <a:bodyPr wrap="square" lIns="45720" rIns="45720" tIns="27432" bIns="27432" anchor="t">
            <a:spAutoFit/>
          </a:bodyPr>
          <a:lstStyle/>
          <a:p>
            <a:pPr algn="ctr">
              <a:spcAft>
                <a:spcPts val="0"/>
              </a:spcAft>
            </a:pPr>
            <a:r>
              <a:rPr sz="1250" b="0" i="0">
                <a:solidFill>
                  <a:srgbClr val="B0C4DE"/>
                </a:solidFill>
                <a:latin typeface="Calibri"/>
              </a:rPr>
              <a:t>Cuatro criterios: relevancia, redundancia, interpretabilidad, consistencia</a:t>
            </a:r>
          </a:p>
        </p:txBody>
      </p:sp>
      <p:sp>
        <p:nvSpPr>
          <p:cNvPr id="24" name="TextBox 23"/>
          <p:cNvSpPr txBox="1"/>
          <p:nvPr/>
        </p:nvSpPr>
        <p:spPr>
          <a:xfrm>
            <a:off x="7114032" y="2240280"/>
            <a:ext cx="292608" cy="457200"/>
          </a:xfrm>
          <a:prstGeom prst="rect">
            <a:avLst/>
          </a:prstGeom>
          <a:noFill/>
        </p:spPr>
        <p:txBody>
          <a:bodyPr wrap="square" lIns="45720" rIns="45720" tIns="27432" bIns="27432" anchor="t">
            <a:spAutoFit/>
          </a:bodyPr>
          <a:lstStyle/>
          <a:p>
            <a:pPr algn="ctr">
              <a:spcAft>
                <a:spcPts val="0"/>
              </a:spcAft>
            </a:pPr>
            <a:r>
              <a:rPr sz="2000" b="0" i="0">
                <a:solidFill>
                  <a:srgbClr val="4FC3F7"/>
                </a:solidFill>
                <a:latin typeface="Calibri"/>
              </a:rPr>
              <a:t>→</a:t>
            </a:r>
          </a:p>
        </p:txBody>
      </p:sp>
      <p:sp>
        <p:nvSpPr>
          <p:cNvPr id="25" name="Rectangle 24"/>
          <p:cNvSpPr/>
          <p:nvPr/>
        </p:nvSpPr>
        <p:spPr>
          <a:xfrm>
            <a:off x="7360919" y="1325880"/>
            <a:ext cx="2103120" cy="219456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60919" y="1325880"/>
            <a:ext cx="210312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59" y="1417320"/>
            <a:ext cx="1920239" cy="502920"/>
          </a:xfrm>
          <a:prstGeom prst="rect">
            <a:avLst/>
          </a:prstGeom>
          <a:noFill/>
        </p:spPr>
        <p:txBody>
          <a:bodyPr wrap="square" lIns="45720" rIns="45720" tIns="27432" bIns="27432" anchor="t">
            <a:spAutoFit/>
          </a:bodyPr>
          <a:lstStyle/>
          <a:p>
            <a:pPr algn="ctr">
              <a:spcAft>
                <a:spcPts val="0"/>
              </a:spcAft>
            </a:pPr>
            <a:r>
              <a:rPr sz="2600" b="0" i="0">
                <a:solidFill>
                  <a:srgbClr val="4FC3F7"/>
                </a:solidFill>
                <a:latin typeface="Calibri Light"/>
              </a:rPr>
              <a:t>4</a:t>
            </a:r>
          </a:p>
        </p:txBody>
      </p:sp>
      <p:sp>
        <p:nvSpPr>
          <p:cNvPr id="28" name="TextBox 27"/>
          <p:cNvSpPr txBox="1"/>
          <p:nvPr/>
        </p:nvSpPr>
        <p:spPr>
          <a:xfrm>
            <a:off x="7452359" y="1965960"/>
            <a:ext cx="1920239" cy="548640"/>
          </a:xfrm>
          <a:prstGeom prst="rect">
            <a:avLst/>
          </a:prstGeom>
          <a:noFill/>
        </p:spPr>
        <p:txBody>
          <a:bodyPr wrap="square" lIns="45720" rIns="45720" tIns="27432" bIns="27432" anchor="ctr">
            <a:spAutoFit/>
          </a:bodyPr>
          <a:lstStyle/>
          <a:p>
            <a:pPr algn="ctr">
              <a:spcAft>
                <a:spcPts val="0"/>
              </a:spcAft>
            </a:pPr>
            <a:r>
              <a:rPr sz="1400" b="1" i="0">
                <a:solidFill>
                  <a:srgbClr val="E0E6F0"/>
                </a:solidFill>
                <a:latin typeface="Calibri"/>
              </a:rPr>
              <a:t>Codificación y escalado</a:t>
            </a:r>
          </a:p>
        </p:txBody>
      </p:sp>
      <p:sp>
        <p:nvSpPr>
          <p:cNvPr id="29" name="TextBox 28"/>
          <p:cNvSpPr txBox="1"/>
          <p:nvPr/>
        </p:nvSpPr>
        <p:spPr>
          <a:xfrm>
            <a:off x="7470647" y="2560320"/>
            <a:ext cx="1883663" cy="1005840"/>
          </a:xfrm>
          <a:prstGeom prst="rect">
            <a:avLst/>
          </a:prstGeom>
          <a:noFill/>
        </p:spPr>
        <p:txBody>
          <a:bodyPr wrap="square" lIns="45720" rIns="45720" tIns="27432" bIns="27432" anchor="t">
            <a:spAutoFit/>
          </a:bodyPr>
          <a:lstStyle/>
          <a:p>
            <a:pPr algn="ctr">
              <a:spcAft>
                <a:spcPts val="0"/>
              </a:spcAft>
            </a:pPr>
            <a:r>
              <a:rPr sz="1250" b="0" i="0">
                <a:solidFill>
                  <a:srgbClr val="B0C4DE"/>
                </a:solidFill>
                <a:latin typeface="Calibri"/>
              </a:rPr>
              <a:t>One-hot de nominales y RobustScaler</a:t>
            </a:r>
          </a:p>
        </p:txBody>
      </p:sp>
      <p:sp>
        <p:nvSpPr>
          <p:cNvPr id="30" name="TextBox 29"/>
          <p:cNvSpPr txBox="1"/>
          <p:nvPr/>
        </p:nvSpPr>
        <p:spPr>
          <a:xfrm>
            <a:off x="9445751" y="2240280"/>
            <a:ext cx="292608" cy="457200"/>
          </a:xfrm>
          <a:prstGeom prst="rect">
            <a:avLst/>
          </a:prstGeom>
          <a:noFill/>
        </p:spPr>
        <p:txBody>
          <a:bodyPr wrap="square" lIns="45720" rIns="45720" tIns="27432" bIns="27432" anchor="t">
            <a:spAutoFit/>
          </a:bodyPr>
          <a:lstStyle/>
          <a:p>
            <a:pPr algn="ctr">
              <a:spcAft>
                <a:spcPts val="0"/>
              </a:spcAft>
            </a:pPr>
            <a:r>
              <a:rPr sz="2000" b="0" i="0">
                <a:solidFill>
                  <a:srgbClr val="4FC3F7"/>
                </a:solidFill>
                <a:latin typeface="Calibri"/>
              </a:rPr>
              <a:t>→</a:t>
            </a:r>
          </a:p>
        </p:txBody>
      </p:sp>
      <p:sp>
        <p:nvSpPr>
          <p:cNvPr id="31" name="Rectangle 30"/>
          <p:cNvSpPr/>
          <p:nvPr/>
        </p:nvSpPr>
        <p:spPr>
          <a:xfrm>
            <a:off x="9692640" y="1325880"/>
            <a:ext cx="2103120" cy="219456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92640" y="1325880"/>
            <a:ext cx="210312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0" y="1417320"/>
            <a:ext cx="1920239" cy="502920"/>
          </a:xfrm>
          <a:prstGeom prst="rect">
            <a:avLst/>
          </a:prstGeom>
          <a:noFill/>
        </p:spPr>
        <p:txBody>
          <a:bodyPr wrap="square" lIns="45720" rIns="45720" tIns="27432" bIns="27432" anchor="t">
            <a:spAutoFit/>
          </a:bodyPr>
          <a:lstStyle/>
          <a:p>
            <a:pPr algn="ctr">
              <a:spcAft>
                <a:spcPts val="0"/>
              </a:spcAft>
            </a:pPr>
            <a:r>
              <a:rPr sz="2600" b="0" i="0">
                <a:solidFill>
                  <a:srgbClr val="4FC3F7"/>
                </a:solidFill>
                <a:latin typeface="Calibri Light"/>
              </a:rPr>
              <a:t>5</a:t>
            </a:r>
          </a:p>
        </p:txBody>
      </p:sp>
      <p:sp>
        <p:nvSpPr>
          <p:cNvPr id="34" name="TextBox 33"/>
          <p:cNvSpPr txBox="1"/>
          <p:nvPr/>
        </p:nvSpPr>
        <p:spPr>
          <a:xfrm>
            <a:off x="9784080" y="1965960"/>
            <a:ext cx="1920239" cy="548640"/>
          </a:xfrm>
          <a:prstGeom prst="rect">
            <a:avLst/>
          </a:prstGeom>
          <a:noFill/>
        </p:spPr>
        <p:txBody>
          <a:bodyPr wrap="square" lIns="45720" rIns="45720" tIns="27432" bIns="27432" anchor="ctr">
            <a:spAutoFit/>
          </a:bodyPr>
          <a:lstStyle/>
          <a:p>
            <a:pPr algn="ctr">
              <a:spcAft>
                <a:spcPts val="0"/>
              </a:spcAft>
            </a:pPr>
            <a:r>
              <a:rPr sz="1400" b="1" i="0">
                <a:solidFill>
                  <a:srgbClr val="E0E6F0"/>
                </a:solidFill>
                <a:latin typeface="Calibri"/>
              </a:rPr>
              <a:t>Exportación</a:t>
            </a:r>
          </a:p>
        </p:txBody>
      </p:sp>
      <p:sp>
        <p:nvSpPr>
          <p:cNvPr id="35" name="TextBox 34"/>
          <p:cNvSpPr txBox="1"/>
          <p:nvPr/>
        </p:nvSpPr>
        <p:spPr>
          <a:xfrm>
            <a:off x="9802367" y="2560320"/>
            <a:ext cx="1883663" cy="1005840"/>
          </a:xfrm>
          <a:prstGeom prst="rect">
            <a:avLst/>
          </a:prstGeom>
          <a:noFill/>
        </p:spPr>
        <p:txBody>
          <a:bodyPr wrap="square" lIns="45720" rIns="45720" tIns="27432" bIns="27432" anchor="t">
            <a:spAutoFit/>
          </a:bodyPr>
          <a:lstStyle/>
          <a:p>
            <a:pPr algn="ctr">
              <a:spcAft>
                <a:spcPts val="0"/>
              </a:spcAft>
            </a:pPr>
            <a:r>
              <a:rPr sz="1250" b="0" i="0">
                <a:solidFill>
                  <a:srgbClr val="B0C4DE"/>
                </a:solidFill>
                <a:latin typeface="Calibri"/>
              </a:rPr>
              <a:t>titanic_features.csv y bitácora</a:t>
            </a:r>
          </a:p>
        </p:txBody>
      </p:sp>
      <p:sp>
        <p:nvSpPr>
          <p:cNvPr id="36" name="Rectangle 35"/>
          <p:cNvSpPr/>
          <p:nvPr/>
        </p:nvSpPr>
        <p:spPr>
          <a:xfrm>
            <a:off x="365760" y="3703320"/>
            <a:ext cx="2697480" cy="9601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3776472"/>
            <a:ext cx="2514600" cy="480060"/>
          </a:xfrm>
          <a:prstGeom prst="rect">
            <a:avLst/>
          </a:prstGeom>
          <a:noFill/>
        </p:spPr>
        <p:txBody>
          <a:bodyPr wrap="square" lIns="45720" rIns="45720" tIns="27432" bIns="27432" anchor="ctr">
            <a:spAutoFit/>
          </a:bodyPr>
          <a:lstStyle/>
          <a:p>
            <a:pPr algn="ctr">
              <a:spcAft>
                <a:spcPts val="0"/>
              </a:spcAft>
            </a:pPr>
            <a:r>
              <a:rPr sz="2000" b="0" i="0">
                <a:solidFill>
                  <a:srgbClr val="4FC3F7"/>
                </a:solidFill>
                <a:latin typeface="Calibri Light"/>
              </a:rPr>
              <a:t>891 × 32</a:t>
            </a:r>
          </a:p>
        </p:txBody>
      </p:sp>
      <p:sp>
        <p:nvSpPr>
          <p:cNvPr id="38" name="TextBox 37"/>
          <p:cNvSpPr txBox="1"/>
          <p:nvPr/>
        </p:nvSpPr>
        <p:spPr>
          <a:xfrm>
            <a:off x="457200" y="4231386"/>
            <a:ext cx="2514600" cy="403250"/>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entrada:
titanic_prepared.csv</a:t>
            </a:r>
          </a:p>
        </p:txBody>
      </p:sp>
      <p:sp>
        <p:nvSpPr>
          <p:cNvPr id="39" name="Rectangle 38"/>
          <p:cNvSpPr/>
          <p:nvPr/>
        </p:nvSpPr>
        <p:spPr>
          <a:xfrm>
            <a:off x="3246120" y="3703320"/>
            <a:ext cx="2697480" cy="9601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37560" y="3776472"/>
            <a:ext cx="2514600" cy="480060"/>
          </a:xfrm>
          <a:prstGeom prst="rect">
            <a:avLst/>
          </a:prstGeom>
          <a:noFill/>
        </p:spPr>
        <p:txBody>
          <a:bodyPr wrap="square" lIns="45720" rIns="45720" tIns="27432" bIns="27432" anchor="ctr">
            <a:spAutoFit/>
          </a:bodyPr>
          <a:lstStyle/>
          <a:p>
            <a:pPr algn="ctr">
              <a:spcAft>
                <a:spcPts val="0"/>
              </a:spcAft>
            </a:pPr>
            <a:r>
              <a:rPr sz="2000" b="0" i="0">
                <a:solidFill>
                  <a:srgbClr val="81C784"/>
                </a:solidFill>
                <a:latin typeface="Calibri Light"/>
              </a:rPr>
              <a:t>891 × 29</a:t>
            </a:r>
          </a:p>
        </p:txBody>
      </p:sp>
      <p:sp>
        <p:nvSpPr>
          <p:cNvPr id="41" name="TextBox 40"/>
          <p:cNvSpPr txBox="1"/>
          <p:nvPr/>
        </p:nvSpPr>
        <p:spPr>
          <a:xfrm>
            <a:off x="3337560" y="4231386"/>
            <a:ext cx="2514600" cy="403250"/>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salida: 27 características
+ ID + objetivo</a:t>
            </a:r>
          </a:p>
        </p:txBody>
      </p:sp>
      <p:sp>
        <p:nvSpPr>
          <p:cNvPr id="42" name="Rectangle 41"/>
          <p:cNvSpPr/>
          <p:nvPr/>
        </p:nvSpPr>
        <p:spPr>
          <a:xfrm>
            <a:off x="6126480" y="3703320"/>
            <a:ext cx="2697480" cy="9601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17920" y="3776472"/>
            <a:ext cx="2514600" cy="480060"/>
          </a:xfrm>
          <a:prstGeom prst="rect">
            <a:avLst/>
          </a:prstGeom>
          <a:noFill/>
        </p:spPr>
        <p:txBody>
          <a:bodyPr wrap="square" lIns="45720" rIns="45720" tIns="27432" bIns="27432" anchor="ctr">
            <a:spAutoFit/>
          </a:bodyPr>
          <a:lstStyle/>
          <a:p>
            <a:pPr algn="ctr">
              <a:spcAft>
                <a:spcPts val="0"/>
              </a:spcAft>
            </a:pPr>
            <a:r>
              <a:rPr sz="2000" b="0" i="0">
                <a:solidFill>
                  <a:srgbClr val="4FC3F7"/>
                </a:solidFill>
                <a:latin typeface="Calibri Light"/>
              </a:rPr>
              <a:t>2</a:t>
            </a:r>
          </a:p>
        </p:txBody>
      </p:sp>
      <p:sp>
        <p:nvSpPr>
          <p:cNvPr id="44" name="TextBox 43"/>
          <p:cNvSpPr txBox="1"/>
          <p:nvPr/>
        </p:nvSpPr>
        <p:spPr>
          <a:xfrm>
            <a:off x="6217920" y="4231386"/>
            <a:ext cx="2514600" cy="403250"/>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variables derivadas
nuevas</a:t>
            </a:r>
          </a:p>
        </p:txBody>
      </p:sp>
      <p:sp>
        <p:nvSpPr>
          <p:cNvPr id="45" name="Rectangle 44"/>
          <p:cNvSpPr/>
          <p:nvPr/>
        </p:nvSpPr>
        <p:spPr>
          <a:xfrm>
            <a:off x="9006840" y="3703320"/>
            <a:ext cx="2697480" cy="9601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98280" y="3776472"/>
            <a:ext cx="2514600" cy="480060"/>
          </a:xfrm>
          <a:prstGeom prst="rect">
            <a:avLst/>
          </a:prstGeom>
          <a:noFill/>
        </p:spPr>
        <p:txBody>
          <a:bodyPr wrap="square" lIns="45720" rIns="45720" tIns="27432" bIns="27432" anchor="ctr">
            <a:spAutoFit/>
          </a:bodyPr>
          <a:lstStyle/>
          <a:p>
            <a:pPr algn="ctr">
              <a:spcAft>
                <a:spcPts val="0"/>
              </a:spcAft>
            </a:pPr>
            <a:r>
              <a:rPr sz="2000" b="0" i="0">
                <a:solidFill>
                  <a:srgbClr val="EF9A9A"/>
                </a:solidFill>
                <a:latin typeface="Calibri Light"/>
              </a:rPr>
              <a:t>14</a:t>
            </a:r>
          </a:p>
        </p:txBody>
      </p:sp>
      <p:sp>
        <p:nvSpPr>
          <p:cNvPr id="47" name="TextBox 46"/>
          <p:cNvSpPr txBox="1"/>
          <p:nvPr/>
        </p:nvSpPr>
        <p:spPr>
          <a:xfrm>
            <a:off x="9098280" y="4231386"/>
            <a:ext cx="2514600" cy="403250"/>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columnas redundantes
descartadas</a:t>
            </a:r>
          </a:p>
        </p:txBody>
      </p:sp>
      <p:sp>
        <p:nvSpPr>
          <p:cNvPr id="48" name="Rectangle 47"/>
          <p:cNvSpPr/>
          <p:nvPr/>
        </p:nvSpPr>
        <p:spPr>
          <a:xfrm>
            <a:off x="365760" y="4846320"/>
            <a:ext cx="9509760" cy="109728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4892040"/>
            <a:ext cx="9235440" cy="1005839"/>
          </a:xfrm>
          <a:prstGeom prst="rect">
            <a:avLst/>
          </a:prstGeom>
          <a:noFill/>
        </p:spPr>
        <p:txBody>
          <a:bodyPr wrap="square" lIns="45720" rIns="45720" tIns="27432" bIns="27432" anchor="ctr">
            <a:spAutoFit/>
          </a:bodyPr>
          <a:lstStyle/>
          <a:p>
            <a:pPr algn="l">
              <a:spcAft>
                <a:spcPts val="0"/>
              </a:spcAft>
            </a:pPr>
            <a:r>
              <a:rPr sz="1400" b="0" i="1">
                <a:solidFill>
                  <a:srgbClr val="4FC3F7"/>
                </a:solidFill>
                <a:latin typeface="Calibri"/>
              </a:rPr>
              <a:t>Cada paso queda registrado en una bitácora dentro del notebook (sección VII), con su efecto verificable en los datos.</a:t>
            </a:r>
          </a:p>
        </p:txBody>
      </p:sp>
      <p:sp>
        <p:nvSpPr>
          <p:cNvPr id="50"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Transformaciones: asimetría y escalado robusto</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¿Por qué RobustScaler y no StandardScaler?</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Nicolás Soletic Cobos  ·  Diapositiva 6 / 17</a:t>
            </a:r>
          </a:p>
        </p:txBody>
      </p:sp>
      <p:pic>
        <p:nvPicPr>
          <p:cNvPr id="7" name="Picture 6" descr="f4_titanic_escalado_robusto.png"/>
          <p:cNvPicPr>
            <a:picLocks noChangeAspect="1"/>
          </p:cNvPicPr>
          <p:nvPr/>
        </p:nvPicPr>
        <p:blipFill>
          <a:blip r:embed="rId2"/>
          <a:stretch>
            <a:fillRect/>
          </a:stretch>
        </p:blipFill>
        <p:spPr>
          <a:xfrm>
            <a:off x="365760" y="1325880"/>
            <a:ext cx="6858000" cy="2767633"/>
          </a:xfrm>
          <a:prstGeom prst="rect">
            <a:avLst/>
          </a:prstGeom>
        </p:spPr>
      </p:pic>
      <p:sp>
        <p:nvSpPr>
          <p:cNvPr id="8" name="TextBox 7"/>
          <p:cNvSpPr txBox="1"/>
          <p:nvPr/>
        </p:nvSpPr>
        <p:spPr>
          <a:xfrm>
            <a:off x="365760" y="4114800"/>
            <a:ext cx="6858000" cy="274320"/>
          </a:xfrm>
          <a:prstGeom prst="rect">
            <a:avLst/>
          </a:prstGeom>
          <a:noFill/>
        </p:spPr>
        <p:txBody>
          <a:bodyPr wrap="square" lIns="45720" rIns="45720" tIns="27432" bIns="27432" anchor="t">
            <a:spAutoFit/>
          </a:bodyPr>
          <a:lstStyle/>
          <a:p>
            <a:pPr algn="l">
              <a:spcAft>
                <a:spcPts val="0"/>
              </a:spcAft>
            </a:pPr>
            <a:r>
              <a:rPr sz="1000" b="0" i="1">
                <a:solidFill>
                  <a:srgbClr val="7090B0"/>
                </a:solidFill>
                <a:latin typeface="Calibri"/>
              </a:rPr>
              <a:t>Fare_per_person_log, FamilySize y TicketGroupSize antes y después de RobustScaler (mediana = 0, IQR = 1)</a:t>
            </a:r>
          </a:p>
        </p:txBody>
      </p:sp>
      <p:sp>
        <p:nvSpPr>
          <p:cNvPr id="9" name="Rectangle 8"/>
          <p:cNvSpPr/>
          <p:nvPr/>
        </p:nvSpPr>
        <p:spPr>
          <a:xfrm>
            <a:off x="7452360" y="1280160"/>
            <a:ext cx="4343400" cy="32004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52360" y="1280160"/>
            <a:ext cx="434340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389888"/>
            <a:ext cx="406908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Asimetría residual (diagnóstico)</a:t>
            </a:r>
          </a:p>
        </p:txBody>
      </p:sp>
      <p:sp>
        <p:nvSpPr>
          <p:cNvPr id="12" name="TextBox 11"/>
          <p:cNvSpPr txBox="1"/>
          <p:nvPr/>
        </p:nvSpPr>
        <p:spPr>
          <a:xfrm>
            <a:off x="7635240" y="1783080"/>
            <a:ext cx="2377440" cy="365760"/>
          </a:xfrm>
          <a:prstGeom prst="rect">
            <a:avLst/>
          </a:prstGeom>
          <a:noFill/>
        </p:spPr>
        <p:txBody>
          <a:bodyPr wrap="square" lIns="45720" rIns="45720" tIns="27432" bIns="27432" anchor="ctr">
            <a:spAutoFit/>
          </a:bodyPr>
          <a:lstStyle/>
          <a:p>
            <a:pPr algn="l">
              <a:spcAft>
                <a:spcPts val="0"/>
              </a:spcAft>
            </a:pPr>
            <a:r>
              <a:rPr sz="1300" b="0" i="0">
                <a:solidFill>
                  <a:srgbClr val="B0C4DE"/>
                </a:solidFill>
                <a:latin typeface="Calibri"/>
              </a:rPr>
              <a:t>SibSp</a:t>
            </a:r>
          </a:p>
        </p:txBody>
      </p:sp>
      <p:sp>
        <p:nvSpPr>
          <p:cNvPr id="13" name="TextBox 12"/>
          <p:cNvSpPr txBox="1"/>
          <p:nvPr/>
        </p:nvSpPr>
        <p:spPr>
          <a:xfrm>
            <a:off x="10058400" y="1783080"/>
            <a:ext cx="1554480" cy="365760"/>
          </a:xfrm>
          <a:prstGeom prst="rect">
            <a:avLst/>
          </a:prstGeom>
          <a:noFill/>
        </p:spPr>
        <p:txBody>
          <a:bodyPr wrap="square" lIns="45720" rIns="45720" tIns="27432" bIns="27432" anchor="ctr">
            <a:spAutoFit/>
          </a:bodyPr>
          <a:lstStyle/>
          <a:p>
            <a:pPr algn="r">
              <a:spcAft>
                <a:spcPts val="0"/>
              </a:spcAft>
            </a:pPr>
            <a:r>
              <a:rPr sz="1600" b="1" i="0">
                <a:solidFill>
                  <a:srgbClr val="EF9A9A"/>
                </a:solidFill>
                <a:latin typeface="Calibri"/>
              </a:rPr>
              <a:t>3,69</a:t>
            </a:r>
          </a:p>
        </p:txBody>
      </p:sp>
      <p:sp>
        <p:nvSpPr>
          <p:cNvPr id="14" name="TextBox 13"/>
          <p:cNvSpPr txBox="1"/>
          <p:nvPr/>
        </p:nvSpPr>
        <p:spPr>
          <a:xfrm>
            <a:off x="7635240" y="2185416"/>
            <a:ext cx="2377440" cy="365760"/>
          </a:xfrm>
          <a:prstGeom prst="rect">
            <a:avLst/>
          </a:prstGeom>
          <a:noFill/>
        </p:spPr>
        <p:txBody>
          <a:bodyPr wrap="square" lIns="45720" rIns="45720" tIns="27432" bIns="27432" anchor="ctr">
            <a:spAutoFit/>
          </a:bodyPr>
          <a:lstStyle/>
          <a:p>
            <a:pPr algn="l">
              <a:spcAft>
                <a:spcPts val="0"/>
              </a:spcAft>
            </a:pPr>
            <a:r>
              <a:rPr sz="1300" b="0" i="0">
                <a:solidFill>
                  <a:srgbClr val="B0C4DE"/>
                </a:solidFill>
                <a:latin typeface="Calibri"/>
              </a:rPr>
              <a:t>Parch</a:t>
            </a:r>
          </a:p>
        </p:txBody>
      </p:sp>
      <p:sp>
        <p:nvSpPr>
          <p:cNvPr id="15" name="TextBox 14"/>
          <p:cNvSpPr txBox="1"/>
          <p:nvPr/>
        </p:nvSpPr>
        <p:spPr>
          <a:xfrm>
            <a:off x="10058400" y="2185416"/>
            <a:ext cx="1554480" cy="365760"/>
          </a:xfrm>
          <a:prstGeom prst="rect">
            <a:avLst/>
          </a:prstGeom>
          <a:noFill/>
        </p:spPr>
        <p:txBody>
          <a:bodyPr wrap="square" lIns="45720" rIns="45720" tIns="27432" bIns="27432" anchor="ctr">
            <a:spAutoFit/>
          </a:bodyPr>
          <a:lstStyle/>
          <a:p>
            <a:pPr algn="r">
              <a:spcAft>
                <a:spcPts val="0"/>
              </a:spcAft>
            </a:pPr>
            <a:r>
              <a:rPr sz="1600" b="1" i="0">
                <a:solidFill>
                  <a:srgbClr val="EF9A9A"/>
                </a:solidFill>
                <a:latin typeface="Calibri"/>
              </a:rPr>
              <a:t>2,74</a:t>
            </a:r>
          </a:p>
        </p:txBody>
      </p:sp>
      <p:sp>
        <p:nvSpPr>
          <p:cNvPr id="16" name="TextBox 15"/>
          <p:cNvSpPr txBox="1"/>
          <p:nvPr/>
        </p:nvSpPr>
        <p:spPr>
          <a:xfrm>
            <a:off x="7635240" y="2587752"/>
            <a:ext cx="2377440" cy="365760"/>
          </a:xfrm>
          <a:prstGeom prst="rect">
            <a:avLst/>
          </a:prstGeom>
          <a:noFill/>
        </p:spPr>
        <p:txBody>
          <a:bodyPr wrap="square" lIns="45720" rIns="45720" tIns="27432" bIns="27432" anchor="ctr">
            <a:spAutoFit/>
          </a:bodyPr>
          <a:lstStyle/>
          <a:p>
            <a:pPr algn="l">
              <a:spcAft>
                <a:spcPts val="0"/>
              </a:spcAft>
            </a:pPr>
            <a:r>
              <a:rPr sz="1300" b="0" i="0">
                <a:solidFill>
                  <a:srgbClr val="B0C4DE"/>
                </a:solidFill>
                <a:latin typeface="Calibri"/>
              </a:rPr>
              <a:t>FamilySize</a:t>
            </a:r>
          </a:p>
        </p:txBody>
      </p:sp>
      <p:sp>
        <p:nvSpPr>
          <p:cNvPr id="17" name="TextBox 16"/>
          <p:cNvSpPr txBox="1"/>
          <p:nvPr/>
        </p:nvSpPr>
        <p:spPr>
          <a:xfrm>
            <a:off x="10058400" y="2587752"/>
            <a:ext cx="1554480" cy="365760"/>
          </a:xfrm>
          <a:prstGeom prst="rect">
            <a:avLst/>
          </a:prstGeom>
          <a:noFill/>
        </p:spPr>
        <p:txBody>
          <a:bodyPr wrap="square" lIns="45720" rIns="45720" tIns="27432" bIns="27432" anchor="ctr">
            <a:spAutoFit/>
          </a:bodyPr>
          <a:lstStyle/>
          <a:p>
            <a:pPr algn="r">
              <a:spcAft>
                <a:spcPts val="0"/>
              </a:spcAft>
            </a:pPr>
            <a:r>
              <a:rPr sz="1600" b="1" i="0">
                <a:solidFill>
                  <a:srgbClr val="EF9A9A"/>
                </a:solidFill>
                <a:latin typeface="Calibri"/>
              </a:rPr>
              <a:t>2,72</a:t>
            </a:r>
          </a:p>
        </p:txBody>
      </p:sp>
      <p:sp>
        <p:nvSpPr>
          <p:cNvPr id="18" name="TextBox 17"/>
          <p:cNvSpPr txBox="1"/>
          <p:nvPr/>
        </p:nvSpPr>
        <p:spPr>
          <a:xfrm>
            <a:off x="7635240" y="2990088"/>
            <a:ext cx="2377440" cy="365760"/>
          </a:xfrm>
          <a:prstGeom prst="rect">
            <a:avLst/>
          </a:prstGeom>
          <a:noFill/>
        </p:spPr>
        <p:txBody>
          <a:bodyPr wrap="square" lIns="45720" rIns="45720" tIns="27432" bIns="27432" anchor="ctr">
            <a:spAutoFit/>
          </a:bodyPr>
          <a:lstStyle/>
          <a:p>
            <a:pPr algn="l">
              <a:spcAft>
                <a:spcPts val="0"/>
              </a:spcAft>
            </a:pPr>
            <a:r>
              <a:rPr sz="1300" b="0" i="0">
                <a:solidFill>
                  <a:srgbClr val="B0C4DE"/>
                </a:solidFill>
                <a:latin typeface="Calibri"/>
              </a:rPr>
              <a:t>Age_clean</a:t>
            </a:r>
          </a:p>
        </p:txBody>
      </p:sp>
      <p:sp>
        <p:nvSpPr>
          <p:cNvPr id="19" name="TextBox 18"/>
          <p:cNvSpPr txBox="1"/>
          <p:nvPr/>
        </p:nvSpPr>
        <p:spPr>
          <a:xfrm>
            <a:off x="10058400" y="2990088"/>
            <a:ext cx="1554480" cy="365760"/>
          </a:xfrm>
          <a:prstGeom prst="rect">
            <a:avLst/>
          </a:prstGeom>
          <a:noFill/>
        </p:spPr>
        <p:txBody>
          <a:bodyPr wrap="square" lIns="45720" rIns="45720" tIns="27432" bIns="27432" anchor="ctr">
            <a:spAutoFit/>
          </a:bodyPr>
          <a:lstStyle/>
          <a:p>
            <a:pPr algn="r">
              <a:spcAft>
                <a:spcPts val="0"/>
              </a:spcAft>
            </a:pPr>
            <a:r>
              <a:rPr sz="1600" b="1" i="0">
                <a:solidFill>
                  <a:srgbClr val="FFB74D"/>
                </a:solidFill>
                <a:latin typeface="Calibri"/>
              </a:rPr>
              <a:t>0,53</a:t>
            </a:r>
          </a:p>
        </p:txBody>
      </p:sp>
      <p:sp>
        <p:nvSpPr>
          <p:cNvPr id="20" name="TextBox 19"/>
          <p:cNvSpPr txBox="1"/>
          <p:nvPr/>
        </p:nvSpPr>
        <p:spPr>
          <a:xfrm>
            <a:off x="7635240" y="3392424"/>
            <a:ext cx="2377440" cy="365760"/>
          </a:xfrm>
          <a:prstGeom prst="rect">
            <a:avLst/>
          </a:prstGeom>
          <a:noFill/>
        </p:spPr>
        <p:txBody>
          <a:bodyPr wrap="square" lIns="45720" rIns="45720" tIns="27432" bIns="27432" anchor="ctr">
            <a:spAutoFit/>
          </a:bodyPr>
          <a:lstStyle/>
          <a:p>
            <a:pPr algn="l">
              <a:spcAft>
                <a:spcPts val="0"/>
              </a:spcAft>
            </a:pPr>
            <a:r>
              <a:rPr sz="1300" b="0" i="0">
                <a:solidFill>
                  <a:srgbClr val="B0C4DE"/>
                </a:solidFill>
                <a:latin typeface="Calibri"/>
              </a:rPr>
              <a:t>Fare_log</a:t>
            </a:r>
          </a:p>
        </p:txBody>
      </p:sp>
      <p:sp>
        <p:nvSpPr>
          <p:cNvPr id="21" name="TextBox 20"/>
          <p:cNvSpPr txBox="1"/>
          <p:nvPr/>
        </p:nvSpPr>
        <p:spPr>
          <a:xfrm>
            <a:off x="10058400" y="3392424"/>
            <a:ext cx="1554480" cy="365760"/>
          </a:xfrm>
          <a:prstGeom prst="rect">
            <a:avLst/>
          </a:prstGeom>
          <a:noFill/>
        </p:spPr>
        <p:txBody>
          <a:bodyPr wrap="square" lIns="45720" rIns="45720" tIns="27432" bIns="27432" anchor="ctr">
            <a:spAutoFit/>
          </a:bodyPr>
          <a:lstStyle/>
          <a:p>
            <a:pPr algn="r">
              <a:spcAft>
                <a:spcPts val="0"/>
              </a:spcAft>
            </a:pPr>
            <a:r>
              <a:rPr sz="1600" b="1" i="0">
                <a:solidFill>
                  <a:srgbClr val="81C784"/>
                </a:solidFill>
                <a:latin typeface="Calibri"/>
              </a:rPr>
              <a:t>0,39</a:t>
            </a:r>
          </a:p>
        </p:txBody>
      </p:sp>
      <p:sp>
        <p:nvSpPr>
          <p:cNvPr id="22" name="TextBox 21"/>
          <p:cNvSpPr txBox="1"/>
          <p:nvPr/>
        </p:nvSpPr>
        <p:spPr>
          <a:xfrm>
            <a:off x="7589520" y="3840480"/>
            <a:ext cx="4114800" cy="594360"/>
          </a:xfrm>
          <a:prstGeom prst="rect">
            <a:avLst/>
          </a:prstGeom>
          <a:noFill/>
        </p:spPr>
        <p:txBody>
          <a:bodyPr wrap="square" lIns="45720" rIns="45720" tIns="27432" bIns="27432" anchor="t">
            <a:spAutoFit/>
          </a:bodyPr>
          <a:lstStyle/>
          <a:p>
            <a:pPr algn="l">
              <a:spcAft>
                <a:spcPts val="0"/>
              </a:spcAft>
            </a:pPr>
            <a:r>
              <a:rPr sz="1050" b="0" i="0">
                <a:solidFill>
                  <a:srgbClr val="7090B0"/>
                </a:solidFill>
                <a:latin typeface="Calibri"/>
              </a:rPr>
              <a:t>SibSp y Parch ya se resumieron en FamilySize; Fare ya se corrigió con log1p en las Fases 2-3 (4,78 → 0,39).</a:t>
            </a:r>
          </a:p>
        </p:txBody>
      </p:sp>
      <p:sp>
        <p:nvSpPr>
          <p:cNvPr id="23" name="Rectangle 22"/>
          <p:cNvSpPr/>
          <p:nvPr/>
        </p:nvSpPr>
        <p:spPr>
          <a:xfrm>
            <a:off x="365760" y="4709160"/>
            <a:ext cx="9509760" cy="16002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4709160"/>
            <a:ext cx="9509760" cy="73152"/>
          </a:xfrm>
          <a:prstGeom prst="rect">
            <a:avLst/>
          </a:prstGeom>
          <a:solidFill>
            <a:srgbClr val="81C7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818888"/>
            <a:ext cx="9235440" cy="347472"/>
          </a:xfrm>
          <a:prstGeom prst="rect">
            <a:avLst/>
          </a:prstGeom>
          <a:noFill/>
        </p:spPr>
        <p:txBody>
          <a:bodyPr wrap="square" lIns="45720" rIns="45720" tIns="27432" bIns="27432" anchor="t">
            <a:spAutoFit/>
          </a:bodyPr>
          <a:lstStyle/>
          <a:p>
            <a:pPr algn="l">
              <a:spcAft>
                <a:spcPts val="0"/>
              </a:spcAft>
            </a:pPr>
            <a:r>
              <a:rPr sz="1250" b="1" i="0">
                <a:solidFill>
                  <a:srgbClr val="81C784"/>
                </a:solidFill>
                <a:latin typeface="Calibri"/>
              </a:rPr>
              <a:t>Decisión: RobustScaler (mediana e IQR)</a:t>
            </a:r>
          </a:p>
        </p:txBody>
      </p:sp>
      <p:sp>
        <p:nvSpPr>
          <p:cNvPr id="26" name="TextBox 25"/>
          <p:cNvSpPr txBox="1"/>
          <p:nvPr/>
        </p:nvSpPr>
        <p:spPr>
          <a:xfrm>
            <a:off x="502920" y="5120640"/>
            <a:ext cx="9235440" cy="1188720"/>
          </a:xfrm>
          <a:prstGeom prst="rect">
            <a:avLst/>
          </a:prstGeom>
          <a:noFill/>
        </p:spPr>
        <p:txBody>
          <a:bodyPr wrap="square" lIns="45720" rIns="45720" tIns="27432" bIns="27432" anchor="t">
            <a:spAutoFit/>
          </a:bodyPr>
          <a:lstStyle/>
          <a:p>
            <a:pPr algn="l" marL="219456" indent="-219456">
              <a:spcAft>
                <a:spcPts val="500"/>
              </a:spcAft>
              <a:buClr>
                <a:srgbClr val="4FC3F7"/>
              </a:buClr>
              <a:buFont typeface="Arial"/>
              <a:buChar char="▸"/>
            </a:pPr>
            <a:r>
              <a:rPr sz="1300" b="0" i="0">
                <a:solidFill>
                  <a:srgbClr val="B0C4DE"/>
                </a:solidFill>
                <a:latin typeface="Calibri"/>
              </a:rPr>
              <a:t>Las tres variables escaladas tienen colas de valores legítimos (grupos y familias numerosas): no se eliminan.</a:t>
            </a:r>
          </a:p>
          <a:p>
            <a:pPr algn="l" marL="219456" indent="-219456">
              <a:spcAft>
                <a:spcPts val="500"/>
              </a:spcAft>
              <a:buClr>
                <a:srgbClr val="4FC3F7"/>
              </a:buClr>
              <a:buFont typeface="Arial"/>
              <a:buChar char="▸"/>
            </a:pPr>
            <a:r>
              <a:rPr sz="1300" b="0" i="0">
                <a:solidFill>
                  <a:srgbClr val="B0C4DE"/>
                </a:solidFill>
                <a:latin typeface="Calibri"/>
              </a:rPr>
              <a:t>Mediana e IQR no se desplazan con la cola (FamilySize: media 1,90, mediana 1); StandardScaler usaría media y desviación estándar.</a:t>
            </a:r>
          </a:p>
          <a:p>
            <a:pPr algn="l" marL="219456" indent="-219456">
              <a:spcAft>
                <a:spcPts val="500"/>
              </a:spcAft>
              <a:buClr>
                <a:srgbClr val="4FC3F7"/>
              </a:buClr>
              <a:buFont typeface="Arial"/>
              <a:buChar char="▸"/>
            </a:pPr>
            <a:r>
              <a:rPr sz="1300" b="0" i="0">
                <a:solidFill>
                  <a:srgbClr val="B0C4DE"/>
                </a:solidFill>
                <a:latin typeface="Calibri"/>
              </a:rPr>
              <a:t>No se atenúan los extremos, solo cambia la escala (FamilySize_rs máx. = 10,0). Fare_per_person_log conserva 24 atípicos (2,7 %) vs. 116 de Fare (13,0 %).</a:t>
            </a:r>
          </a:p>
        </p:txBody>
      </p:sp>
      <p:sp>
        <p:nvSpPr>
          <p:cNvPr id="27"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Codificación y resumen de transformaciones</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Qué se transformó, con qué operación, por qué y con qué efecto en los datos</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Nicolás Soletic Cobos  ·  Diapositiva 7 / 17</a:t>
            </a:r>
          </a:p>
        </p:txBody>
      </p:sp>
      <p:graphicFrame>
        <p:nvGraphicFramePr>
          <p:cNvPr id="7" name="Table 6"/>
          <p:cNvGraphicFramePr>
            <a:graphicFrameLocks noGrp="1"/>
          </p:cNvGraphicFramePr>
          <p:nvPr/>
        </p:nvGraphicFramePr>
        <p:xfrm>
          <a:off x="365760" y="1325880"/>
          <a:ext cx="11430000" cy="3291840"/>
        </p:xfrm>
        <a:graphic>
          <a:graphicData uri="http://schemas.openxmlformats.org/drawingml/2006/table">
            <a:tbl>
              <a:tblPr firstRow="0" bandRow="0">
                <a:tableStyleId>{2D5ABB26-0587-4C30-8999-92F81FD0307C}</a:tableStyleId>
              </a:tblPr>
              <a:tblGrid>
                <a:gridCol w="2651760"/>
                <a:gridCol w="1737360"/>
                <a:gridCol w="4206240"/>
                <a:gridCol w="2834640"/>
              </a:tblGrid>
              <a:tr h="411480">
                <a:tc>
                  <a:txBody>
                    <a:bodyPr wrap="square"/>
                    <a:lstStyle/>
                    <a:p>
                      <a:r>
                        <a:rPr sz="1250" b="1">
                          <a:solidFill>
                            <a:srgbClr val="4FC3F7"/>
                          </a:solidFill>
                          <a:latin typeface="Calibri"/>
                        </a:rPr>
                        <a:t>Variables</a:t>
                      </a:r>
                    </a:p>
                  </a:txBody>
                  <a:tcPr marL="91440" marR="91440" marT="36576" marB="36576" anchor="ctr">
                    <a:solidFill>
                      <a:srgbClr val="1A3454"/>
                    </a:solidFill>
                  </a:tcPr>
                </a:tc>
                <a:tc>
                  <a:txBody>
                    <a:bodyPr wrap="square"/>
                    <a:lstStyle/>
                    <a:p>
                      <a:r>
                        <a:rPr sz="1250" b="1">
                          <a:solidFill>
                            <a:srgbClr val="4FC3F7"/>
                          </a:solidFill>
                          <a:latin typeface="Calibri"/>
                        </a:rPr>
                        <a:t>Operación</a:t>
                      </a:r>
                    </a:p>
                  </a:txBody>
                  <a:tcPr marL="91440" marR="91440" marT="36576" marB="36576" anchor="ctr">
                    <a:solidFill>
                      <a:srgbClr val="1A3454"/>
                    </a:solidFill>
                  </a:tcPr>
                </a:tc>
                <a:tc>
                  <a:txBody>
                    <a:bodyPr wrap="square"/>
                    <a:lstStyle/>
                    <a:p>
                      <a:r>
                        <a:rPr sz="1250" b="1">
                          <a:solidFill>
                            <a:srgbClr val="4FC3F7"/>
                          </a:solidFill>
                          <a:latin typeface="Calibri"/>
                        </a:rPr>
                        <a:t>Propósito y coherencia con el EDA</a:t>
                      </a:r>
                    </a:p>
                  </a:txBody>
                  <a:tcPr marL="91440" marR="91440" marT="36576" marB="36576" anchor="ctr">
                    <a:solidFill>
                      <a:srgbClr val="1A3454"/>
                    </a:solidFill>
                  </a:tcPr>
                </a:tc>
                <a:tc>
                  <a:txBody>
                    <a:bodyPr wrap="square"/>
                    <a:lstStyle/>
                    <a:p>
                      <a:r>
                        <a:rPr sz="1250" b="1">
                          <a:solidFill>
                            <a:srgbClr val="4FC3F7"/>
                          </a:solidFill>
                          <a:latin typeface="Calibri"/>
                        </a:rPr>
                        <a:t>Efecto en los datos</a:t>
                      </a:r>
                    </a:p>
                  </a:txBody>
                  <a:tcPr marL="91440" marR="91440" marT="36576" marB="36576" anchor="ctr">
                    <a:solidFill>
                      <a:srgbClr val="1A3454"/>
                    </a:solidFill>
                  </a:tcPr>
                </a:tc>
              </a:tr>
              <a:tr h="777240">
                <a:tc>
                  <a:txBody>
                    <a:bodyPr wrap="square"/>
                    <a:lstStyle/>
                    <a:p>
                      <a:r>
                        <a:rPr sz="1250" b="1">
                          <a:solidFill>
                            <a:srgbClr val="4FC3F7"/>
                          </a:solidFill>
                          <a:latin typeface="Calibri"/>
                        </a:rPr>
                        <a:t>Fare_per_person_log, FamilySize, TicketGroupSize</a:t>
                      </a:r>
                    </a:p>
                  </a:txBody>
                  <a:tcPr marL="91440" marR="91440" marT="36576" marB="36576" anchor="ctr">
                    <a:solidFill>
                      <a:srgbClr val="1A3454"/>
                    </a:solidFill>
                  </a:tcPr>
                </a:tc>
                <a:tc>
                  <a:txBody>
                    <a:bodyPr wrap="square"/>
                    <a:lstStyle/>
                    <a:p>
                      <a:r>
                        <a:rPr sz="1250">
                          <a:solidFill>
                            <a:srgbClr val="B0C4DE"/>
                          </a:solidFill>
                          <a:latin typeface="Calibri"/>
                        </a:rPr>
                        <a:t>RobustScaler</a:t>
                      </a:r>
                    </a:p>
                  </a:txBody>
                  <a:tcPr marL="91440" marR="91440" marT="36576" marB="36576" anchor="ctr">
                    <a:solidFill>
                      <a:srgbClr val="152435"/>
                    </a:solidFill>
                  </a:tcPr>
                </a:tc>
                <a:tc>
                  <a:txBody>
                    <a:bodyPr wrap="square"/>
                    <a:lstStyle/>
                    <a:p>
                      <a:r>
                        <a:rPr sz="1250">
                          <a:solidFill>
                            <a:srgbClr val="B0C4DE"/>
                          </a:solidFill>
                          <a:latin typeface="Calibri"/>
                        </a:rPr>
                        <a:t>Colas de valores legítimos; mediana e IQR no se desplazan con la cola (StandardScaler usaría media y desviación)</a:t>
                      </a:r>
                    </a:p>
                  </a:txBody>
                  <a:tcPr marL="91440" marR="91440" marT="36576" marB="36576" anchor="ctr">
                    <a:solidFill>
                      <a:srgbClr val="152435"/>
                    </a:solidFill>
                  </a:tcPr>
                </a:tc>
                <a:tc>
                  <a:txBody>
                    <a:bodyPr wrap="square"/>
                    <a:lstStyle/>
                    <a:p>
                      <a:r>
                        <a:rPr sz="1250">
                          <a:solidFill>
                            <a:srgbClr val="B0C4DE"/>
                          </a:solidFill>
                          <a:latin typeface="Calibri"/>
                        </a:rPr>
                        <a:t>Mediana 0, IQR 1; extremos conservados</a:t>
                      </a:r>
                    </a:p>
                  </a:txBody>
                  <a:tcPr marL="91440" marR="91440" marT="36576" marB="36576" anchor="ctr">
                    <a:solidFill>
                      <a:srgbClr val="152435"/>
                    </a:solidFill>
                  </a:tcPr>
                </a:tc>
              </a:tr>
              <a:tr h="685800">
                <a:tc>
                  <a:txBody>
                    <a:bodyPr wrap="square"/>
                    <a:lstStyle/>
                    <a:p>
                      <a:r>
                        <a:rPr sz="1250" b="1">
                          <a:solidFill>
                            <a:srgbClr val="4FC3F7"/>
                          </a:solidFill>
                          <a:latin typeface="Calibri"/>
                        </a:rPr>
                        <a:t>Fare_per_person</a:t>
                      </a:r>
                    </a:p>
                  </a:txBody>
                  <a:tcPr marL="91440" marR="91440" marT="36576" marB="36576" anchor="ctr">
                    <a:solidFill>
                      <a:srgbClr val="1A3454"/>
                    </a:solidFill>
                  </a:tcPr>
                </a:tc>
                <a:tc>
                  <a:txBody>
                    <a:bodyPr wrap="square"/>
                    <a:lstStyle/>
                    <a:p>
                      <a:r>
                        <a:rPr sz="1250">
                          <a:solidFill>
                            <a:srgbClr val="B0C4DE"/>
                          </a:solidFill>
                          <a:latin typeface="Calibri"/>
                        </a:rPr>
                        <a:t>log1p</a:t>
                      </a:r>
                    </a:p>
                  </a:txBody>
                  <a:tcPr marL="91440" marR="91440" marT="36576" marB="36576" anchor="ctr">
                    <a:solidFill>
                      <a:srgbClr val="152435"/>
                    </a:solidFill>
                  </a:tcPr>
                </a:tc>
                <a:tc>
                  <a:txBody>
                    <a:bodyPr wrap="square"/>
                    <a:lstStyle/>
                    <a:p>
                      <a:r>
                        <a:rPr sz="1250">
                          <a:solidFill>
                            <a:srgbClr val="B0C4DE"/>
                          </a:solidFill>
                          <a:latin typeface="Calibri"/>
                        </a:rPr>
                        <a:t>Corrige la cola derecha de la tarifa por persona</a:t>
                      </a:r>
                    </a:p>
                  </a:txBody>
                  <a:tcPr marL="91440" marR="91440" marT="36576" marB="36576" anchor="ctr">
                    <a:solidFill>
                      <a:srgbClr val="152435"/>
                    </a:solidFill>
                  </a:tcPr>
                </a:tc>
                <a:tc>
                  <a:txBody>
                    <a:bodyPr wrap="square"/>
                    <a:lstStyle/>
                    <a:p>
                      <a:r>
                        <a:rPr sz="1250">
                          <a:solidFill>
                            <a:srgbClr val="B0C4DE"/>
                          </a:solidFill>
                          <a:latin typeface="Calibri"/>
                        </a:rPr>
                        <a:t>Asimetría 4,37 → 0,33</a:t>
                      </a:r>
                    </a:p>
                  </a:txBody>
                  <a:tcPr marL="91440" marR="91440" marT="36576" marB="36576" anchor="ctr">
                    <a:solidFill>
                      <a:srgbClr val="152435"/>
                    </a:solidFill>
                  </a:tcPr>
                </a:tc>
              </a:tr>
              <a:tr h="868680">
                <a:tc>
                  <a:txBody>
                    <a:bodyPr wrap="square"/>
                    <a:lstStyle/>
                    <a:p>
                      <a:r>
                        <a:rPr sz="1250" b="1">
                          <a:solidFill>
                            <a:srgbClr val="4FC3F7"/>
                          </a:solidFill>
                          <a:latin typeface="Calibri"/>
                        </a:rPr>
                        <a:t>Title_agrupado, Sex_Pclass, AgeGroup, Embarked_clean, Deck_combinado</a:t>
                      </a:r>
                    </a:p>
                  </a:txBody>
                  <a:tcPr marL="91440" marR="91440" marT="36576" marB="36576" anchor="ctr">
                    <a:solidFill>
                      <a:srgbClr val="1A3454"/>
                    </a:solidFill>
                  </a:tcPr>
                </a:tc>
                <a:tc>
                  <a:txBody>
                    <a:bodyPr wrap="square"/>
                    <a:lstStyle/>
                    <a:p>
                      <a:r>
                        <a:rPr sz="1250">
                          <a:solidFill>
                            <a:srgbClr val="B0C4DE"/>
                          </a:solidFill>
                          <a:latin typeface="Calibri"/>
                        </a:rPr>
                        <a:t>One-hot (categoría de referencia)</a:t>
                      </a:r>
                    </a:p>
                  </a:txBody>
                  <a:tcPr marL="91440" marR="91440" marT="36576" marB="36576" anchor="ctr">
                    <a:solidFill>
                      <a:srgbClr val="152435"/>
                    </a:solidFill>
                  </a:tcPr>
                </a:tc>
                <a:tc>
                  <a:txBody>
                    <a:bodyPr wrap="square"/>
                    <a:lstStyle/>
                    <a:p>
                      <a:r>
                        <a:rPr sz="1250">
                          <a:solidFill>
                            <a:srgbClr val="B0C4DE"/>
                          </a:solidFill>
                          <a:latin typeface="Calibri"/>
                        </a:rPr>
                        <a:t>Los modelos necesitan entradas numéricas; la referencia (la más frecuente) evita la colinealidad perfecta</a:t>
                      </a:r>
                    </a:p>
                  </a:txBody>
                  <a:tcPr marL="91440" marR="91440" marT="36576" marB="36576" anchor="ctr">
                    <a:solidFill>
                      <a:srgbClr val="152435"/>
                    </a:solidFill>
                  </a:tcPr>
                </a:tc>
                <a:tc>
                  <a:txBody>
                    <a:bodyPr wrap="square"/>
                    <a:lstStyle/>
                    <a:p>
                      <a:r>
                        <a:rPr sz="1250">
                          <a:solidFill>
                            <a:srgbClr val="B0C4DE"/>
                          </a:solidFill>
                          <a:latin typeface="Calibri"/>
                        </a:rPr>
                        <a:t>24 columnas indicadoras</a:t>
                      </a:r>
                    </a:p>
                  </a:txBody>
                  <a:tcPr marL="91440" marR="91440" marT="36576" marB="36576" anchor="ctr">
                    <a:solidFill>
                      <a:srgbClr val="152435"/>
                    </a:solidFill>
                  </a:tcPr>
                </a:tc>
              </a:tr>
              <a:tr h="548640">
                <a:tc>
                  <a:txBody>
                    <a:bodyPr wrap="square"/>
                    <a:lstStyle/>
                    <a:p>
                      <a:r>
                        <a:rPr sz="1250" b="1">
                          <a:solidFill>
                            <a:srgbClr val="4FC3F7"/>
                          </a:solidFill>
                          <a:latin typeface="Calibri"/>
                        </a:rPr>
                        <a:t>Pclass</a:t>
                      </a:r>
                    </a:p>
                  </a:txBody>
                  <a:tcPr marL="91440" marR="91440" marT="36576" marB="36576" anchor="ctr">
                    <a:solidFill>
                      <a:srgbClr val="1A3454"/>
                    </a:solidFill>
                  </a:tcPr>
                </a:tc>
                <a:tc>
                  <a:txBody>
                    <a:bodyPr wrap="square"/>
                    <a:lstStyle/>
                    <a:p>
                      <a:r>
                        <a:rPr sz="1250">
                          <a:solidFill>
                            <a:srgbClr val="B0C4DE"/>
                          </a:solidFill>
                          <a:latin typeface="Calibri"/>
                        </a:rPr>
                        <a:t>Se retira del set final</a:t>
                      </a:r>
                    </a:p>
                  </a:txBody>
                  <a:tcPr marL="91440" marR="91440" marT="36576" marB="36576" anchor="ctr">
                    <a:solidFill>
                      <a:srgbClr val="152435"/>
                    </a:solidFill>
                  </a:tcPr>
                </a:tc>
                <a:tc>
                  <a:txBody>
                    <a:bodyPr wrap="square"/>
                    <a:lstStyle/>
                    <a:p>
                      <a:r>
                        <a:rPr sz="1250">
                          <a:solidFill>
                            <a:srgbClr val="B0C4DE"/>
                          </a:solidFill>
                          <a:latin typeface="Calibri"/>
                        </a:rPr>
                        <a:t>Combinación lineal exacta de las dummies de Sex_Pclass (colinealidad perfecta)</a:t>
                      </a:r>
                    </a:p>
                  </a:txBody>
                  <a:tcPr marL="91440" marR="91440" marT="36576" marB="36576" anchor="ctr">
                    <a:solidFill>
                      <a:srgbClr val="152435"/>
                    </a:solidFill>
                  </a:tcPr>
                </a:tc>
                <a:tc>
                  <a:txBody>
                    <a:bodyPr wrap="square"/>
                    <a:lstStyle/>
                    <a:p>
                      <a:r>
                        <a:rPr sz="1250">
                          <a:solidFill>
                            <a:srgbClr val="B0C4DE"/>
                          </a:solidFill>
                          <a:latin typeface="Calibri"/>
                        </a:rPr>
                        <a:t>Matriz de rango completo (28 de 28)</a:t>
                      </a:r>
                    </a:p>
                  </a:txBody>
                  <a:tcPr marL="91440" marR="91440" marT="36576" marB="36576" anchor="ctr">
                    <a:solidFill>
                      <a:srgbClr val="152435"/>
                    </a:solidFill>
                  </a:tcPr>
                </a:tc>
              </a:tr>
            </a:tbl>
          </a:graphicData>
        </a:graphic>
      </p:graphicFrame>
      <p:sp>
        <p:nvSpPr>
          <p:cNvPr id="8" name="Rectangle 7"/>
          <p:cNvSpPr/>
          <p:nvPr/>
        </p:nvSpPr>
        <p:spPr>
          <a:xfrm>
            <a:off x="365760" y="4846320"/>
            <a:ext cx="9509760" cy="109728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4892040"/>
            <a:ext cx="9235440" cy="1005839"/>
          </a:xfrm>
          <a:prstGeom prst="rect">
            <a:avLst/>
          </a:prstGeom>
          <a:noFill/>
        </p:spPr>
        <p:txBody>
          <a:bodyPr wrap="square" lIns="45720" rIns="45720" tIns="27432" bIns="27432" anchor="ctr">
            <a:spAutoFit/>
          </a:bodyPr>
          <a:lstStyle/>
          <a:p>
            <a:pPr algn="l">
              <a:spcAft>
                <a:spcPts val="0"/>
              </a:spcAft>
            </a:pPr>
            <a:r>
              <a:rPr sz="1400" b="0" i="1">
                <a:solidFill>
                  <a:srgbClr val="4FC3F7"/>
                </a:solidFill>
                <a:latin typeface="Calibri"/>
              </a:rPr>
              <a:t>Efecto neto: 24 columnas indicadoras + 3 numéricas escaladas = 27 características, 100 % numéricas, sin valores faltantes y sin colinealidad exacta.</a:t>
            </a:r>
          </a:p>
        </p:txBody>
      </p:sp>
      <p:sp>
        <p:nvSpPr>
          <p:cNvPr id="10"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Variable derivada 1: Fare_per_person_log</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Separar «pagó una tarifa alta» de «viajó en un grupo grande»</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Nicolás Soletic Cobos  ·  Diapositiva 8 / 17</a:t>
            </a:r>
          </a:p>
        </p:txBody>
      </p:sp>
      <p:pic>
        <p:nvPicPr>
          <p:cNvPr id="7" name="Picture 6" descr="f4_titanic_fare_per_person.png"/>
          <p:cNvPicPr>
            <a:picLocks noChangeAspect="1"/>
          </p:cNvPicPr>
          <p:nvPr/>
        </p:nvPicPr>
        <p:blipFill>
          <a:blip r:embed="rId2"/>
          <a:stretch>
            <a:fillRect/>
          </a:stretch>
        </p:blipFill>
        <p:spPr>
          <a:xfrm>
            <a:off x="365760" y="1280160"/>
            <a:ext cx="6949440" cy="2543050"/>
          </a:xfrm>
          <a:prstGeom prst="rect">
            <a:avLst/>
          </a:prstGeom>
        </p:spPr>
      </p:pic>
      <p:sp>
        <p:nvSpPr>
          <p:cNvPr id="8" name="Rectangle 7"/>
          <p:cNvSpPr/>
          <p:nvPr/>
        </p:nvSpPr>
        <p:spPr>
          <a:xfrm>
            <a:off x="7543800" y="1280160"/>
            <a:ext cx="4251960" cy="25146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43800" y="1280160"/>
            <a:ext cx="425196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0" y="1389888"/>
            <a:ext cx="397764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Regla de construcción</a:t>
            </a:r>
          </a:p>
        </p:txBody>
      </p:sp>
      <p:sp>
        <p:nvSpPr>
          <p:cNvPr id="11" name="TextBox 10"/>
          <p:cNvSpPr txBox="1"/>
          <p:nvPr/>
        </p:nvSpPr>
        <p:spPr>
          <a:xfrm>
            <a:off x="7680960" y="1737360"/>
            <a:ext cx="4023360" cy="2011680"/>
          </a:xfrm>
          <a:prstGeom prst="rect">
            <a:avLst/>
          </a:prstGeom>
          <a:noFill/>
        </p:spPr>
        <p:txBody>
          <a:bodyPr wrap="square" lIns="45720" rIns="45720" tIns="27432" bIns="27432" anchor="t">
            <a:spAutoFit/>
          </a:bodyPr>
          <a:lstStyle/>
          <a:p>
            <a:pPr algn="l" marL="219456" indent="-219456">
              <a:spcAft>
                <a:spcPts val="600"/>
              </a:spcAft>
              <a:buClr>
                <a:srgbClr val="4FC3F7"/>
              </a:buClr>
              <a:buFont typeface="Arial"/>
              <a:buChar char="▸"/>
            </a:pPr>
            <a:r>
              <a:rPr sz="1300" b="0" i="0">
                <a:solidFill>
                  <a:srgbClr val="B0C4DE"/>
                </a:solidFill>
                <a:latin typeface="Calibri"/>
              </a:rPr>
              <a:t>TicketGroupSize = pasajeros que comparten el mismo Ticket</a:t>
            </a:r>
          </a:p>
          <a:p>
            <a:pPr algn="l" marL="219456" indent="-219456">
              <a:spcAft>
                <a:spcPts val="600"/>
              </a:spcAft>
              <a:buClr>
                <a:srgbClr val="4FC3F7"/>
              </a:buClr>
              <a:buFont typeface="Arial"/>
              <a:buChar char="▸"/>
            </a:pPr>
            <a:r>
              <a:rPr sz="1300" b="0" i="0">
                <a:solidFill>
                  <a:srgbClr val="B0C4DE"/>
                </a:solidFill>
                <a:latin typeface="Calibri"/>
              </a:rPr>
              <a:t>Fare_per_person = Fare / TicketGroupSize</a:t>
            </a:r>
          </a:p>
          <a:p>
            <a:pPr algn="l" marL="219456" indent="-219456">
              <a:spcAft>
                <a:spcPts val="600"/>
              </a:spcAft>
              <a:buClr>
                <a:srgbClr val="4FC3F7"/>
              </a:buClr>
              <a:buFont typeface="Arial"/>
              <a:buChar char="▸"/>
            </a:pPr>
            <a:r>
              <a:rPr sz="1300" b="0" i="0">
                <a:solidFill>
                  <a:srgbClr val="B0C4DE"/>
                </a:solidFill>
                <a:latin typeface="Calibri"/>
              </a:rPr>
              <a:t>Fare_per_person_log = log1p(Fare_per_person)</a:t>
            </a:r>
          </a:p>
          <a:p>
            <a:pPr algn="l" marL="219456" indent="-219456">
              <a:spcAft>
                <a:spcPts val="600"/>
              </a:spcAft>
              <a:buClr>
                <a:srgbClr val="4FC3F7"/>
              </a:buClr>
              <a:buFont typeface="Arial"/>
              <a:buChar char="▸"/>
            </a:pPr>
            <a:r>
              <a:rPr sz="1300" b="0" i="0">
                <a:solidFill>
                  <a:srgbClr val="B0C4DE"/>
                </a:solidFill>
                <a:latin typeface="Calibri"/>
              </a:rPr>
              <a:t>134 tickets repetidos agrupan a 344 pasajeros; en el 32,3 % de los casos TicketGroupSize ≠ FamilySize</a:t>
            </a:r>
          </a:p>
        </p:txBody>
      </p:sp>
      <p:sp>
        <p:nvSpPr>
          <p:cNvPr id="12" name="Rectangle 11"/>
          <p:cNvSpPr/>
          <p:nvPr/>
        </p:nvSpPr>
        <p:spPr>
          <a:xfrm>
            <a:off x="365760" y="3931920"/>
            <a:ext cx="11430000" cy="658368"/>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950208"/>
            <a:ext cx="11155680" cy="621792"/>
          </a:xfrm>
          <a:prstGeom prst="rect">
            <a:avLst/>
          </a:prstGeom>
          <a:noFill/>
        </p:spPr>
        <p:txBody>
          <a:bodyPr wrap="square" lIns="45720" rIns="45720" tIns="27432" bIns="27432" anchor="ctr">
            <a:spAutoFit/>
          </a:bodyPr>
          <a:lstStyle/>
          <a:p>
            <a:pPr algn="l">
              <a:spcAft>
                <a:spcPts val="0"/>
              </a:spcAft>
            </a:pPr>
            <a:r>
              <a:rPr sz="1250" b="1" i="0">
                <a:solidFill>
                  <a:srgbClr val="4FC3F7"/>
                </a:solidFill>
                <a:latin typeface="Calibri"/>
              </a:rPr>
              <a:t>Evidencia: </a:t>
            </a:r>
            <a:r>
              <a:rPr sz="1250" b="0" i="0">
                <a:solidFill>
                  <a:srgbClr val="B0C4DE"/>
                </a:solidFill>
                <a:latin typeface="Calibri"/>
              </a:rPr>
              <a:t>asimetría 4,78 → 4,37 → 0,33 (con log1p) · Mann-Whitney U = 58 829,5; p = 6,3×10⁻²¹; r biserial = 0,373 · medianas 8,05 (no sobrevivió) vs. 13,00 (sobrevivió)</a:t>
            </a:r>
          </a:p>
        </p:txBody>
      </p:sp>
      <p:sp>
        <p:nvSpPr>
          <p:cNvPr id="14" name="Rectangle 13"/>
          <p:cNvSpPr/>
          <p:nvPr/>
        </p:nvSpPr>
        <p:spPr>
          <a:xfrm>
            <a:off x="365760" y="4754880"/>
            <a:ext cx="9509760" cy="155448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754880"/>
            <a:ext cx="9509760" cy="73152"/>
          </a:xfrm>
          <a:prstGeom prst="rect">
            <a:avLst/>
          </a:prstGeom>
          <a:solidFill>
            <a:srgbClr val="FFB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864608"/>
            <a:ext cx="9235440" cy="347472"/>
          </a:xfrm>
          <a:prstGeom prst="rect">
            <a:avLst/>
          </a:prstGeom>
          <a:noFill/>
        </p:spPr>
        <p:txBody>
          <a:bodyPr wrap="square" lIns="45720" rIns="45720" tIns="27432" bIns="27432" anchor="t">
            <a:spAutoFit/>
          </a:bodyPr>
          <a:lstStyle/>
          <a:p>
            <a:pPr algn="l">
              <a:spcAft>
                <a:spcPts val="0"/>
              </a:spcAft>
            </a:pPr>
            <a:r>
              <a:rPr sz="1250" b="1" i="0">
                <a:solidFill>
                  <a:srgbClr val="FFB74D"/>
                </a:solidFill>
                <a:latin typeface="Calibri"/>
              </a:rPr>
              <a:t>Matiz honesto</a:t>
            </a:r>
          </a:p>
        </p:txBody>
      </p:sp>
      <p:sp>
        <p:nvSpPr>
          <p:cNvPr id="17" name="TextBox 16"/>
          <p:cNvSpPr txBox="1"/>
          <p:nvPr/>
        </p:nvSpPr>
        <p:spPr>
          <a:xfrm>
            <a:off x="502920" y="5166360"/>
            <a:ext cx="9235440" cy="1097280"/>
          </a:xfrm>
          <a:prstGeom prst="rect">
            <a:avLst/>
          </a:prstGeom>
          <a:noFill/>
        </p:spPr>
        <p:txBody>
          <a:bodyPr wrap="square" lIns="45720" rIns="45720" tIns="27432" bIns="27432" anchor="t">
            <a:spAutoFit/>
          </a:bodyPr>
          <a:lstStyle/>
          <a:p>
            <a:pPr algn="l">
              <a:spcAft>
                <a:spcPts val="0"/>
              </a:spcAft>
            </a:pPr>
            <a:r>
              <a:rPr sz="1400" b="0" i="0">
                <a:solidFill>
                  <a:srgbClr val="B0C4DE"/>
                </a:solidFill>
                <a:latin typeface="Calibri"/>
              </a:rPr>
              <a:t>Al controlar por el tamaño del grupo (Spearman parcial), la asociación con Survived cae 17,3 % para Fare_log y solo 2,3 % para Fare_per_person_log; con residuos lineales, ambas caen ≈ 11 %. Su asociación marginal no supera a la de Fare_log (r biserial 0,373 vs. 0,384): la preferimos por interpretabilidad, no por mayor relevancia.</a:t>
            </a:r>
          </a:p>
        </p:txBody>
      </p:sp>
      <p:sp>
        <p:nvSpPr>
          <p:cNvPr id="18"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Variable derivada 2: Sex_Pclass</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Una interacción explícita entre sexo y clase</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Roberto Moncada González  ·  Diapositiva 9 / 17</a:t>
            </a:r>
          </a:p>
        </p:txBody>
      </p:sp>
      <p:graphicFrame>
        <p:nvGraphicFramePr>
          <p:cNvPr id="7" name="Chart 6"/>
          <p:cNvGraphicFramePr>
            <a:graphicFrameLocks noGrp="1"/>
          </p:cNvGraphicFramePr>
          <p:nvPr/>
        </p:nvGraphicFramePr>
        <p:xfrm>
          <a:off x="365760" y="1280160"/>
          <a:ext cx="6766560" cy="3291840"/>
        </p:xfrm>
        <a:graphic>
          <a:graphicData uri="http://schemas.openxmlformats.org/drawingml/2006/chart">
            <c:chart xmlns:c="http://schemas.openxmlformats.org/drawingml/2006/chart" r:id="rId2"/>
          </a:graphicData>
        </a:graphic>
      </p:graphicFrame>
      <p:sp>
        <p:nvSpPr>
          <p:cNvPr id="8" name="Rectangle 7"/>
          <p:cNvSpPr/>
          <p:nvPr/>
        </p:nvSpPr>
        <p:spPr>
          <a:xfrm>
            <a:off x="7360920" y="1280160"/>
            <a:ext cx="4434840" cy="329184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280160"/>
            <a:ext cx="443484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0" y="1389888"/>
            <a:ext cx="416052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Evidencia de la interacción</a:t>
            </a:r>
          </a:p>
        </p:txBody>
      </p:sp>
      <p:sp>
        <p:nvSpPr>
          <p:cNvPr id="11" name="TextBox 10"/>
          <p:cNvSpPr txBox="1"/>
          <p:nvPr/>
        </p:nvSpPr>
        <p:spPr>
          <a:xfrm>
            <a:off x="7498079" y="1783080"/>
            <a:ext cx="2926080" cy="365760"/>
          </a:xfrm>
          <a:prstGeom prst="rect">
            <a:avLst/>
          </a:prstGeom>
          <a:noFill/>
        </p:spPr>
        <p:txBody>
          <a:bodyPr wrap="square" lIns="45720" rIns="45720" tIns="27432" bIns="27432" anchor="ctr">
            <a:spAutoFit/>
          </a:bodyPr>
          <a:lstStyle/>
          <a:p>
            <a:pPr algn="l">
              <a:spcAft>
                <a:spcPts val="0"/>
              </a:spcAft>
            </a:pPr>
            <a:r>
              <a:rPr sz="1250" b="0" i="0">
                <a:solidFill>
                  <a:srgbClr val="B0C4DE"/>
                </a:solidFill>
                <a:latin typeface="Calibri"/>
              </a:rPr>
              <a:t>V de Cramér Sex</a:t>
            </a:r>
          </a:p>
        </p:txBody>
      </p:sp>
      <p:sp>
        <p:nvSpPr>
          <p:cNvPr id="12" name="TextBox 11"/>
          <p:cNvSpPr txBox="1"/>
          <p:nvPr/>
        </p:nvSpPr>
        <p:spPr>
          <a:xfrm>
            <a:off x="10332720" y="1783080"/>
            <a:ext cx="1280160" cy="365760"/>
          </a:xfrm>
          <a:prstGeom prst="rect">
            <a:avLst/>
          </a:prstGeom>
          <a:noFill/>
        </p:spPr>
        <p:txBody>
          <a:bodyPr wrap="square" lIns="45720" rIns="45720" tIns="27432" bIns="27432" anchor="ctr">
            <a:spAutoFit/>
          </a:bodyPr>
          <a:lstStyle/>
          <a:p>
            <a:pPr algn="r">
              <a:spcAft>
                <a:spcPts val="0"/>
              </a:spcAft>
            </a:pPr>
            <a:r>
              <a:rPr sz="1500" b="1" i="0">
                <a:solidFill>
                  <a:srgbClr val="E0E6F0"/>
                </a:solidFill>
                <a:latin typeface="Calibri"/>
              </a:rPr>
              <a:t>0,541</a:t>
            </a:r>
          </a:p>
        </p:txBody>
      </p:sp>
      <p:sp>
        <p:nvSpPr>
          <p:cNvPr id="13" name="TextBox 12"/>
          <p:cNvSpPr txBox="1"/>
          <p:nvPr/>
        </p:nvSpPr>
        <p:spPr>
          <a:xfrm>
            <a:off x="7498079" y="2167128"/>
            <a:ext cx="2926080" cy="365760"/>
          </a:xfrm>
          <a:prstGeom prst="rect">
            <a:avLst/>
          </a:prstGeom>
          <a:noFill/>
        </p:spPr>
        <p:txBody>
          <a:bodyPr wrap="square" lIns="45720" rIns="45720" tIns="27432" bIns="27432" anchor="ctr">
            <a:spAutoFit/>
          </a:bodyPr>
          <a:lstStyle/>
          <a:p>
            <a:pPr algn="l">
              <a:spcAft>
                <a:spcPts val="0"/>
              </a:spcAft>
            </a:pPr>
            <a:r>
              <a:rPr sz="1250" b="0" i="0">
                <a:solidFill>
                  <a:srgbClr val="B0C4DE"/>
                </a:solidFill>
                <a:latin typeface="Calibri"/>
              </a:rPr>
              <a:t>V de Cramér Pclass</a:t>
            </a:r>
          </a:p>
        </p:txBody>
      </p:sp>
      <p:sp>
        <p:nvSpPr>
          <p:cNvPr id="14" name="TextBox 13"/>
          <p:cNvSpPr txBox="1"/>
          <p:nvPr/>
        </p:nvSpPr>
        <p:spPr>
          <a:xfrm>
            <a:off x="10332720" y="2167128"/>
            <a:ext cx="1280160" cy="365760"/>
          </a:xfrm>
          <a:prstGeom prst="rect">
            <a:avLst/>
          </a:prstGeom>
          <a:noFill/>
        </p:spPr>
        <p:txBody>
          <a:bodyPr wrap="square" lIns="45720" rIns="45720" tIns="27432" bIns="27432" anchor="ctr">
            <a:spAutoFit/>
          </a:bodyPr>
          <a:lstStyle/>
          <a:p>
            <a:pPr algn="r">
              <a:spcAft>
                <a:spcPts val="0"/>
              </a:spcAft>
            </a:pPr>
            <a:r>
              <a:rPr sz="1500" b="1" i="0">
                <a:solidFill>
                  <a:srgbClr val="E0E6F0"/>
                </a:solidFill>
                <a:latin typeface="Calibri"/>
              </a:rPr>
              <a:t>0,340</a:t>
            </a:r>
          </a:p>
        </p:txBody>
      </p:sp>
      <p:sp>
        <p:nvSpPr>
          <p:cNvPr id="15" name="TextBox 14"/>
          <p:cNvSpPr txBox="1"/>
          <p:nvPr/>
        </p:nvSpPr>
        <p:spPr>
          <a:xfrm>
            <a:off x="7498079" y="2551176"/>
            <a:ext cx="2926080" cy="365760"/>
          </a:xfrm>
          <a:prstGeom prst="rect">
            <a:avLst/>
          </a:prstGeom>
          <a:noFill/>
        </p:spPr>
        <p:txBody>
          <a:bodyPr wrap="square" lIns="45720" rIns="45720" tIns="27432" bIns="27432" anchor="ctr">
            <a:spAutoFit/>
          </a:bodyPr>
          <a:lstStyle/>
          <a:p>
            <a:pPr algn="l">
              <a:spcAft>
                <a:spcPts val="0"/>
              </a:spcAft>
            </a:pPr>
            <a:r>
              <a:rPr sz="1250" b="0" i="0">
                <a:solidFill>
                  <a:srgbClr val="B0C4DE"/>
                </a:solidFill>
                <a:latin typeface="Calibri"/>
              </a:rPr>
              <a:t>V de Cramér Sex_Pclass</a:t>
            </a:r>
          </a:p>
        </p:txBody>
      </p:sp>
      <p:sp>
        <p:nvSpPr>
          <p:cNvPr id="16" name="TextBox 15"/>
          <p:cNvSpPr txBox="1"/>
          <p:nvPr/>
        </p:nvSpPr>
        <p:spPr>
          <a:xfrm>
            <a:off x="10332720" y="2551176"/>
            <a:ext cx="1280160" cy="365760"/>
          </a:xfrm>
          <a:prstGeom prst="rect">
            <a:avLst/>
          </a:prstGeom>
          <a:noFill/>
        </p:spPr>
        <p:txBody>
          <a:bodyPr wrap="square" lIns="45720" rIns="45720" tIns="27432" bIns="27432" anchor="ctr">
            <a:spAutoFit/>
          </a:bodyPr>
          <a:lstStyle/>
          <a:p>
            <a:pPr algn="r">
              <a:spcAft>
                <a:spcPts val="0"/>
              </a:spcAft>
            </a:pPr>
            <a:r>
              <a:rPr sz="1500" b="1" i="0">
                <a:solidFill>
                  <a:srgbClr val="4FC3F7"/>
                </a:solidFill>
                <a:latin typeface="Calibri"/>
              </a:rPr>
              <a:t>0,627</a:t>
            </a:r>
          </a:p>
        </p:txBody>
      </p:sp>
      <p:sp>
        <p:nvSpPr>
          <p:cNvPr id="17" name="TextBox 16"/>
          <p:cNvSpPr txBox="1"/>
          <p:nvPr/>
        </p:nvSpPr>
        <p:spPr>
          <a:xfrm>
            <a:off x="7498079" y="3017520"/>
            <a:ext cx="4160520" cy="640080"/>
          </a:xfrm>
          <a:prstGeom prst="rect">
            <a:avLst/>
          </a:prstGeom>
          <a:noFill/>
        </p:spPr>
        <p:txBody>
          <a:bodyPr wrap="square" lIns="45720" rIns="45720" tIns="27432" bIns="27432" anchor="t">
            <a:spAutoFit/>
          </a:bodyPr>
          <a:lstStyle/>
          <a:p>
            <a:pPr algn="l">
              <a:spcAft>
                <a:spcPts val="0"/>
              </a:spcAft>
            </a:pPr>
            <a:r>
              <a:rPr sz="1100" b="0" i="0">
                <a:solidFill>
                  <a:srgbClr val="7090B0"/>
                </a:solidFill>
                <a:latin typeface="Calibri"/>
              </a:rPr>
              <a:t>Cruzar variables siempre suma información; por eso se contrastó con un test de razón de verosimilitudes contra el modelo aditivo:</a:t>
            </a:r>
          </a:p>
        </p:txBody>
      </p:sp>
      <p:sp>
        <p:nvSpPr>
          <p:cNvPr id="18" name="Rectangle 17"/>
          <p:cNvSpPr/>
          <p:nvPr/>
        </p:nvSpPr>
        <p:spPr>
          <a:xfrm>
            <a:off x="7498079" y="3730752"/>
            <a:ext cx="4160520" cy="73152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3749039"/>
            <a:ext cx="3977639" cy="694944"/>
          </a:xfrm>
          <a:prstGeom prst="rect">
            <a:avLst/>
          </a:prstGeom>
          <a:noFill/>
        </p:spPr>
        <p:txBody>
          <a:bodyPr wrap="square" lIns="45720" rIns="45720" tIns="27432" bIns="27432" anchor="ctr">
            <a:spAutoFit/>
          </a:bodyPr>
          <a:lstStyle/>
          <a:p>
            <a:pPr algn="ctr">
              <a:spcAft>
                <a:spcPts val="0"/>
              </a:spcAft>
            </a:pPr>
            <a:r>
              <a:rPr sz="1500" b="1" i="0">
                <a:solidFill>
                  <a:srgbClr val="81C784"/>
                </a:solidFill>
                <a:latin typeface="Calibri"/>
              </a:rPr>
              <a:t>LR = 28,79  ·  gl = 2  ·  p = 5,6×10⁻⁷</a:t>
            </a:r>
          </a:p>
        </p:txBody>
      </p:sp>
      <p:sp>
        <p:nvSpPr>
          <p:cNvPr id="20" name="Rectangle 19"/>
          <p:cNvSpPr/>
          <p:nvPr/>
        </p:nvSpPr>
        <p:spPr>
          <a:xfrm>
            <a:off x="365760" y="4754880"/>
            <a:ext cx="9509760" cy="155448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4754880"/>
            <a:ext cx="950976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864608"/>
            <a:ext cx="923544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Construcción y control de fuga</a:t>
            </a:r>
          </a:p>
        </p:txBody>
      </p:sp>
      <p:sp>
        <p:nvSpPr>
          <p:cNvPr id="23" name="TextBox 22"/>
          <p:cNvSpPr txBox="1"/>
          <p:nvPr/>
        </p:nvSpPr>
        <p:spPr>
          <a:xfrm>
            <a:off x="502920" y="5166360"/>
            <a:ext cx="9235440" cy="1097280"/>
          </a:xfrm>
          <a:prstGeom prst="rect">
            <a:avLst/>
          </a:prstGeom>
          <a:noFill/>
        </p:spPr>
        <p:txBody>
          <a:bodyPr wrap="square" lIns="45720" rIns="45720" tIns="27432" bIns="27432" anchor="t">
            <a:spAutoFit/>
          </a:bodyPr>
          <a:lstStyle/>
          <a:p>
            <a:pPr algn="l" marL="219456" indent="-219456">
              <a:spcAft>
                <a:spcPts val="600"/>
              </a:spcAft>
              <a:buClr>
                <a:srgbClr val="4FC3F7"/>
              </a:buClr>
              <a:buFont typeface="Arial"/>
              <a:buChar char="▸"/>
            </a:pPr>
            <a:r>
              <a:rPr sz="1350" b="0" i="0">
                <a:solidFill>
                  <a:srgbClr val="B0C4DE"/>
                </a:solidFill>
                <a:latin typeface="Calibri"/>
              </a:rPr>
              <a:t>Concatenación de Sex y Pclass en una categórica de 6 niveles (5 columnas one-hot).</a:t>
            </a:r>
          </a:p>
          <a:p>
            <a:pPr algn="l" marL="219456" indent="-219456">
              <a:spcAft>
                <a:spcPts val="600"/>
              </a:spcAft>
              <a:buClr>
                <a:srgbClr val="4FC3F7"/>
              </a:buClr>
              <a:buFont typeface="Arial"/>
              <a:buChar char="▸"/>
            </a:pPr>
            <a:r>
              <a:rPr sz="1350" b="0" i="0">
                <a:solidFill>
                  <a:srgbClr val="B0C4DE"/>
                </a:solidFill>
                <a:latin typeface="Calibri"/>
              </a:rPr>
              <a:t>Ni Sex_Pclass ni Fare_per_person usan Survived ni variables posteriores al hundimiento (alive, de seaborn-data, se excluye).</a:t>
            </a:r>
          </a:p>
        </p:txBody>
      </p:sp>
      <p:sp>
        <p:nvSpPr>
          <p:cNvPr id="24"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Selección preliminar: criterios y redundancias</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Cuatro criterios explícitos para priorizar, conservar, revisar o descartar cada variable</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Roberto Moncada González  ·  Diapositiva 10 / 17</a:t>
            </a:r>
          </a:p>
        </p:txBody>
      </p:sp>
      <p:sp>
        <p:nvSpPr>
          <p:cNvPr id="7" name="Rectangle 6"/>
          <p:cNvSpPr/>
          <p:nvPr/>
        </p:nvSpPr>
        <p:spPr>
          <a:xfrm>
            <a:off x="365760" y="1280160"/>
            <a:ext cx="2697480" cy="14173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80160"/>
            <a:ext cx="269748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389888"/>
            <a:ext cx="242316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1  Relevancia</a:t>
            </a:r>
          </a:p>
        </p:txBody>
      </p:sp>
      <p:sp>
        <p:nvSpPr>
          <p:cNvPr id="10" name="TextBox 9"/>
          <p:cNvSpPr txBox="1"/>
          <p:nvPr/>
        </p:nvSpPr>
        <p:spPr>
          <a:xfrm>
            <a:off x="475488" y="1737360"/>
            <a:ext cx="2487168" cy="914400"/>
          </a:xfrm>
          <a:prstGeom prst="rect">
            <a:avLst/>
          </a:prstGeom>
          <a:noFill/>
        </p:spPr>
        <p:txBody>
          <a:bodyPr wrap="square" lIns="45720" rIns="45720" tIns="27432" bIns="27432" anchor="t">
            <a:spAutoFit/>
          </a:bodyPr>
          <a:lstStyle/>
          <a:p>
            <a:pPr algn="l">
              <a:spcAft>
                <a:spcPts val="0"/>
              </a:spcAft>
            </a:pPr>
            <a:r>
              <a:rPr sz="1250" b="0" i="0">
                <a:solidFill>
                  <a:srgbClr val="B0C4DE"/>
                </a:solidFill>
                <a:latin typeface="Calibri"/>
              </a:rPr>
              <a:t>V de Cramér, correlación biserial e información mutua frente a Survived</a:t>
            </a:r>
          </a:p>
        </p:txBody>
      </p:sp>
      <p:sp>
        <p:nvSpPr>
          <p:cNvPr id="11" name="Rectangle 10"/>
          <p:cNvSpPr/>
          <p:nvPr/>
        </p:nvSpPr>
        <p:spPr>
          <a:xfrm>
            <a:off x="3246120" y="1280160"/>
            <a:ext cx="2697480" cy="14173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46120" y="1280160"/>
            <a:ext cx="269748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79" y="1389888"/>
            <a:ext cx="242316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2  Redundancia</a:t>
            </a:r>
          </a:p>
        </p:txBody>
      </p:sp>
      <p:sp>
        <p:nvSpPr>
          <p:cNvPr id="14" name="TextBox 13"/>
          <p:cNvSpPr txBox="1"/>
          <p:nvPr/>
        </p:nvSpPr>
        <p:spPr>
          <a:xfrm>
            <a:off x="3355848" y="1737360"/>
            <a:ext cx="2487168" cy="914400"/>
          </a:xfrm>
          <a:prstGeom prst="rect">
            <a:avLst/>
          </a:prstGeom>
          <a:noFill/>
        </p:spPr>
        <p:txBody>
          <a:bodyPr wrap="square" lIns="45720" rIns="45720" tIns="27432" bIns="27432" anchor="t">
            <a:spAutoFit/>
          </a:bodyPr>
          <a:lstStyle/>
          <a:p>
            <a:pPr algn="l">
              <a:spcAft>
                <a:spcPts val="0"/>
              </a:spcAft>
            </a:pPr>
            <a:r>
              <a:rPr sz="1250" b="0" i="0">
                <a:solidFill>
                  <a:srgbClr val="B0C4DE"/>
                </a:solidFill>
                <a:latin typeface="Calibri"/>
              </a:rPr>
              <a:t>¿Repite información que ya aporta otra variable?</a:t>
            </a:r>
          </a:p>
        </p:txBody>
      </p:sp>
      <p:sp>
        <p:nvSpPr>
          <p:cNvPr id="15" name="Rectangle 14"/>
          <p:cNvSpPr/>
          <p:nvPr/>
        </p:nvSpPr>
        <p:spPr>
          <a:xfrm>
            <a:off x="6126480" y="1280160"/>
            <a:ext cx="2697480" cy="14173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1280160"/>
            <a:ext cx="269748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89888"/>
            <a:ext cx="242316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3  Interpretabilidad</a:t>
            </a:r>
          </a:p>
        </p:txBody>
      </p:sp>
      <p:sp>
        <p:nvSpPr>
          <p:cNvPr id="18" name="TextBox 17"/>
          <p:cNvSpPr txBox="1"/>
          <p:nvPr/>
        </p:nvSpPr>
        <p:spPr>
          <a:xfrm>
            <a:off x="6236208" y="1737360"/>
            <a:ext cx="2487168" cy="914400"/>
          </a:xfrm>
          <a:prstGeom prst="rect">
            <a:avLst/>
          </a:prstGeom>
          <a:noFill/>
        </p:spPr>
        <p:txBody>
          <a:bodyPr wrap="square" lIns="45720" rIns="45720" tIns="27432" bIns="27432" anchor="t">
            <a:spAutoFit/>
          </a:bodyPr>
          <a:lstStyle/>
          <a:p>
            <a:pPr algn="l">
              <a:spcAft>
                <a:spcPts val="0"/>
              </a:spcAft>
            </a:pPr>
            <a:r>
              <a:rPr sz="1250" b="0" i="0">
                <a:solidFill>
                  <a:srgbClr val="B0C4DE"/>
                </a:solidFill>
                <a:latin typeface="Calibri"/>
              </a:rPr>
              <a:t>¿Se puede explicar y usar de forma directa en un modelo?</a:t>
            </a:r>
          </a:p>
        </p:txBody>
      </p:sp>
      <p:sp>
        <p:nvSpPr>
          <p:cNvPr id="19" name="Rectangle 18"/>
          <p:cNvSpPr/>
          <p:nvPr/>
        </p:nvSpPr>
        <p:spPr>
          <a:xfrm>
            <a:off x="9006840" y="1280160"/>
            <a:ext cx="2697480" cy="14173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280160"/>
            <a:ext cx="269748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1389888"/>
            <a:ext cx="242316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4  Consistencia</a:t>
            </a:r>
          </a:p>
        </p:txBody>
      </p:sp>
      <p:sp>
        <p:nvSpPr>
          <p:cNvPr id="22" name="TextBox 21"/>
          <p:cNvSpPr txBox="1"/>
          <p:nvPr/>
        </p:nvSpPr>
        <p:spPr>
          <a:xfrm>
            <a:off x="9116567" y="1737360"/>
            <a:ext cx="2487168" cy="914400"/>
          </a:xfrm>
          <a:prstGeom prst="rect">
            <a:avLst/>
          </a:prstGeom>
          <a:noFill/>
        </p:spPr>
        <p:txBody>
          <a:bodyPr wrap="square" lIns="45720" rIns="45720" tIns="27432" bIns="27432" anchor="t">
            <a:spAutoFit/>
          </a:bodyPr>
          <a:lstStyle/>
          <a:p>
            <a:pPr algn="l">
              <a:spcAft>
                <a:spcPts val="0"/>
              </a:spcAft>
            </a:pPr>
            <a:r>
              <a:rPr sz="1250" b="0" i="0">
                <a:solidFill>
                  <a:srgbClr val="B0C4DE"/>
                </a:solidFill>
                <a:latin typeface="Calibri"/>
              </a:rPr>
              <a:t>Estabilidad del ranking de información mutua con 21 semillas</a:t>
            </a:r>
          </a:p>
        </p:txBody>
      </p:sp>
      <p:sp>
        <p:nvSpPr>
          <p:cNvPr id="23" name="TextBox 22"/>
          <p:cNvSpPr txBox="1"/>
          <p:nvPr/>
        </p:nvSpPr>
        <p:spPr>
          <a:xfrm>
            <a:off x="365760" y="2834640"/>
            <a:ext cx="11430000" cy="320040"/>
          </a:xfrm>
          <a:prstGeom prst="rect">
            <a:avLst/>
          </a:prstGeom>
          <a:noFill/>
        </p:spPr>
        <p:txBody>
          <a:bodyPr wrap="square" lIns="45720" rIns="45720" tIns="27432" bIns="27432" anchor="t">
            <a:spAutoFit/>
          </a:bodyPr>
          <a:lstStyle/>
          <a:p>
            <a:pPr algn="l">
              <a:spcAft>
                <a:spcPts val="0"/>
              </a:spcAft>
            </a:pPr>
            <a:r>
              <a:rPr sz="1400" b="1" i="0">
                <a:solidFill>
                  <a:srgbClr val="E0E6F0"/>
                </a:solidFill>
                <a:latin typeface="Calibri"/>
              </a:rPr>
              <a:t>Tres redundancias resueltas</a:t>
            </a:r>
          </a:p>
        </p:txBody>
      </p:sp>
      <p:sp>
        <p:nvSpPr>
          <p:cNvPr id="24" name="Rectangle 23"/>
          <p:cNvSpPr/>
          <p:nvPr/>
        </p:nvSpPr>
        <p:spPr>
          <a:xfrm>
            <a:off x="365760" y="3200400"/>
            <a:ext cx="3657600" cy="14173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200400"/>
            <a:ext cx="3657600" cy="73152"/>
          </a:xfrm>
          <a:prstGeom prst="rect">
            <a:avLst/>
          </a:prstGeom>
          <a:solidFill>
            <a:srgbClr val="FFB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310128"/>
            <a:ext cx="3383280" cy="347472"/>
          </a:xfrm>
          <a:prstGeom prst="rect">
            <a:avLst/>
          </a:prstGeom>
          <a:noFill/>
        </p:spPr>
        <p:txBody>
          <a:bodyPr wrap="square" lIns="45720" rIns="45720" tIns="27432" bIns="27432" anchor="t">
            <a:spAutoFit/>
          </a:bodyPr>
          <a:lstStyle/>
          <a:p>
            <a:pPr algn="l">
              <a:spcAft>
                <a:spcPts val="0"/>
              </a:spcAft>
            </a:pPr>
            <a:r>
              <a:rPr sz="1250" b="1" i="0">
                <a:solidFill>
                  <a:srgbClr val="FFB74D"/>
                </a:solidFill>
                <a:latin typeface="Calibri"/>
              </a:rPr>
              <a:t>seaborn-data</a:t>
            </a:r>
          </a:p>
        </p:txBody>
      </p:sp>
      <p:sp>
        <p:nvSpPr>
          <p:cNvPr id="27" name="TextBox 26"/>
          <p:cNvSpPr txBox="1"/>
          <p:nvPr/>
        </p:nvSpPr>
        <p:spPr>
          <a:xfrm>
            <a:off x="475488" y="3593592"/>
            <a:ext cx="3456432" cy="685800"/>
          </a:xfrm>
          <a:prstGeom prst="rect">
            <a:avLst/>
          </a:prstGeom>
          <a:noFill/>
        </p:spPr>
        <p:txBody>
          <a:bodyPr wrap="square" lIns="45720" rIns="45720" tIns="27432" bIns="27432" anchor="t">
            <a:spAutoFit/>
          </a:bodyPr>
          <a:lstStyle/>
          <a:p>
            <a:pPr algn="l">
              <a:spcAft>
                <a:spcPts val="0"/>
              </a:spcAft>
            </a:pPr>
            <a:r>
              <a:rPr sz="1150" b="0" i="0">
                <a:solidFill>
                  <a:srgbClr val="B0C4DE"/>
                </a:solidFill>
                <a:latin typeface="Calibri"/>
              </a:rPr>
              <a:t>Las 6 columnas heredadas (class, who, adult_male, deck, embark_town, alone) se reconstruyen al 100 % desde columnas propias.</a:t>
            </a:r>
          </a:p>
        </p:txBody>
      </p:sp>
      <p:sp>
        <p:nvSpPr>
          <p:cNvPr id="28" name="TextBox 27"/>
          <p:cNvSpPr txBox="1"/>
          <p:nvPr/>
        </p:nvSpPr>
        <p:spPr>
          <a:xfrm>
            <a:off x="475488" y="4279392"/>
            <a:ext cx="3456432" cy="320040"/>
          </a:xfrm>
          <a:prstGeom prst="rect">
            <a:avLst/>
          </a:prstGeom>
          <a:noFill/>
        </p:spPr>
        <p:txBody>
          <a:bodyPr wrap="square" lIns="45720" rIns="45720" tIns="27432" bIns="27432" anchor="t">
            <a:spAutoFit/>
          </a:bodyPr>
          <a:lstStyle/>
          <a:p>
            <a:pPr algn="l">
              <a:spcAft>
                <a:spcPts val="0"/>
              </a:spcAft>
            </a:pPr>
            <a:r>
              <a:rPr sz="1200" b="1" i="0">
                <a:solidFill>
                  <a:srgbClr val="4FC3F7"/>
                </a:solidFill>
                <a:latin typeface="Calibri"/>
              </a:rPr>
              <a:t>→ </a:t>
            </a:r>
            <a:r>
              <a:rPr sz="1200" b="1" i="0">
                <a:solidFill>
                  <a:srgbClr val="4FC3F7"/>
                </a:solidFill>
                <a:latin typeface="Calibri"/>
              </a:rPr>
              <a:t>Se descartan las 6</a:t>
            </a:r>
          </a:p>
        </p:txBody>
      </p:sp>
      <p:sp>
        <p:nvSpPr>
          <p:cNvPr id="29" name="Rectangle 28"/>
          <p:cNvSpPr/>
          <p:nvPr/>
        </p:nvSpPr>
        <p:spPr>
          <a:xfrm>
            <a:off x="4206240" y="3200400"/>
            <a:ext cx="3657600" cy="14173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06240" y="3200400"/>
            <a:ext cx="3657600" cy="73152"/>
          </a:xfrm>
          <a:prstGeom prst="rect">
            <a:avLst/>
          </a:prstGeom>
          <a:solidFill>
            <a:srgbClr val="FFB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3310128"/>
            <a:ext cx="3383280" cy="347472"/>
          </a:xfrm>
          <a:prstGeom prst="rect">
            <a:avLst/>
          </a:prstGeom>
          <a:noFill/>
        </p:spPr>
        <p:txBody>
          <a:bodyPr wrap="square" lIns="45720" rIns="45720" tIns="27432" bIns="27432" anchor="t">
            <a:spAutoFit/>
          </a:bodyPr>
          <a:lstStyle/>
          <a:p>
            <a:pPr algn="l">
              <a:spcAft>
                <a:spcPts val="0"/>
              </a:spcAft>
            </a:pPr>
            <a:r>
              <a:rPr sz="1250" b="1" i="0">
                <a:solidFill>
                  <a:srgbClr val="FFB74D"/>
                </a:solidFill>
                <a:latin typeface="Calibri"/>
              </a:rPr>
              <a:t>Title_agrupado ~ Sex</a:t>
            </a:r>
          </a:p>
        </p:txBody>
      </p:sp>
      <p:sp>
        <p:nvSpPr>
          <p:cNvPr id="32" name="TextBox 31"/>
          <p:cNvSpPr txBox="1"/>
          <p:nvPr/>
        </p:nvSpPr>
        <p:spPr>
          <a:xfrm>
            <a:off x="4315968" y="3593592"/>
            <a:ext cx="3456432" cy="685800"/>
          </a:xfrm>
          <a:prstGeom prst="rect">
            <a:avLst/>
          </a:prstGeom>
          <a:noFill/>
        </p:spPr>
        <p:txBody>
          <a:bodyPr wrap="square" lIns="45720" rIns="45720" tIns="27432" bIns="27432" anchor="t">
            <a:spAutoFit/>
          </a:bodyPr>
          <a:lstStyle/>
          <a:p>
            <a:pPr algn="l">
              <a:spcAft>
                <a:spcPts val="0"/>
              </a:spcAft>
            </a:pPr>
            <a:r>
              <a:rPr sz="1150" b="0" i="0">
                <a:solidFill>
                  <a:srgbClr val="B0C4DE"/>
                </a:solidFill>
                <a:latin typeface="Calibri"/>
              </a:rPr>
              <a:t>V de Cramér = 0,995 entre ambas. Title_agrupado, además, distingue a los niños (Master).</a:t>
            </a:r>
          </a:p>
        </p:txBody>
      </p:sp>
      <p:sp>
        <p:nvSpPr>
          <p:cNvPr id="33" name="TextBox 32"/>
          <p:cNvSpPr txBox="1"/>
          <p:nvPr/>
        </p:nvSpPr>
        <p:spPr>
          <a:xfrm>
            <a:off x="4315968" y="4279392"/>
            <a:ext cx="3456432" cy="320040"/>
          </a:xfrm>
          <a:prstGeom prst="rect">
            <a:avLst/>
          </a:prstGeom>
          <a:noFill/>
        </p:spPr>
        <p:txBody>
          <a:bodyPr wrap="square" lIns="45720" rIns="45720" tIns="27432" bIns="27432" anchor="t">
            <a:spAutoFit/>
          </a:bodyPr>
          <a:lstStyle/>
          <a:p>
            <a:pPr algn="l">
              <a:spcAft>
                <a:spcPts val="0"/>
              </a:spcAft>
            </a:pPr>
            <a:r>
              <a:rPr sz="1200" b="1" i="0">
                <a:solidFill>
                  <a:srgbClr val="4FC3F7"/>
                </a:solidFill>
                <a:latin typeface="Calibri"/>
              </a:rPr>
              <a:t>→ </a:t>
            </a:r>
            <a:r>
              <a:rPr sz="1200" b="1" i="0">
                <a:solidFill>
                  <a:srgbClr val="4FC3F7"/>
                </a:solidFill>
                <a:latin typeface="Calibri"/>
              </a:rPr>
              <a:t>Se conserva Title_agrupado; se descarta Sex_bin</a:t>
            </a:r>
          </a:p>
        </p:txBody>
      </p:sp>
      <p:sp>
        <p:nvSpPr>
          <p:cNvPr id="34" name="Rectangle 33"/>
          <p:cNvSpPr/>
          <p:nvPr/>
        </p:nvSpPr>
        <p:spPr>
          <a:xfrm>
            <a:off x="8046720" y="3200400"/>
            <a:ext cx="3657600" cy="14173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6720" y="3200400"/>
            <a:ext cx="3657600" cy="73152"/>
          </a:xfrm>
          <a:prstGeom prst="rect">
            <a:avLst/>
          </a:prstGeom>
          <a:solidFill>
            <a:srgbClr val="FFB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83880" y="3310128"/>
            <a:ext cx="3383280" cy="347472"/>
          </a:xfrm>
          <a:prstGeom prst="rect">
            <a:avLst/>
          </a:prstGeom>
          <a:noFill/>
        </p:spPr>
        <p:txBody>
          <a:bodyPr wrap="square" lIns="45720" rIns="45720" tIns="27432" bIns="27432" anchor="t">
            <a:spAutoFit/>
          </a:bodyPr>
          <a:lstStyle/>
          <a:p>
            <a:pPr algn="l">
              <a:spcAft>
                <a:spcPts val="0"/>
              </a:spcAft>
            </a:pPr>
            <a:r>
              <a:rPr sz="1250" b="1" i="0">
                <a:solidFill>
                  <a:srgbClr val="FFB74D"/>
                </a:solidFill>
                <a:latin typeface="Calibri"/>
              </a:rPr>
              <a:t>Redundancia exacta</a:t>
            </a:r>
          </a:p>
        </p:txBody>
      </p:sp>
      <p:sp>
        <p:nvSpPr>
          <p:cNvPr id="37" name="TextBox 36"/>
          <p:cNvSpPr txBox="1"/>
          <p:nvPr/>
        </p:nvSpPr>
        <p:spPr>
          <a:xfrm>
            <a:off x="8156448" y="3593592"/>
            <a:ext cx="3456432" cy="685800"/>
          </a:xfrm>
          <a:prstGeom prst="rect">
            <a:avLst/>
          </a:prstGeom>
          <a:noFill/>
        </p:spPr>
        <p:txBody>
          <a:bodyPr wrap="square" lIns="45720" rIns="45720" tIns="27432" bIns="27432" anchor="t">
            <a:spAutoFit/>
          </a:bodyPr>
          <a:lstStyle/>
          <a:p>
            <a:pPr algn="l">
              <a:spcAft>
                <a:spcPts val="0"/>
              </a:spcAft>
            </a:pPr>
            <a:r>
              <a:rPr sz="1150" b="0" i="0">
                <a:solidFill>
                  <a:srgbClr val="B0C4DE"/>
                </a:solidFill>
                <a:latin typeface="Calibri"/>
              </a:rPr>
              <a:t>IsAlone es función de FamilySize; Pclass es combinación lineal exacta de las dummies de Sex_Pclass.</a:t>
            </a:r>
          </a:p>
        </p:txBody>
      </p:sp>
      <p:sp>
        <p:nvSpPr>
          <p:cNvPr id="38" name="TextBox 37"/>
          <p:cNvSpPr txBox="1"/>
          <p:nvPr/>
        </p:nvSpPr>
        <p:spPr>
          <a:xfrm>
            <a:off x="8156448" y="4279392"/>
            <a:ext cx="3456432" cy="320040"/>
          </a:xfrm>
          <a:prstGeom prst="rect">
            <a:avLst/>
          </a:prstGeom>
          <a:noFill/>
        </p:spPr>
        <p:txBody>
          <a:bodyPr wrap="square" lIns="45720" rIns="45720" tIns="27432" bIns="27432" anchor="t">
            <a:spAutoFit/>
          </a:bodyPr>
          <a:lstStyle/>
          <a:p>
            <a:pPr algn="l">
              <a:spcAft>
                <a:spcPts val="0"/>
              </a:spcAft>
            </a:pPr>
            <a:r>
              <a:rPr sz="1200" b="1" i="0">
                <a:solidFill>
                  <a:srgbClr val="4FC3F7"/>
                </a:solidFill>
                <a:latin typeface="Calibri"/>
              </a:rPr>
              <a:t>→ Se descartan IsAlone y Pclass</a:t>
            </a:r>
          </a:p>
        </p:txBody>
      </p:sp>
      <p:sp>
        <p:nvSpPr>
          <p:cNvPr id="39" name="Rectangle 38"/>
          <p:cNvSpPr/>
          <p:nvPr/>
        </p:nvSpPr>
        <p:spPr>
          <a:xfrm>
            <a:off x="365760" y="4846320"/>
            <a:ext cx="9509760" cy="109728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4892040"/>
            <a:ext cx="9235440" cy="1005839"/>
          </a:xfrm>
          <a:prstGeom prst="rect">
            <a:avLst/>
          </a:prstGeom>
          <a:noFill/>
        </p:spPr>
        <p:txBody>
          <a:bodyPr wrap="square" lIns="45720" rIns="45720" tIns="27432" bIns="27432" anchor="ctr">
            <a:spAutoFit/>
          </a:bodyPr>
          <a:lstStyle/>
          <a:p>
            <a:pPr algn="l">
              <a:spcAft>
                <a:spcPts val="0"/>
              </a:spcAft>
            </a:pPr>
            <a:r>
              <a:rPr sz="1400" b="0" i="1">
                <a:solidFill>
                  <a:srgbClr val="4FC3F7"/>
                </a:solidFill>
                <a:latin typeface="Calibri"/>
              </a:rPr>
              <a:t>Con Spearman parcial, Fare_per_person_log depende mucho menos del tamaño del grupo que Fare_log (2,3 % vs. 17,3 %), pero no tiene mayor asociación marginal: se elige por interpretabilidad. La redundancia parcial (Title_agrupado ~ Sex_Pclass) se conserva y se documenta.</a:t>
            </a:r>
          </a:p>
        </p:txBody>
      </p:sp>
      <p:sp>
        <p:nvSpPr>
          <p:cNvPr id="41"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Relevancia frente a Survived: información mutua</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Ranking estable en 21 semillas; solo las variables continuas varían con la semilla</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Roberto Moncada González  ·  Diapositiva 11 / 17</a:t>
            </a:r>
          </a:p>
        </p:txBody>
      </p:sp>
      <p:graphicFrame>
        <p:nvGraphicFramePr>
          <p:cNvPr id="7" name="Chart 6"/>
          <p:cNvGraphicFramePr>
            <a:graphicFrameLocks noGrp="1"/>
          </p:cNvGraphicFramePr>
          <p:nvPr/>
        </p:nvGraphicFramePr>
        <p:xfrm>
          <a:off x="365760" y="1280160"/>
          <a:ext cx="6858000" cy="3017520"/>
        </p:xfrm>
        <a:graphic>
          <a:graphicData uri="http://schemas.openxmlformats.org/drawingml/2006/chart">
            <c:chart xmlns:c="http://schemas.openxmlformats.org/drawingml/2006/chart" r:id="rId2"/>
          </a:graphicData>
        </a:graphic>
      </p:graphicFrame>
      <p:sp>
        <p:nvSpPr>
          <p:cNvPr id="8" name="Rectangle 7"/>
          <p:cNvSpPr/>
          <p:nvPr/>
        </p:nvSpPr>
        <p:spPr>
          <a:xfrm>
            <a:off x="502920" y="4416552"/>
            <a:ext cx="128016" cy="128016"/>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4334256"/>
            <a:ext cx="1737360" cy="274320"/>
          </a:xfrm>
          <a:prstGeom prst="rect">
            <a:avLst/>
          </a:prstGeom>
          <a:noFill/>
        </p:spPr>
        <p:txBody>
          <a:bodyPr wrap="square" lIns="45720" rIns="45720" tIns="27432" bIns="27432" anchor="t">
            <a:spAutoFit/>
          </a:bodyPr>
          <a:lstStyle/>
          <a:p>
            <a:pPr algn="l">
              <a:spcAft>
                <a:spcPts val="0"/>
              </a:spcAft>
            </a:pPr>
            <a:r>
              <a:rPr sz="1050" b="0" i="0">
                <a:solidFill>
                  <a:srgbClr val="7090B0"/>
                </a:solidFill>
                <a:latin typeface="Calibri"/>
              </a:rPr>
              <a:t>priorizar / conservar</a:t>
            </a:r>
          </a:p>
        </p:txBody>
      </p:sp>
      <p:sp>
        <p:nvSpPr>
          <p:cNvPr id="10" name="Rectangle 9"/>
          <p:cNvSpPr/>
          <p:nvPr/>
        </p:nvSpPr>
        <p:spPr>
          <a:xfrm>
            <a:off x="2423160" y="4416552"/>
            <a:ext cx="128016" cy="128016"/>
          </a:xfrm>
          <a:prstGeom prst="rect">
            <a:avLst/>
          </a:prstGeom>
          <a:solidFill>
            <a:srgbClr val="FFB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87752" y="4334256"/>
            <a:ext cx="1737360" cy="274320"/>
          </a:xfrm>
          <a:prstGeom prst="rect">
            <a:avLst/>
          </a:prstGeom>
          <a:noFill/>
        </p:spPr>
        <p:txBody>
          <a:bodyPr wrap="square" lIns="45720" rIns="45720" tIns="27432" bIns="27432" anchor="t">
            <a:spAutoFit/>
          </a:bodyPr>
          <a:lstStyle/>
          <a:p>
            <a:pPr algn="l">
              <a:spcAft>
                <a:spcPts val="0"/>
              </a:spcAft>
            </a:pPr>
            <a:r>
              <a:rPr sz="1050" b="0" i="0">
                <a:solidFill>
                  <a:srgbClr val="7090B0"/>
                </a:solidFill>
                <a:latin typeface="Calibri"/>
              </a:rPr>
              <a:t>revisar</a:t>
            </a:r>
          </a:p>
        </p:txBody>
      </p:sp>
      <p:sp>
        <p:nvSpPr>
          <p:cNvPr id="12" name="Rectangle 11"/>
          <p:cNvSpPr/>
          <p:nvPr/>
        </p:nvSpPr>
        <p:spPr>
          <a:xfrm>
            <a:off x="4343400" y="4416552"/>
            <a:ext cx="128016" cy="128016"/>
          </a:xfrm>
          <a:prstGeom prst="rect">
            <a:avLst/>
          </a:prstGeom>
          <a:solidFill>
            <a:srgbClr val="EF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7992" y="4334256"/>
            <a:ext cx="1737360" cy="274320"/>
          </a:xfrm>
          <a:prstGeom prst="rect">
            <a:avLst/>
          </a:prstGeom>
          <a:noFill/>
        </p:spPr>
        <p:txBody>
          <a:bodyPr wrap="square" lIns="45720" rIns="45720" tIns="27432" bIns="27432" anchor="t">
            <a:spAutoFit/>
          </a:bodyPr>
          <a:lstStyle/>
          <a:p>
            <a:pPr algn="l">
              <a:spcAft>
                <a:spcPts val="0"/>
              </a:spcAft>
            </a:pPr>
            <a:r>
              <a:rPr sz="1050" b="0" i="0">
                <a:solidFill>
                  <a:srgbClr val="7090B0"/>
                </a:solidFill>
                <a:latin typeface="Calibri"/>
              </a:rPr>
              <a:t>descartar</a:t>
            </a:r>
          </a:p>
        </p:txBody>
      </p:sp>
      <p:sp>
        <p:nvSpPr>
          <p:cNvPr id="14" name="Rectangle 13"/>
          <p:cNvSpPr/>
          <p:nvPr/>
        </p:nvSpPr>
        <p:spPr>
          <a:xfrm>
            <a:off x="7452360" y="1280160"/>
            <a:ext cx="4343400" cy="301752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1280160"/>
            <a:ext cx="434340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1389888"/>
            <a:ext cx="406908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Lectura del ranking (21 semillas)</a:t>
            </a:r>
          </a:p>
        </p:txBody>
      </p:sp>
      <p:sp>
        <p:nvSpPr>
          <p:cNvPr id="17" name="TextBox 16"/>
          <p:cNvSpPr txBox="1"/>
          <p:nvPr/>
        </p:nvSpPr>
        <p:spPr>
          <a:xfrm>
            <a:off x="7589520" y="1737360"/>
            <a:ext cx="4114800" cy="2834640"/>
          </a:xfrm>
          <a:prstGeom prst="rect">
            <a:avLst/>
          </a:prstGeom>
          <a:noFill/>
        </p:spPr>
        <p:txBody>
          <a:bodyPr wrap="square" lIns="45720" rIns="45720" tIns="27432" bIns="27432" anchor="t">
            <a:spAutoFit/>
          </a:bodyPr>
          <a:lstStyle/>
          <a:p>
            <a:pPr algn="l" marL="219456" indent="-219456">
              <a:spcAft>
                <a:spcPts val="1000"/>
              </a:spcAft>
              <a:buClr>
                <a:srgbClr val="4FC3F7"/>
              </a:buClr>
              <a:buFont typeface="Arial"/>
              <a:buChar char="▸"/>
            </a:pPr>
            <a:r>
              <a:rPr sz="1300" b="1" i="0">
                <a:solidFill>
                  <a:srgbClr val="E0E6F0"/>
                </a:solidFill>
                <a:latin typeface="Calibri"/>
              </a:rPr>
              <a:t xml:space="preserve">Extremo superior estable: </a:t>
            </a:r>
            <a:r>
              <a:rPr sz="1300" b="0" i="0">
                <a:solidFill>
                  <a:srgbClr val="B0C4DE"/>
                </a:solidFill>
                <a:latin typeface="Calibri"/>
              </a:rPr>
              <a:t>Sex_Pclass, Title_agrupado y Fare_per_person_log son siempre las 3 primeras.</a:t>
            </a:r>
          </a:p>
          <a:p>
            <a:pPr algn="l" marL="219456" indent="-219456">
              <a:spcAft>
                <a:spcPts val="1000"/>
              </a:spcAft>
              <a:buClr>
                <a:srgbClr val="4FC3F7"/>
              </a:buClr>
              <a:buFont typeface="Arial"/>
              <a:buChar char="▸"/>
            </a:pPr>
            <a:r>
              <a:rPr sz="1300" b="1" i="0">
                <a:solidFill>
                  <a:srgbClr val="E0E6F0"/>
                </a:solidFill>
                <a:latin typeface="Calibri"/>
              </a:rPr>
              <a:t>Extremo inferior estable: </a:t>
            </a:r>
            <a:r>
              <a:rPr sz="1300" b="0" i="0">
                <a:solidFill>
                  <a:srgbClr val="B0C4DE"/>
                </a:solidFill>
                <a:latin typeface="Calibri"/>
              </a:rPr>
              <a:t>AgeGroup y Embarked_clean.</a:t>
            </a:r>
          </a:p>
          <a:p>
            <a:pPr algn="l" marL="219456" indent="-219456">
              <a:spcAft>
                <a:spcPts val="1000"/>
              </a:spcAft>
              <a:buClr>
                <a:srgbClr val="4FC3F7"/>
              </a:buClr>
              <a:buFont typeface="Arial"/>
              <a:buChar char="▸"/>
            </a:pPr>
            <a:r>
              <a:rPr sz="1300" b="1" i="0">
                <a:solidFill>
                  <a:srgbClr val="E0E6F0"/>
                </a:solidFill>
                <a:latin typeface="Calibri"/>
              </a:rPr>
              <a:t xml:space="preserve">Solo varían las continuas: </a:t>
            </a:r>
            <a:r>
              <a:rPr sz="1300" b="0" i="0">
                <a:solidFill>
                  <a:srgbClr val="B0C4DE"/>
                </a:solidFill>
                <a:latin typeface="Calibri"/>
              </a:rPr>
              <a:t>Fare_per_person_log (0,092–0,122) y Age_clean (0,016–0,070); FamilySize y TicketGroupSize son conteos, exactos.</a:t>
            </a:r>
          </a:p>
        </p:txBody>
      </p:sp>
      <p:sp>
        <p:nvSpPr>
          <p:cNvPr id="18" name="Rectangle 17"/>
          <p:cNvSpPr/>
          <p:nvPr/>
        </p:nvSpPr>
        <p:spPr>
          <a:xfrm>
            <a:off x="365760" y="4846320"/>
            <a:ext cx="9509760" cy="146304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846320"/>
            <a:ext cx="9509760" cy="73152"/>
          </a:xfrm>
          <a:prstGeom prst="rect">
            <a:avLst/>
          </a:prstGeom>
          <a:solidFill>
            <a:srgbClr val="FFB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956048"/>
            <a:ext cx="9235440" cy="347472"/>
          </a:xfrm>
          <a:prstGeom prst="rect">
            <a:avLst/>
          </a:prstGeom>
          <a:noFill/>
        </p:spPr>
        <p:txBody>
          <a:bodyPr wrap="square" lIns="45720" rIns="45720" tIns="27432" bIns="27432" anchor="t">
            <a:spAutoFit/>
          </a:bodyPr>
          <a:lstStyle/>
          <a:p>
            <a:pPr algn="l">
              <a:spcAft>
                <a:spcPts val="0"/>
              </a:spcAft>
            </a:pPr>
            <a:r>
              <a:rPr sz="1250" b="1" i="0">
                <a:solidFill>
                  <a:srgbClr val="FFB74D"/>
                </a:solidFill>
                <a:latin typeface="Calibri"/>
              </a:rPr>
              <a:t>Significancia ≠ relevancia práctica</a:t>
            </a:r>
          </a:p>
        </p:txBody>
      </p:sp>
      <p:sp>
        <p:nvSpPr>
          <p:cNvPr id="21" name="TextBox 20"/>
          <p:cNvSpPr txBox="1"/>
          <p:nvPr/>
        </p:nvSpPr>
        <p:spPr>
          <a:xfrm>
            <a:off x="502920" y="5257800"/>
            <a:ext cx="9235440" cy="1005840"/>
          </a:xfrm>
          <a:prstGeom prst="rect">
            <a:avLst/>
          </a:prstGeom>
          <a:noFill/>
        </p:spPr>
        <p:txBody>
          <a:bodyPr wrap="square" lIns="45720" rIns="45720" tIns="27432" bIns="27432" anchor="t">
            <a:spAutoFit/>
          </a:bodyPr>
          <a:lstStyle/>
          <a:p>
            <a:pPr algn="l">
              <a:spcAft>
                <a:spcPts val="0"/>
              </a:spcAft>
            </a:pPr>
            <a:r>
              <a:rPr sz="1350" b="0" i="0">
                <a:solidFill>
                  <a:srgbClr val="B0C4DE"/>
                </a:solidFill>
                <a:latin typeface="Calibri"/>
              </a:rPr>
              <a:t>AgeGroup es significativa (V = 0,137; p = 0,002) pero con información mutua marginal (0,009): se mantiene «a revisar» por «niños primero». La información mutua de Age_clean la supera siempre; se descartó por su 19,9 % de imputación e interpretabilidad, y se revalidará con un modelo.</a:t>
            </a:r>
          </a:p>
        </p:txBody>
      </p:sp>
      <p:sp>
        <p:nvSpPr>
          <p:cNvPr id="22"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Decisiones de selección preliminar</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Priorizar · Conservar · Revisar · Descartar, con su justificación</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Roberto Moncada González  ·  Diapositiva 12 / 17</a:t>
            </a:r>
          </a:p>
        </p:txBody>
      </p:sp>
      <p:graphicFrame>
        <p:nvGraphicFramePr>
          <p:cNvPr id="7" name="Table 6"/>
          <p:cNvGraphicFramePr>
            <a:graphicFrameLocks noGrp="1"/>
          </p:cNvGraphicFramePr>
          <p:nvPr/>
        </p:nvGraphicFramePr>
        <p:xfrm>
          <a:off x="365760" y="1325880"/>
          <a:ext cx="11430000" cy="3236976"/>
        </p:xfrm>
        <a:graphic>
          <a:graphicData uri="http://schemas.openxmlformats.org/drawingml/2006/table">
            <a:tbl>
              <a:tblPr firstRow="0" bandRow="0">
                <a:tableStyleId>{2D5ABB26-0587-4C30-8999-92F81FD0307C}</a:tableStyleId>
              </a:tblPr>
              <a:tblGrid>
                <a:gridCol w="1371600"/>
                <a:gridCol w="3931920"/>
                <a:gridCol w="6126480"/>
              </a:tblGrid>
              <a:tr h="365760">
                <a:tc>
                  <a:txBody>
                    <a:bodyPr wrap="square"/>
                    <a:lstStyle/>
                    <a:p>
                      <a:r>
                        <a:rPr sz="1200" b="1">
                          <a:solidFill>
                            <a:srgbClr val="4FC3F7"/>
                          </a:solidFill>
                          <a:latin typeface="Calibri"/>
                        </a:rPr>
                        <a:t>Decisión</a:t>
                      </a:r>
                    </a:p>
                  </a:txBody>
                  <a:tcPr marL="91440" marR="91440" marT="36576" marB="36576" anchor="ctr">
                    <a:solidFill>
                      <a:srgbClr val="1A3454"/>
                    </a:solidFill>
                  </a:tcPr>
                </a:tc>
                <a:tc>
                  <a:txBody>
                    <a:bodyPr wrap="square"/>
                    <a:lstStyle/>
                    <a:p>
                      <a:r>
                        <a:rPr sz="1200" b="1">
                          <a:solidFill>
                            <a:srgbClr val="4FC3F7"/>
                          </a:solidFill>
                          <a:latin typeface="Calibri"/>
                        </a:rPr>
                        <a:t>Variables</a:t>
                      </a:r>
                    </a:p>
                  </a:txBody>
                  <a:tcPr marL="91440" marR="91440" marT="36576" marB="36576" anchor="ctr">
                    <a:solidFill>
                      <a:srgbClr val="1A3454"/>
                    </a:solidFill>
                  </a:tcPr>
                </a:tc>
                <a:tc>
                  <a:txBody>
                    <a:bodyPr wrap="square"/>
                    <a:lstStyle/>
                    <a:p>
                      <a:r>
                        <a:rPr sz="1200" b="1">
                          <a:solidFill>
                            <a:srgbClr val="4FC3F7"/>
                          </a:solidFill>
                          <a:latin typeface="Calibri"/>
                        </a:rPr>
                        <a:t>Justificación</a:t>
                      </a:r>
                    </a:p>
                  </a:txBody>
                  <a:tcPr marL="91440" marR="91440" marT="36576" marB="36576" anchor="ctr">
                    <a:solidFill>
                      <a:srgbClr val="1A3454"/>
                    </a:solidFill>
                  </a:tcPr>
                </a:tc>
              </a:tr>
              <a:tr h="658368">
                <a:tc>
                  <a:txBody>
                    <a:bodyPr wrap="square"/>
                    <a:lstStyle/>
                    <a:p>
                      <a:r>
                        <a:rPr sz="1200" b="1">
                          <a:solidFill>
                            <a:srgbClr val="4FC3F7"/>
                          </a:solidFill>
                          <a:latin typeface="Calibri"/>
                        </a:rPr>
                        <a:t>Priorizar</a:t>
                      </a:r>
                    </a:p>
                  </a:txBody>
                  <a:tcPr marL="91440" marR="91440" marT="36576" marB="36576" anchor="ctr">
                    <a:solidFill>
                      <a:srgbClr val="1A3454"/>
                    </a:solidFill>
                  </a:tcPr>
                </a:tc>
                <a:tc>
                  <a:txBody>
                    <a:bodyPr wrap="square"/>
                    <a:lstStyle/>
                    <a:p>
                      <a:r>
                        <a:rPr sz="1200">
                          <a:solidFill>
                            <a:srgbClr val="B0C4DE"/>
                          </a:solidFill>
                          <a:latin typeface="Calibri"/>
                        </a:rPr>
                        <a:t>Sex_Pclass · Title_agrupado</a:t>
                      </a:r>
                    </a:p>
                  </a:txBody>
                  <a:tcPr marL="91440" marR="91440" marT="36576" marB="36576" anchor="ctr">
                    <a:solidFill>
                      <a:srgbClr val="152435"/>
                    </a:solidFill>
                  </a:tcPr>
                </a:tc>
                <a:tc>
                  <a:txBody>
                    <a:bodyPr wrap="square"/>
                    <a:lstStyle/>
                    <a:p>
                      <a:r>
                        <a:rPr sz="1200">
                          <a:solidFill>
                            <a:srgbClr val="B0C4DE"/>
                          </a:solidFill>
                          <a:latin typeface="Calibri"/>
                        </a:rPr>
                        <a:t>Mayor relevancia (V = 0,627 y 0,570; MI 0,218 y 0,169); Title_agrupado distingue a los niños, algo que Sex no captura</a:t>
                      </a:r>
                    </a:p>
                  </a:txBody>
                  <a:tcPr marL="91440" marR="91440" marT="36576" marB="36576" anchor="ctr">
                    <a:solidFill>
                      <a:srgbClr val="152435"/>
                    </a:solidFill>
                  </a:tcPr>
                </a:tc>
              </a:tr>
              <a:tr h="777240">
                <a:tc>
                  <a:txBody>
                    <a:bodyPr wrap="square"/>
                    <a:lstStyle/>
                    <a:p>
                      <a:r>
                        <a:rPr sz="1200" b="1">
                          <a:solidFill>
                            <a:srgbClr val="81C784"/>
                          </a:solidFill>
                          <a:latin typeface="Calibri"/>
                        </a:rPr>
                        <a:t>Conservar</a:t>
                      </a:r>
                    </a:p>
                  </a:txBody>
                  <a:tcPr marL="91440" marR="91440" marT="36576" marB="36576" anchor="ctr">
                    <a:solidFill>
                      <a:srgbClr val="1A2D1A"/>
                    </a:solidFill>
                  </a:tcPr>
                </a:tc>
                <a:tc>
                  <a:txBody>
                    <a:bodyPr wrap="square"/>
                    <a:lstStyle/>
                    <a:p>
                      <a:r>
                        <a:rPr sz="1200">
                          <a:solidFill>
                            <a:srgbClr val="B0C4DE"/>
                          </a:solidFill>
                          <a:latin typeface="Calibri"/>
                        </a:rPr>
                        <a:t>Fare_per_person_log · FamilySize · TicketGroupSize</a:t>
                      </a:r>
                    </a:p>
                  </a:txBody>
                  <a:tcPr marL="91440" marR="91440" marT="36576" marB="36576" anchor="ctr">
                    <a:solidFill>
                      <a:srgbClr val="152435"/>
                    </a:solidFill>
                  </a:tcPr>
                </a:tc>
                <a:tc>
                  <a:txBody>
                    <a:bodyPr wrap="square"/>
                    <a:lstStyle/>
                    <a:p>
                      <a:r>
                        <a:rPr sz="1200">
                          <a:solidFill>
                            <a:srgbClr val="B0C4DE"/>
                          </a:solidFill>
                          <a:latin typeface="Calibri"/>
                        </a:rPr>
                        <a:t>Fare_per_person_log: asociación moderada (r biserial 0,373), menos dependiente del grupo; reemplaza a Fare_log por interpretabilidad. FamilySize y TicketGroupSize: débiles pero significativas y conceptos distintos (difieren en 32,3 %)</a:t>
                      </a:r>
                    </a:p>
                  </a:txBody>
                  <a:tcPr marL="91440" marR="91440" marT="36576" marB="36576" anchor="ctr">
                    <a:solidFill>
                      <a:srgbClr val="152435"/>
                    </a:solidFill>
                  </a:tcPr>
                </a:tc>
              </a:tr>
              <a:tr h="658368">
                <a:tc>
                  <a:txBody>
                    <a:bodyPr wrap="square"/>
                    <a:lstStyle/>
                    <a:p>
                      <a:r>
                        <a:rPr sz="1200" b="1">
                          <a:solidFill>
                            <a:srgbClr val="FFB74D"/>
                          </a:solidFill>
                          <a:latin typeface="Calibri"/>
                        </a:rPr>
                        <a:t>Revisar</a:t>
                      </a:r>
                    </a:p>
                  </a:txBody>
                  <a:tcPr marL="91440" marR="91440" marT="36576" marB="36576" anchor="ctr">
                    <a:solidFill>
                      <a:srgbClr val="3A2A10"/>
                    </a:solidFill>
                  </a:tcPr>
                </a:tc>
                <a:tc>
                  <a:txBody>
                    <a:bodyPr wrap="square"/>
                    <a:lstStyle/>
                    <a:p>
                      <a:r>
                        <a:rPr sz="1200">
                          <a:solidFill>
                            <a:srgbClr val="B0C4DE"/>
                          </a:solidFill>
                          <a:latin typeface="Calibri"/>
                        </a:rPr>
                        <a:t>AgeGroup · Embarked_clean · Deck_combinado</a:t>
                      </a:r>
                    </a:p>
                  </a:txBody>
                  <a:tcPr marL="91440" marR="91440" marT="36576" marB="36576" anchor="ctr">
                    <a:solidFill>
                      <a:srgbClr val="152435"/>
                    </a:solidFill>
                  </a:tcPr>
                </a:tc>
                <a:tc>
                  <a:txBody>
                    <a:bodyPr wrap="square"/>
                    <a:lstStyle/>
                    <a:p>
                      <a:r>
                        <a:rPr sz="1200">
                          <a:solidFill>
                            <a:srgbClr val="B0C4DE"/>
                          </a:solidFill>
                          <a:latin typeface="Calibri"/>
                        </a:rPr>
                        <a:t>AgeGroup (V = 0,137) y Embarked_clean (V = 0,171): asociación débil e MI marginal; Deck_combinado: V = 0,334 (moderada) pero ~77 % «Desconocida» (categoría explícita, no imputada)</a:t>
                      </a:r>
                    </a:p>
                  </a:txBody>
                  <a:tcPr marL="91440" marR="91440" marT="36576" marB="36576" anchor="ctr">
                    <a:solidFill>
                      <a:srgbClr val="152435"/>
                    </a:solidFill>
                  </a:tcPr>
                </a:tc>
              </a:tr>
              <a:tr h="777240">
                <a:tc>
                  <a:txBody>
                    <a:bodyPr wrap="square"/>
                    <a:lstStyle/>
                    <a:p>
                      <a:r>
                        <a:rPr sz="1200" b="1">
                          <a:solidFill>
                            <a:srgbClr val="EF9A9A"/>
                          </a:solidFill>
                          <a:latin typeface="Calibri"/>
                        </a:rPr>
                        <a:t>Descartar</a:t>
                      </a:r>
                    </a:p>
                  </a:txBody>
                  <a:tcPr marL="91440" marR="91440" marT="36576" marB="36576" anchor="ctr">
                    <a:solidFill>
                      <a:srgbClr val="3A1515"/>
                    </a:solidFill>
                  </a:tcPr>
                </a:tc>
                <a:tc>
                  <a:txBody>
                    <a:bodyPr wrap="square"/>
                    <a:lstStyle/>
                    <a:p>
                      <a:r>
                        <a:rPr sz="1200">
                          <a:solidFill>
                            <a:srgbClr val="B0C4DE"/>
                          </a:solidFill>
                          <a:latin typeface="Calibri"/>
                        </a:rPr>
                        <a:t>Pclass · Age_clean · Sex_bin · Fare_log · FareBand · IsAlone · Age_registrada · Cabin_registrada · class · who · adult_male · deck · embark_town · alone</a:t>
                      </a:r>
                    </a:p>
                  </a:txBody>
                  <a:tcPr marL="91440" marR="91440" marT="36576" marB="36576" anchor="ctr">
                    <a:solidFill>
                      <a:srgbClr val="152435"/>
                    </a:solidFill>
                  </a:tcPr>
                </a:tc>
                <a:tc>
                  <a:txBody>
                    <a:bodyPr wrap="square"/>
                    <a:lstStyle/>
                    <a:p>
                      <a:r>
                        <a:rPr sz="1200">
                          <a:solidFill>
                            <a:srgbClr val="B0C4DE"/>
                          </a:solidFill>
                          <a:latin typeface="Calibri"/>
                        </a:rPr>
                        <a:t>Redundancia exacta (Pclass, IsAlone, columnas de seaborn-data) o superadas (Sex_bin, Fare_log, FareBand). Age_clean: sin diferencia (p = 0,25), 19,9 % imputada; a revalidar. Age_registrada y Cabin_registrada: sin señal nueva</a:t>
                      </a:r>
                    </a:p>
                  </a:txBody>
                  <a:tcPr marL="91440" marR="91440" marT="36576" marB="36576" anchor="ctr">
                    <a:solidFill>
                      <a:srgbClr val="152435"/>
                    </a:solidFill>
                  </a:tcPr>
                </a:tc>
              </a:tr>
            </a:tbl>
          </a:graphicData>
        </a:graphic>
      </p:graphicFrame>
      <p:sp>
        <p:nvSpPr>
          <p:cNvPr id="8" name="Rectangle 7"/>
          <p:cNvSpPr/>
          <p:nvPr/>
        </p:nvSpPr>
        <p:spPr>
          <a:xfrm>
            <a:off x="365760" y="4846320"/>
            <a:ext cx="9509760" cy="109728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4892040"/>
            <a:ext cx="9235440" cy="1005839"/>
          </a:xfrm>
          <a:prstGeom prst="rect">
            <a:avLst/>
          </a:prstGeom>
          <a:noFill/>
        </p:spPr>
        <p:txBody>
          <a:bodyPr wrap="square" lIns="45720" rIns="45720" tIns="27432" bIns="27432" anchor="ctr">
            <a:spAutoFit/>
          </a:bodyPr>
          <a:lstStyle/>
          <a:p>
            <a:pPr algn="l">
              <a:spcAft>
                <a:spcPts val="0"/>
              </a:spcAft>
            </a:pPr>
            <a:r>
              <a:rPr sz="1400" b="0" i="1">
                <a:solidFill>
                  <a:srgbClr val="4FC3F7"/>
                </a:solidFill>
                <a:latin typeface="Calibri"/>
              </a:rPr>
              <a:t>Resultado: 27 características finales y 14 columnas descartadas explícitamente (6 heredadas de seaborn-data y 8 propias); las 36 columnas disponibles tienen destino documentado.</a:t>
            </a:r>
          </a:p>
        </p:txBody>
      </p:sp>
      <p:sp>
        <p:nvSpPr>
          <p:cNvPr id="10"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Resultado: dataset preparado para modelar</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titanic_prepared.csv (891 × 32) → titanic_features.csv (891 × 29)</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Sebastián Navarrete Soto  ·  Diapositiva 13 / 17</a:t>
            </a:r>
          </a:p>
        </p:txBody>
      </p:sp>
      <p:sp>
        <p:nvSpPr>
          <p:cNvPr id="7" name="Rectangle 6"/>
          <p:cNvSpPr/>
          <p:nvPr/>
        </p:nvSpPr>
        <p:spPr>
          <a:xfrm>
            <a:off x="365760" y="1280160"/>
            <a:ext cx="2697480" cy="123444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53312"/>
            <a:ext cx="2514600" cy="617220"/>
          </a:xfrm>
          <a:prstGeom prst="rect">
            <a:avLst/>
          </a:prstGeom>
          <a:noFill/>
        </p:spPr>
        <p:txBody>
          <a:bodyPr wrap="square" lIns="45720" rIns="45720" tIns="27432" bIns="27432" anchor="ctr">
            <a:spAutoFit/>
          </a:bodyPr>
          <a:lstStyle/>
          <a:p>
            <a:pPr algn="ctr">
              <a:spcAft>
                <a:spcPts val="0"/>
              </a:spcAft>
            </a:pPr>
            <a:r>
              <a:rPr sz="2400" b="0" i="0">
                <a:solidFill>
                  <a:srgbClr val="81C784"/>
                </a:solidFill>
                <a:latin typeface="Calibri Light"/>
              </a:rPr>
              <a:t>891 × 29</a:t>
            </a:r>
          </a:p>
        </p:txBody>
      </p:sp>
      <p:sp>
        <p:nvSpPr>
          <p:cNvPr id="9" name="TextBox 8"/>
          <p:cNvSpPr txBox="1"/>
          <p:nvPr/>
        </p:nvSpPr>
        <p:spPr>
          <a:xfrm>
            <a:off x="457200" y="1959102"/>
            <a:ext cx="2514600" cy="518464"/>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27 características
+ PassengerId + Survived</a:t>
            </a:r>
          </a:p>
        </p:txBody>
      </p:sp>
      <p:sp>
        <p:nvSpPr>
          <p:cNvPr id="10" name="Rectangle 9"/>
          <p:cNvSpPr/>
          <p:nvPr/>
        </p:nvSpPr>
        <p:spPr>
          <a:xfrm>
            <a:off x="3246120" y="1280160"/>
            <a:ext cx="2697480" cy="123444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1353312"/>
            <a:ext cx="2514600" cy="617220"/>
          </a:xfrm>
          <a:prstGeom prst="rect">
            <a:avLst/>
          </a:prstGeom>
          <a:noFill/>
        </p:spPr>
        <p:txBody>
          <a:bodyPr wrap="square" lIns="45720" rIns="45720" tIns="27432" bIns="27432" anchor="ctr">
            <a:spAutoFit/>
          </a:bodyPr>
          <a:lstStyle/>
          <a:p>
            <a:pPr algn="ctr">
              <a:spcAft>
                <a:spcPts val="0"/>
              </a:spcAft>
            </a:pPr>
            <a:r>
              <a:rPr sz="2400" b="0" i="0">
                <a:solidFill>
                  <a:srgbClr val="4FC3F7"/>
                </a:solidFill>
                <a:latin typeface="Calibri Light"/>
              </a:rPr>
              <a:t>0</a:t>
            </a:r>
          </a:p>
        </p:txBody>
      </p:sp>
      <p:sp>
        <p:nvSpPr>
          <p:cNvPr id="12" name="TextBox 11"/>
          <p:cNvSpPr txBox="1"/>
          <p:nvPr/>
        </p:nvSpPr>
        <p:spPr>
          <a:xfrm>
            <a:off x="3337560" y="1959102"/>
            <a:ext cx="2514600" cy="518464"/>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valores faltantes</a:t>
            </a:r>
          </a:p>
        </p:txBody>
      </p:sp>
      <p:sp>
        <p:nvSpPr>
          <p:cNvPr id="13" name="Rectangle 12"/>
          <p:cNvSpPr/>
          <p:nvPr/>
        </p:nvSpPr>
        <p:spPr>
          <a:xfrm>
            <a:off x="6126480" y="1280160"/>
            <a:ext cx="2697480" cy="123444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353312"/>
            <a:ext cx="2514600" cy="617220"/>
          </a:xfrm>
          <a:prstGeom prst="rect">
            <a:avLst/>
          </a:prstGeom>
          <a:noFill/>
        </p:spPr>
        <p:txBody>
          <a:bodyPr wrap="square" lIns="45720" rIns="45720" tIns="27432" bIns="27432" anchor="ctr">
            <a:spAutoFit/>
          </a:bodyPr>
          <a:lstStyle/>
          <a:p>
            <a:pPr algn="ctr">
              <a:spcAft>
                <a:spcPts val="0"/>
              </a:spcAft>
            </a:pPr>
            <a:r>
              <a:rPr sz="2400" b="0" i="0">
                <a:solidFill>
                  <a:srgbClr val="EF9A9A"/>
                </a:solidFill>
                <a:latin typeface="Calibri Light"/>
              </a:rPr>
              <a:t>14</a:t>
            </a:r>
          </a:p>
        </p:txBody>
      </p:sp>
      <p:sp>
        <p:nvSpPr>
          <p:cNvPr id="15" name="TextBox 14"/>
          <p:cNvSpPr txBox="1"/>
          <p:nvPr/>
        </p:nvSpPr>
        <p:spPr>
          <a:xfrm>
            <a:off x="6217920" y="1959102"/>
            <a:ext cx="2514600" cy="518464"/>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columnas redundantes
descartadas</a:t>
            </a:r>
          </a:p>
        </p:txBody>
      </p:sp>
      <p:sp>
        <p:nvSpPr>
          <p:cNvPr id="16" name="Rectangle 15"/>
          <p:cNvSpPr/>
          <p:nvPr/>
        </p:nvSpPr>
        <p:spPr>
          <a:xfrm>
            <a:off x="9006840" y="1280160"/>
            <a:ext cx="2697480" cy="123444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1353312"/>
            <a:ext cx="2514600" cy="617220"/>
          </a:xfrm>
          <a:prstGeom prst="rect">
            <a:avLst/>
          </a:prstGeom>
          <a:noFill/>
        </p:spPr>
        <p:txBody>
          <a:bodyPr wrap="square" lIns="45720" rIns="45720" tIns="27432" bIns="27432" anchor="ctr">
            <a:spAutoFit/>
          </a:bodyPr>
          <a:lstStyle/>
          <a:p>
            <a:pPr algn="ctr">
              <a:spcAft>
                <a:spcPts val="0"/>
              </a:spcAft>
            </a:pPr>
            <a:r>
              <a:rPr sz="2400" b="0" i="0">
                <a:solidFill>
                  <a:srgbClr val="4FC3F7"/>
                </a:solidFill>
                <a:latin typeface="Calibri Light"/>
              </a:rPr>
              <a:t>2</a:t>
            </a:r>
          </a:p>
        </p:txBody>
      </p:sp>
      <p:sp>
        <p:nvSpPr>
          <p:cNvPr id="18" name="TextBox 17"/>
          <p:cNvSpPr txBox="1"/>
          <p:nvPr/>
        </p:nvSpPr>
        <p:spPr>
          <a:xfrm>
            <a:off x="9098280" y="1959102"/>
            <a:ext cx="2514600" cy="518464"/>
          </a:xfrm>
          <a:prstGeom prst="rect">
            <a:avLst/>
          </a:prstGeom>
          <a:noFill/>
        </p:spPr>
        <p:txBody>
          <a:bodyPr wrap="square" lIns="45720" rIns="45720" tIns="27432" bIns="27432" anchor="t">
            <a:spAutoFit/>
          </a:bodyPr>
          <a:lstStyle/>
          <a:p>
            <a:pPr algn="ctr">
              <a:spcAft>
                <a:spcPts val="0"/>
              </a:spcAft>
            </a:pPr>
            <a:r>
              <a:rPr sz="1150" b="0" i="0">
                <a:solidFill>
                  <a:srgbClr val="B0C4DE"/>
                </a:solidFill>
                <a:latin typeface="Calibri"/>
              </a:rPr>
              <a:t>variables derivadas
con evidencia</a:t>
            </a:r>
          </a:p>
        </p:txBody>
      </p:sp>
      <p:sp>
        <p:nvSpPr>
          <p:cNvPr id="19" name="Rectangle 18"/>
          <p:cNvSpPr/>
          <p:nvPr/>
        </p:nvSpPr>
        <p:spPr>
          <a:xfrm>
            <a:off x="365760" y="2697480"/>
            <a:ext cx="5577840" cy="192024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2697480"/>
            <a:ext cx="557784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807208"/>
            <a:ext cx="530352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Composición de las 27 características</a:t>
            </a:r>
          </a:p>
        </p:txBody>
      </p:sp>
      <p:sp>
        <p:nvSpPr>
          <p:cNvPr id="22" name="TextBox 21"/>
          <p:cNvSpPr txBox="1"/>
          <p:nvPr/>
        </p:nvSpPr>
        <p:spPr>
          <a:xfrm>
            <a:off x="502920" y="3154680"/>
            <a:ext cx="1005840" cy="457200"/>
          </a:xfrm>
          <a:prstGeom prst="rect">
            <a:avLst/>
          </a:prstGeom>
          <a:noFill/>
        </p:spPr>
        <p:txBody>
          <a:bodyPr wrap="square" lIns="45720" rIns="45720" tIns="27432" bIns="27432" anchor="ctr">
            <a:spAutoFit/>
          </a:bodyPr>
          <a:lstStyle/>
          <a:p>
            <a:pPr algn="l">
              <a:spcAft>
                <a:spcPts val="0"/>
              </a:spcAft>
            </a:pPr>
            <a:r>
              <a:rPr sz="1200" b="1" i="0">
                <a:solidFill>
                  <a:srgbClr val="4FC3F7"/>
                </a:solidFill>
                <a:latin typeface="Calibri"/>
              </a:rPr>
              <a:t>One-hot</a:t>
            </a:r>
          </a:p>
        </p:txBody>
      </p:sp>
      <p:sp>
        <p:nvSpPr>
          <p:cNvPr id="23" name="TextBox 22"/>
          <p:cNvSpPr txBox="1"/>
          <p:nvPr/>
        </p:nvSpPr>
        <p:spPr>
          <a:xfrm>
            <a:off x="1508760" y="3154680"/>
            <a:ext cx="4343400" cy="457200"/>
          </a:xfrm>
          <a:prstGeom prst="rect">
            <a:avLst/>
          </a:prstGeom>
          <a:noFill/>
        </p:spPr>
        <p:txBody>
          <a:bodyPr wrap="square" lIns="45720" rIns="45720" tIns="27432" bIns="27432" anchor="ctr">
            <a:spAutoFit/>
          </a:bodyPr>
          <a:lstStyle/>
          <a:p>
            <a:pPr algn="l">
              <a:spcAft>
                <a:spcPts val="0"/>
              </a:spcAft>
            </a:pPr>
            <a:r>
              <a:rPr sz="1200" b="0" i="0">
                <a:solidFill>
                  <a:srgbClr val="B0C4DE"/>
                </a:solidFill>
                <a:latin typeface="Calibri"/>
              </a:rPr>
              <a:t>24 columnas: Title_agrupado 5 · Sex_Pclass 5 · AgeGroup 4 · Embarked_clean 2 · Deck_combinado 8</a:t>
            </a:r>
          </a:p>
        </p:txBody>
      </p:sp>
      <p:sp>
        <p:nvSpPr>
          <p:cNvPr id="24" name="TextBox 23"/>
          <p:cNvSpPr txBox="1"/>
          <p:nvPr/>
        </p:nvSpPr>
        <p:spPr>
          <a:xfrm>
            <a:off x="502920" y="3630168"/>
            <a:ext cx="1005840" cy="457200"/>
          </a:xfrm>
          <a:prstGeom prst="rect">
            <a:avLst/>
          </a:prstGeom>
          <a:noFill/>
        </p:spPr>
        <p:txBody>
          <a:bodyPr wrap="square" lIns="45720" rIns="45720" tIns="27432" bIns="27432" anchor="ctr">
            <a:spAutoFit/>
          </a:bodyPr>
          <a:lstStyle/>
          <a:p>
            <a:pPr algn="l">
              <a:spcAft>
                <a:spcPts val="0"/>
              </a:spcAft>
            </a:pPr>
            <a:r>
              <a:rPr sz="1200" b="1" i="0">
                <a:solidFill>
                  <a:srgbClr val="4FC3F7"/>
                </a:solidFill>
                <a:latin typeface="Calibri"/>
              </a:rPr>
              <a:t>Escaladas</a:t>
            </a:r>
          </a:p>
        </p:txBody>
      </p:sp>
      <p:sp>
        <p:nvSpPr>
          <p:cNvPr id="25" name="TextBox 24"/>
          <p:cNvSpPr txBox="1"/>
          <p:nvPr/>
        </p:nvSpPr>
        <p:spPr>
          <a:xfrm>
            <a:off x="1508760" y="3630168"/>
            <a:ext cx="4343400" cy="457200"/>
          </a:xfrm>
          <a:prstGeom prst="rect">
            <a:avLst/>
          </a:prstGeom>
          <a:noFill/>
        </p:spPr>
        <p:txBody>
          <a:bodyPr wrap="square" lIns="45720" rIns="45720" tIns="27432" bIns="27432" anchor="ctr">
            <a:spAutoFit/>
          </a:bodyPr>
          <a:lstStyle/>
          <a:p>
            <a:pPr algn="l">
              <a:spcAft>
                <a:spcPts val="0"/>
              </a:spcAft>
            </a:pPr>
            <a:r>
              <a:rPr sz="1200" b="0" i="0">
                <a:solidFill>
                  <a:srgbClr val="B0C4DE"/>
                </a:solidFill>
                <a:latin typeface="Calibri"/>
              </a:rPr>
              <a:t>3 columnas con RobustScaler: Fare_per_person_log, FamilySize, TicketGroupSize</a:t>
            </a:r>
          </a:p>
        </p:txBody>
      </p:sp>
      <p:sp>
        <p:nvSpPr>
          <p:cNvPr id="26" name="TextBox 25"/>
          <p:cNvSpPr txBox="1"/>
          <p:nvPr/>
        </p:nvSpPr>
        <p:spPr>
          <a:xfrm>
            <a:off x="502920" y="4105656"/>
            <a:ext cx="1005840" cy="457200"/>
          </a:xfrm>
          <a:prstGeom prst="rect">
            <a:avLst/>
          </a:prstGeom>
          <a:noFill/>
        </p:spPr>
        <p:txBody>
          <a:bodyPr wrap="square" lIns="45720" rIns="45720" tIns="27432" bIns="27432" anchor="ctr">
            <a:spAutoFit/>
          </a:bodyPr>
          <a:lstStyle/>
          <a:p>
            <a:pPr algn="l">
              <a:spcAft>
                <a:spcPts val="0"/>
              </a:spcAft>
            </a:pPr>
            <a:r>
              <a:rPr sz="1200" b="1" i="0">
                <a:solidFill>
                  <a:srgbClr val="4FC3F7"/>
                </a:solidFill>
                <a:latin typeface="Calibri"/>
              </a:rPr>
              <a:t>Control</a:t>
            </a:r>
          </a:p>
        </p:txBody>
      </p:sp>
      <p:sp>
        <p:nvSpPr>
          <p:cNvPr id="27" name="TextBox 26"/>
          <p:cNvSpPr txBox="1"/>
          <p:nvPr/>
        </p:nvSpPr>
        <p:spPr>
          <a:xfrm>
            <a:off x="1508760" y="4105656"/>
            <a:ext cx="4343400" cy="457200"/>
          </a:xfrm>
          <a:prstGeom prst="rect">
            <a:avLst/>
          </a:prstGeom>
          <a:noFill/>
        </p:spPr>
        <p:txBody>
          <a:bodyPr wrap="square" lIns="45720" rIns="45720" tIns="27432" bIns="27432" anchor="ctr">
            <a:spAutoFit/>
          </a:bodyPr>
          <a:lstStyle/>
          <a:p>
            <a:pPr algn="l">
              <a:spcAft>
                <a:spcPts val="0"/>
              </a:spcAft>
            </a:pPr>
            <a:r>
              <a:rPr sz="1200" b="0" i="0">
                <a:solidFill>
                  <a:srgbClr val="B0C4DE"/>
                </a:solidFill>
                <a:latin typeface="Calibri"/>
              </a:rPr>
              <a:t>Rango completo de la matriz (28 de 28): sin colinealidad exacta; Pclass no entra</a:t>
            </a:r>
          </a:p>
        </p:txBody>
      </p:sp>
      <p:sp>
        <p:nvSpPr>
          <p:cNvPr id="28" name="Rectangle 27"/>
          <p:cNvSpPr/>
          <p:nvPr/>
        </p:nvSpPr>
        <p:spPr>
          <a:xfrm>
            <a:off x="6126480" y="2697480"/>
            <a:ext cx="5669280" cy="192024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80" y="2697480"/>
            <a:ext cx="5669280" cy="73152"/>
          </a:xfrm>
          <a:prstGeom prst="rect">
            <a:avLst/>
          </a:prstGeom>
          <a:solidFill>
            <a:srgbClr val="81C7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3640" y="2807208"/>
            <a:ext cx="5394960" cy="347472"/>
          </a:xfrm>
          <a:prstGeom prst="rect">
            <a:avLst/>
          </a:prstGeom>
          <a:noFill/>
        </p:spPr>
        <p:txBody>
          <a:bodyPr wrap="square" lIns="45720" rIns="45720" tIns="27432" bIns="27432" anchor="t">
            <a:spAutoFit/>
          </a:bodyPr>
          <a:lstStyle/>
          <a:p>
            <a:pPr algn="l">
              <a:spcAft>
                <a:spcPts val="0"/>
              </a:spcAft>
            </a:pPr>
            <a:r>
              <a:rPr sz="1250" b="1" i="0">
                <a:solidFill>
                  <a:srgbClr val="81C784"/>
                </a:solidFill>
                <a:latin typeface="Calibri"/>
              </a:rPr>
              <a:t>Mejoras respecto del estado inicial</a:t>
            </a:r>
          </a:p>
        </p:txBody>
      </p:sp>
      <p:sp>
        <p:nvSpPr>
          <p:cNvPr id="31" name="TextBox 30"/>
          <p:cNvSpPr txBox="1"/>
          <p:nvPr/>
        </p:nvSpPr>
        <p:spPr>
          <a:xfrm>
            <a:off x="6263640" y="3127248"/>
            <a:ext cx="5440680" cy="1463040"/>
          </a:xfrm>
          <a:prstGeom prst="rect">
            <a:avLst/>
          </a:prstGeom>
          <a:noFill/>
        </p:spPr>
        <p:txBody>
          <a:bodyPr wrap="square" lIns="45720" rIns="45720" tIns="27432" bIns="27432" anchor="t">
            <a:spAutoFit/>
          </a:bodyPr>
          <a:lstStyle/>
          <a:p>
            <a:pPr algn="l" marL="219456" indent="-219456">
              <a:spcAft>
                <a:spcPts val="600"/>
              </a:spcAft>
              <a:buClr>
                <a:srgbClr val="4FC3F7"/>
              </a:buClr>
              <a:buFont typeface="Arial"/>
              <a:buChar char="▸"/>
            </a:pPr>
            <a:r>
              <a:rPr sz="1300" b="0" i="0">
                <a:solidFill>
                  <a:srgbClr val="B0C4DE"/>
                </a:solidFill>
                <a:latin typeface="Calibri"/>
              </a:rPr>
              <a:t>Se eliminó la duplicación de señal (6 heredadas + 8 propias).</a:t>
            </a:r>
          </a:p>
          <a:p>
            <a:pPr algn="l" marL="219456" indent="-219456">
              <a:spcAft>
                <a:spcPts val="600"/>
              </a:spcAft>
              <a:buClr>
                <a:srgbClr val="4FC3F7"/>
              </a:buClr>
              <a:buFont typeface="Arial"/>
              <a:buChar char="▸"/>
            </a:pPr>
            <a:r>
              <a:rPr sz="1300" b="0" i="0">
                <a:solidFill>
                  <a:srgbClr val="B0C4DE"/>
                </a:solidFill>
                <a:latin typeface="Calibri"/>
              </a:rPr>
              <a:t>Escala robusta ante atípicos legítimos.</a:t>
            </a:r>
          </a:p>
          <a:p>
            <a:pPr algn="l" marL="219456" indent="-219456">
              <a:spcAft>
                <a:spcPts val="600"/>
              </a:spcAft>
              <a:buClr>
                <a:srgbClr val="4FC3F7"/>
              </a:buClr>
              <a:buFont typeface="Arial"/>
              <a:buChar char="▸"/>
            </a:pPr>
            <a:r>
              <a:rPr sz="1300" b="0" i="0">
                <a:solidFill>
                  <a:srgbClr val="B0C4DE"/>
                </a:solidFill>
                <a:latin typeface="Calibri"/>
              </a:rPr>
              <a:t>Variables nominales codificadas, sin faltantes.</a:t>
            </a:r>
          </a:p>
          <a:p>
            <a:pPr algn="l" marL="219456" indent="-219456">
              <a:spcAft>
                <a:spcPts val="600"/>
              </a:spcAft>
              <a:buClr>
                <a:srgbClr val="4FC3F7"/>
              </a:buClr>
              <a:buFont typeface="Arial"/>
              <a:buChar char="▸"/>
            </a:pPr>
            <a:r>
              <a:rPr sz="1300" b="0" i="0">
                <a:solidFill>
                  <a:srgbClr val="B0C4DE"/>
                </a:solidFill>
                <a:latin typeface="Calibri"/>
              </a:rPr>
              <a:t>Sin fuga hacia el objetivo en la construcción.</a:t>
            </a:r>
          </a:p>
        </p:txBody>
      </p:sp>
      <p:sp>
        <p:nvSpPr>
          <p:cNvPr id="32" name="Rectangle 31"/>
          <p:cNvSpPr/>
          <p:nvPr/>
        </p:nvSpPr>
        <p:spPr>
          <a:xfrm>
            <a:off x="365760" y="4846320"/>
            <a:ext cx="9509760" cy="109728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4892040"/>
            <a:ext cx="9235440" cy="1005839"/>
          </a:xfrm>
          <a:prstGeom prst="rect">
            <a:avLst/>
          </a:prstGeom>
          <a:noFill/>
        </p:spPr>
        <p:txBody>
          <a:bodyPr wrap="square" lIns="45720" rIns="45720" tIns="27432" bIns="27432" anchor="ctr">
            <a:spAutoFit/>
          </a:bodyPr>
          <a:lstStyle/>
          <a:p>
            <a:pPr algn="l">
              <a:spcAft>
                <a:spcPts val="0"/>
              </a:spcAft>
            </a:pPr>
            <a:r>
              <a:rPr sz="1400" b="0" i="1">
                <a:solidFill>
                  <a:srgbClr val="4FC3F7"/>
                </a:solidFill>
                <a:latin typeface="Calibri"/>
              </a:rPr>
              <a:t>Listo para un modelo de clasificación binaria, incluso uno sensible a la escala (regresión regularizada, KNN, SVM), sin transformaciones adicionales; PassengerId se excluye de las predictoras.</a:t>
            </a:r>
          </a:p>
        </p:txBody>
      </p:sp>
      <p:sp>
        <p:nvSpPr>
          <p:cNvPr id="34"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Documentación y trazabilidad del pipeline</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Notebook ↔ informe ↔ presentación: correspondencia 1 a 1</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Sebastián Navarrete Soto  ·  Diapositiva 14 / 17</a:t>
            </a:r>
          </a:p>
        </p:txBody>
      </p:sp>
      <p:graphicFrame>
        <p:nvGraphicFramePr>
          <p:cNvPr id="7" name="Table 6"/>
          <p:cNvGraphicFramePr>
            <a:graphicFrameLocks noGrp="1"/>
          </p:cNvGraphicFramePr>
          <p:nvPr/>
        </p:nvGraphicFramePr>
        <p:xfrm>
          <a:off x="365760" y="1325880"/>
          <a:ext cx="7040880" cy="3072384"/>
        </p:xfrm>
        <a:graphic>
          <a:graphicData uri="http://schemas.openxmlformats.org/drawingml/2006/table">
            <a:tbl>
              <a:tblPr firstRow="0" bandRow="0">
                <a:tableStyleId>{2D5ABB26-0587-4C30-8999-92F81FD0307C}</a:tableStyleId>
              </a:tblPr>
              <a:tblGrid>
                <a:gridCol w="2926080"/>
                <a:gridCol w="1463040"/>
                <a:gridCol w="2651760"/>
              </a:tblGrid>
              <a:tr h="384048">
                <a:tc>
                  <a:txBody>
                    <a:bodyPr wrap="square"/>
                    <a:lstStyle/>
                    <a:p>
                      <a:r>
                        <a:rPr sz="1300" b="1">
                          <a:solidFill>
                            <a:srgbClr val="4FC3F7"/>
                          </a:solidFill>
                          <a:latin typeface="Calibri"/>
                        </a:rPr>
                        <a:t>Informe (PDF)</a:t>
                      </a:r>
                    </a:p>
                  </a:txBody>
                  <a:tcPr marL="91440" marR="91440" marT="36576" marB="36576" anchor="ctr">
                    <a:solidFill>
                      <a:srgbClr val="1A3454"/>
                    </a:solidFill>
                  </a:tcPr>
                </a:tc>
                <a:tc>
                  <a:txBody>
                    <a:bodyPr wrap="square"/>
                    <a:lstStyle/>
                    <a:p>
                      <a:r>
                        <a:rPr sz="1300" b="1">
                          <a:solidFill>
                            <a:srgbClr val="4FC3F7"/>
                          </a:solidFill>
                          <a:latin typeface="Calibri"/>
                        </a:rPr>
                        <a:t>Notebook</a:t>
                      </a:r>
                    </a:p>
                  </a:txBody>
                  <a:tcPr marL="91440" marR="91440" marT="36576" marB="36576" anchor="ctr">
                    <a:solidFill>
                      <a:srgbClr val="1A3454"/>
                    </a:solidFill>
                  </a:tcPr>
                </a:tc>
                <a:tc>
                  <a:txBody>
                    <a:bodyPr wrap="square"/>
                    <a:lstStyle/>
                    <a:p>
                      <a:r>
                        <a:rPr sz="1300" b="1">
                          <a:solidFill>
                            <a:srgbClr val="4FC3F7"/>
                          </a:solidFill>
                          <a:latin typeface="Calibri"/>
                        </a:rPr>
                        <a:t>Presentación (video)</a:t>
                      </a:r>
                    </a:p>
                  </a:txBody>
                  <a:tcPr marL="91440" marR="91440" marT="36576" marB="36576" anchor="ctr">
                    <a:solidFill>
                      <a:srgbClr val="1A3454"/>
                    </a:solidFill>
                  </a:tcPr>
                </a:tc>
              </a:tr>
              <a:tr h="384048">
                <a:tc>
                  <a:txBody>
                    <a:bodyPr wrap="square"/>
                    <a:lstStyle/>
                    <a:p>
                      <a:r>
                        <a:rPr sz="1300">
                          <a:solidFill>
                            <a:srgbClr val="B0C4DE"/>
                          </a:solidFill>
                          <a:latin typeface="Calibri"/>
                        </a:rPr>
                        <a:t>II. Contexto y objetivo</a:t>
                      </a:r>
                    </a:p>
                  </a:txBody>
                  <a:tcPr marL="91440" marR="91440" marT="36576" marB="36576" anchor="ctr">
                    <a:solidFill>
                      <a:srgbClr val="152435"/>
                    </a:solidFill>
                  </a:tcPr>
                </a:tc>
                <a:tc>
                  <a:txBody>
                    <a:bodyPr wrap="square"/>
                    <a:lstStyle/>
                    <a:p>
                      <a:r>
                        <a:rPr sz="1300">
                          <a:solidFill>
                            <a:srgbClr val="B0C4DE"/>
                          </a:solidFill>
                          <a:latin typeface="Calibri"/>
                        </a:rPr>
                        <a:t>I – III</a:t>
                      </a:r>
                    </a:p>
                  </a:txBody>
                  <a:tcPr marL="91440" marR="91440" marT="36576" marB="36576" anchor="ctr">
                    <a:solidFill>
                      <a:srgbClr val="152435"/>
                    </a:solidFill>
                  </a:tcPr>
                </a:tc>
                <a:tc>
                  <a:txBody>
                    <a:bodyPr wrap="square"/>
                    <a:lstStyle/>
                    <a:p>
                      <a:r>
                        <a:rPr sz="1300">
                          <a:solidFill>
                            <a:srgbClr val="B0C4DE"/>
                          </a:solidFill>
                          <a:latin typeface="Calibri"/>
                        </a:rPr>
                        <a:t>I – III</a:t>
                      </a:r>
                    </a:p>
                  </a:txBody>
                  <a:tcPr marL="91440" marR="91440" marT="36576" marB="36576" anchor="ctr">
                    <a:solidFill>
                      <a:srgbClr val="152435"/>
                    </a:solidFill>
                  </a:tcPr>
                </a:tc>
              </a:tr>
              <a:tr h="384048">
                <a:tc>
                  <a:txBody>
                    <a:bodyPr wrap="square"/>
                    <a:lstStyle/>
                    <a:p>
                      <a:r>
                        <a:rPr sz="1300">
                          <a:solidFill>
                            <a:srgbClr val="B0C4DE"/>
                          </a:solidFill>
                          <a:latin typeface="Calibri"/>
                        </a:rPr>
                        <a:t>III. Transformaciones</a:t>
                      </a:r>
                    </a:p>
                  </a:txBody>
                  <a:tcPr marL="91440" marR="91440" marT="36576" marB="36576" anchor="ctr">
                    <a:solidFill>
                      <a:srgbClr val="152435"/>
                    </a:solidFill>
                  </a:tcPr>
                </a:tc>
                <a:tc>
                  <a:txBody>
                    <a:bodyPr wrap="square"/>
                    <a:lstStyle/>
                    <a:p>
                      <a:r>
                        <a:rPr sz="1300">
                          <a:solidFill>
                            <a:srgbClr val="B0C4DE"/>
                          </a:solidFill>
                          <a:latin typeface="Calibri"/>
                        </a:rPr>
                        <a:t>IV</a:t>
                      </a:r>
                    </a:p>
                  </a:txBody>
                  <a:tcPr marL="91440" marR="91440" marT="36576" marB="36576" anchor="ctr">
                    <a:solidFill>
                      <a:srgbClr val="152435"/>
                    </a:solidFill>
                  </a:tcPr>
                </a:tc>
                <a:tc>
                  <a:txBody>
                    <a:bodyPr wrap="square"/>
                    <a:lstStyle/>
                    <a:p>
                      <a:r>
                        <a:rPr sz="1300">
                          <a:solidFill>
                            <a:srgbClr val="B0C4DE"/>
                          </a:solidFill>
                          <a:latin typeface="Calibri"/>
                        </a:rPr>
                        <a:t>IV</a:t>
                      </a:r>
                    </a:p>
                  </a:txBody>
                  <a:tcPr marL="91440" marR="91440" marT="36576" marB="36576" anchor="ctr">
                    <a:solidFill>
                      <a:srgbClr val="152435"/>
                    </a:solidFill>
                  </a:tcPr>
                </a:tc>
              </a:tr>
              <a:tr h="384048">
                <a:tc>
                  <a:txBody>
                    <a:bodyPr wrap="square"/>
                    <a:lstStyle/>
                    <a:p>
                      <a:r>
                        <a:rPr sz="1300">
                          <a:solidFill>
                            <a:srgbClr val="B0C4DE"/>
                          </a:solidFill>
                          <a:latin typeface="Calibri"/>
                        </a:rPr>
                        <a:t>IV. Variables derivadas</a:t>
                      </a:r>
                    </a:p>
                  </a:txBody>
                  <a:tcPr marL="91440" marR="91440" marT="36576" marB="36576" anchor="ctr">
                    <a:solidFill>
                      <a:srgbClr val="152435"/>
                    </a:solidFill>
                  </a:tcPr>
                </a:tc>
                <a:tc>
                  <a:txBody>
                    <a:bodyPr wrap="square"/>
                    <a:lstStyle/>
                    <a:p>
                      <a:r>
                        <a:rPr sz="1300">
                          <a:solidFill>
                            <a:srgbClr val="B0C4DE"/>
                          </a:solidFill>
                          <a:latin typeface="Calibri"/>
                        </a:rPr>
                        <a:t>V</a:t>
                      </a:r>
                    </a:p>
                  </a:txBody>
                  <a:tcPr marL="91440" marR="91440" marT="36576" marB="36576" anchor="ctr">
                    <a:solidFill>
                      <a:srgbClr val="152435"/>
                    </a:solidFill>
                  </a:tcPr>
                </a:tc>
                <a:tc>
                  <a:txBody>
                    <a:bodyPr wrap="square"/>
                    <a:lstStyle/>
                    <a:p>
                      <a:r>
                        <a:rPr sz="1300">
                          <a:solidFill>
                            <a:srgbClr val="B0C4DE"/>
                          </a:solidFill>
                          <a:latin typeface="Calibri"/>
                        </a:rPr>
                        <a:t>IV</a:t>
                      </a:r>
                    </a:p>
                  </a:txBody>
                  <a:tcPr marL="91440" marR="91440" marT="36576" marB="36576" anchor="ctr">
                    <a:solidFill>
                      <a:srgbClr val="152435"/>
                    </a:solidFill>
                  </a:tcPr>
                </a:tc>
              </a:tr>
              <a:tr h="384048">
                <a:tc>
                  <a:txBody>
                    <a:bodyPr wrap="square"/>
                    <a:lstStyle/>
                    <a:p>
                      <a:r>
                        <a:rPr sz="1300">
                          <a:solidFill>
                            <a:srgbClr val="B0C4DE"/>
                          </a:solidFill>
                          <a:latin typeface="Calibri"/>
                        </a:rPr>
                        <a:t>V. Selección de características</a:t>
                      </a:r>
                    </a:p>
                  </a:txBody>
                  <a:tcPr marL="91440" marR="91440" marT="36576" marB="36576" anchor="ctr">
                    <a:solidFill>
                      <a:srgbClr val="152435"/>
                    </a:solidFill>
                  </a:tcPr>
                </a:tc>
                <a:tc>
                  <a:txBody>
                    <a:bodyPr wrap="square"/>
                    <a:lstStyle/>
                    <a:p>
                      <a:r>
                        <a:rPr sz="1300">
                          <a:solidFill>
                            <a:srgbClr val="B0C4DE"/>
                          </a:solidFill>
                          <a:latin typeface="Calibri"/>
                        </a:rPr>
                        <a:t>VI</a:t>
                      </a:r>
                    </a:p>
                  </a:txBody>
                  <a:tcPr marL="91440" marR="91440" marT="36576" marB="36576" anchor="ctr">
                    <a:solidFill>
                      <a:srgbClr val="152435"/>
                    </a:solidFill>
                  </a:tcPr>
                </a:tc>
                <a:tc>
                  <a:txBody>
                    <a:bodyPr wrap="square"/>
                    <a:lstStyle/>
                    <a:p>
                      <a:r>
                        <a:rPr sz="1300">
                          <a:solidFill>
                            <a:srgbClr val="B0C4DE"/>
                          </a:solidFill>
                          <a:latin typeface="Calibri"/>
                        </a:rPr>
                        <a:t>V</a:t>
                      </a:r>
                    </a:p>
                  </a:txBody>
                  <a:tcPr marL="91440" marR="91440" marT="36576" marB="36576" anchor="ctr">
                    <a:solidFill>
                      <a:srgbClr val="152435"/>
                    </a:solidFill>
                  </a:tcPr>
                </a:tc>
              </a:tr>
              <a:tr h="384048">
                <a:tc>
                  <a:txBody>
                    <a:bodyPr wrap="square"/>
                    <a:lstStyle/>
                    <a:p>
                      <a:r>
                        <a:rPr sz="1300">
                          <a:solidFill>
                            <a:srgbClr val="B0C4DE"/>
                          </a:solidFill>
                          <a:latin typeface="Calibri"/>
                        </a:rPr>
                        <a:t>VI. Documentación</a:t>
                      </a:r>
                    </a:p>
                  </a:txBody>
                  <a:tcPr marL="91440" marR="91440" marT="36576" marB="36576" anchor="ctr">
                    <a:solidFill>
                      <a:srgbClr val="152435"/>
                    </a:solidFill>
                  </a:tcPr>
                </a:tc>
                <a:tc>
                  <a:txBody>
                    <a:bodyPr wrap="square"/>
                    <a:lstStyle/>
                    <a:p>
                      <a:r>
                        <a:rPr sz="1300">
                          <a:solidFill>
                            <a:srgbClr val="B0C4DE"/>
                          </a:solidFill>
                          <a:latin typeface="Calibri"/>
                        </a:rPr>
                        <a:t>VII</a:t>
                      </a:r>
                    </a:p>
                  </a:txBody>
                  <a:tcPr marL="91440" marR="91440" marT="36576" marB="36576" anchor="ctr">
                    <a:solidFill>
                      <a:srgbClr val="152435"/>
                    </a:solidFill>
                  </a:tcPr>
                </a:tc>
                <a:tc>
                  <a:txBody>
                    <a:bodyPr wrap="square"/>
                    <a:lstStyle/>
                    <a:p>
                      <a:r>
                        <a:rPr sz="1300">
                          <a:solidFill>
                            <a:srgbClr val="B0C4DE"/>
                          </a:solidFill>
                          <a:latin typeface="Calibri"/>
                        </a:rPr>
                        <a:t>Transversal</a:t>
                      </a:r>
                    </a:p>
                  </a:txBody>
                  <a:tcPr marL="91440" marR="91440" marT="36576" marB="36576" anchor="ctr">
                    <a:solidFill>
                      <a:srgbClr val="152435"/>
                    </a:solidFill>
                  </a:tcPr>
                </a:tc>
              </a:tr>
              <a:tr h="384048">
                <a:tc>
                  <a:txBody>
                    <a:bodyPr wrap="square"/>
                    <a:lstStyle/>
                    <a:p>
                      <a:r>
                        <a:rPr sz="1300">
                          <a:solidFill>
                            <a:srgbClr val="B0C4DE"/>
                          </a:solidFill>
                          <a:latin typeface="Calibri"/>
                        </a:rPr>
                        <a:t>VII. Resultados</a:t>
                      </a:r>
                    </a:p>
                  </a:txBody>
                  <a:tcPr marL="91440" marR="91440" marT="36576" marB="36576" anchor="ctr">
                    <a:solidFill>
                      <a:srgbClr val="152435"/>
                    </a:solidFill>
                  </a:tcPr>
                </a:tc>
                <a:tc>
                  <a:txBody>
                    <a:bodyPr wrap="square"/>
                    <a:lstStyle/>
                    <a:p>
                      <a:r>
                        <a:rPr sz="1300">
                          <a:solidFill>
                            <a:srgbClr val="B0C4DE"/>
                          </a:solidFill>
                          <a:latin typeface="Calibri"/>
                        </a:rPr>
                        <a:t>VIII</a:t>
                      </a:r>
                    </a:p>
                  </a:txBody>
                  <a:tcPr marL="91440" marR="91440" marT="36576" marB="36576" anchor="ctr">
                    <a:solidFill>
                      <a:srgbClr val="152435"/>
                    </a:solidFill>
                  </a:tcPr>
                </a:tc>
                <a:tc>
                  <a:txBody>
                    <a:bodyPr wrap="square"/>
                    <a:lstStyle/>
                    <a:p>
                      <a:r>
                        <a:rPr sz="1300">
                          <a:solidFill>
                            <a:srgbClr val="B0C4DE"/>
                          </a:solidFill>
                          <a:latin typeface="Calibri"/>
                        </a:rPr>
                        <a:t>VI</a:t>
                      </a:r>
                    </a:p>
                  </a:txBody>
                  <a:tcPr marL="91440" marR="91440" marT="36576" marB="36576" anchor="ctr">
                    <a:solidFill>
                      <a:srgbClr val="152435"/>
                    </a:solidFill>
                  </a:tcPr>
                </a:tc>
              </a:tr>
              <a:tr h="384048">
                <a:tc>
                  <a:txBody>
                    <a:bodyPr wrap="square"/>
                    <a:lstStyle/>
                    <a:p>
                      <a:r>
                        <a:rPr sz="1300">
                          <a:solidFill>
                            <a:srgbClr val="B0C4DE"/>
                          </a:solidFill>
                          <a:latin typeface="Calibri"/>
                        </a:rPr>
                        <a:t>VIII. Decisiones y limitaciones</a:t>
                      </a:r>
                    </a:p>
                  </a:txBody>
                  <a:tcPr marL="91440" marR="91440" marT="36576" marB="36576" anchor="ctr">
                    <a:solidFill>
                      <a:srgbClr val="152435"/>
                    </a:solidFill>
                  </a:tcPr>
                </a:tc>
                <a:tc>
                  <a:txBody>
                    <a:bodyPr wrap="square"/>
                    <a:lstStyle/>
                    <a:p>
                      <a:r>
                        <a:rPr sz="1300">
                          <a:solidFill>
                            <a:srgbClr val="B0C4DE"/>
                          </a:solidFill>
                          <a:latin typeface="Calibri"/>
                        </a:rPr>
                        <a:t>IX</a:t>
                      </a:r>
                    </a:p>
                  </a:txBody>
                  <a:tcPr marL="91440" marR="91440" marT="36576" marB="36576" anchor="ctr">
                    <a:solidFill>
                      <a:srgbClr val="152435"/>
                    </a:solidFill>
                  </a:tcPr>
                </a:tc>
                <a:tc>
                  <a:txBody>
                    <a:bodyPr wrap="square"/>
                    <a:lstStyle/>
                    <a:p>
                      <a:r>
                        <a:rPr sz="1300">
                          <a:solidFill>
                            <a:srgbClr val="B0C4DE"/>
                          </a:solidFill>
                          <a:latin typeface="Calibri"/>
                        </a:rPr>
                        <a:t>VII</a:t>
                      </a:r>
                    </a:p>
                  </a:txBody>
                  <a:tcPr marL="91440" marR="91440" marT="36576" marB="36576" anchor="ctr">
                    <a:solidFill>
                      <a:srgbClr val="152435"/>
                    </a:solidFill>
                  </a:tcPr>
                </a:tc>
              </a:tr>
            </a:tbl>
          </a:graphicData>
        </a:graphic>
      </p:graphicFrame>
      <p:sp>
        <p:nvSpPr>
          <p:cNvPr id="8" name="Rectangle 7"/>
          <p:cNvSpPr/>
          <p:nvPr/>
        </p:nvSpPr>
        <p:spPr>
          <a:xfrm>
            <a:off x="7680960" y="1280160"/>
            <a:ext cx="4114800" cy="329184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280160"/>
            <a:ext cx="411480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1389888"/>
            <a:ext cx="384048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Cómo quedó registrado</a:t>
            </a:r>
          </a:p>
        </p:txBody>
      </p:sp>
      <p:sp>
        <p:nvSpPr>
          <p:cNvPr id="11" name="TextBox 10"/>
          <p:cNvSpPr txBox="1"/>
          <p:nvPr/>
        </p:nvSpPr>
        <p:spPr>
          <a:xfrm>
            <a:off x="7818120" y="1737360"/>
            <a:ext cx="3886200" cy="2834640"/>
          </a:xfrm>
          <a:prstGeom prst="rect">
            <a:avLst/>
          </a:prstGeom>
          <a:noFill/>
        </p:spPr>
        <p:txBody>
          <a:bodyPr wrap="square" lIns="45720" rIns="45720" tIns="27432" bIns="27432" anchor="t">
            <a:spAutoFit/>
          </a:bodyPr>
          <a:lstStyle/>
          <a:p>
            <a:pPr algn="l" marL="219456" indent="-219456">
              <a:spcAft>
                <a:spcPts val="900"/>
              </a:spcAft>
              <a:buClr>
                <a:srgbClr val="4FC3F7"/>
              </a:buClr>
              <a:buFont typeface="Arial"/>
              <a:buChar char="▸"/>
            </a:pPr>
            <a:r>
              <a:rPr sz="1350" b="0" i="0">
                <a:solidFill>
                  <a:srgbClr val="B0C4DE"/>
                </a:solidFill>
                <a:latin typeface="Calibri"/>
              </a:rPr>
              <a:t>Notebook ejecutado de principio a fin</a:t>
            </a:r>
          </a:p>
          <a:p>
            <a:pPr algn="l" marL="219456" indent="-219456">
              <a:spcAft>
                <a:spcPts val="900"/>
              </a:spcAft>
              <a:buClr>
                <a:srgbClr val="4FC3F7"/>
              </a:buClr>
              <a:buFont typeface="Arial"/>
              <a:buChar char="▸"/>
            </a:pPr>
            <a:r>
              <a:rPr sz="1350" b="0" i="0">
                <a:solidFill>
                  <a:srgbClr val="B0C4DE"/>
                </a:solidFill>
                <a:latin typeface="Calibri"/>
              </a:rPr>
              <a:t>Rutas relativas y semilla fija (RANDOM_STATE = 42)</a:t>
            </a:r>
          </a:p>
          <a:p>
            <a:pPr algn="l" marL="219456" indent="-219456">
              <a:spcAft>
                <a:spcPts val="900"/>
              </a:spcAft>
              <a:buClr>
                <a:srgbClr val="4FC3F7"/>
              </a:buClr>
              <a:buFont typeface="Arial"/>
              <a:buChar char="▸"/>
            </a:pPr>
            <a:r>
              <a:rPr sz="1350" b="0" i="0">
                <a:solidFill>
                  <a:srgbClr val="B0C4DE"/>
                </a:solidFill>
                <a:latin typeface="Calibri"/>
              </a:rPr>
              <a:t>Dependencias en requirements.txt</a:t>
            </a:r>
          </a:p>
          <a:p>
            <a:pPr algn="l" marL="219456" indent="-219456">
              <a:spcAft>
                <a:spcPts val="900"/>
              </a:spcAft>
              <a:buClr>
                <a:srgbClr val="4FC3F7"/>
              </a:buClr>
              <a:buFont typeface="Arial"/>
              <a:buChar char="▸"/>
            </a:pPr>
            <a:r>
              <a:rPr sz="1350" b="0" i="0">
                <a:solidFill>
                  <a:srgbClr val="B0C4DE"/>
                </a:solidFill>
                <a:latin typeface="Calibri"/>
              </a:rPr>
              <a:t>Bitácora de 10 pasos con su efecto en los datos (sección VII)</a:t>
            </a:r>
          </a:p>
          <a:p>
            <a:pPr algn="l" marL="219456" indent="-219456">
              <a:spcAft>
                <a:spcPts val="900"/>
              </a:spcAft>
              <a:buClr>
                <a:srgbClr val="4FC3F7"/>
              </a:buClr>
              <a:buFont typeface="Arial"/>
              <a:buChar char="▸"/>
            </a:pPr>
            <a:r>
              <a:rPr sz="1350" b="0" i="0">
                <a:solidFill>
                  <a:srgbClr val="B0C4DE"/>
                </a:solidFill>
                <a:latin typeface="Calibri"/>
              </a:rPr>
              <a:t>Tabla única de decisiones (VI.4) e inventario de las 36 columnas (VI.5)</a:t>
            </a:r>
          </a:p>
        </p:txBody>
      </p:sp>
      <p:sp>
        <p:nvSpPr>
          <p:cNvPr id="12" name="Rectangle 11"/>
          <p:cNvSpPr/>
          <p:nvPr/>
        </p:nvSpPr>
        <p:spPr>
          <a:xfrm>
            <a:off x="365760" y="4846320"/>
            <a:ext cx="9509760" cy="109728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4892040"/>
            <a:ext cx="9235440" cy="1005839"/>
          </a:xfrm>
          <a:prstGeom prst="rect">
            <a:avLst/>
          </a:prstGeom>
          <a:noFill/>
        </p:spPr>
        <p:txBody>
          <a:bodyPr wrap="square" lIns="45720" rIns="45720" tIns="27432" bIns="27432" anchor="ctr">
            <a:spAutoFit/>
          </a:bodyPr>
          <a:lstStyle/>
          <a:p>
            <a:pPr algn="l">
              <a:spcAft>
                <a:spcPts val="0"/>
              </a:spcAft>
            </a:pPr>
            <a:r>
              <a:rPr sz="1400" b="0" i="1">
                <a:solidFill>
                  <a:srgbClr val="4FC3F7"/>
                </a:solidFill>
                <a:latin typeface="Calibri"/>
              </a:rPr>
              <a:t>El informe sintetiza sin repetir y remite a las secciones del notebook; esta presentación recupera el recorrido completo con énfasis en las decisiones de la Fase 4.</a:t>
            </a:r>
          </a:p>
        </p:txBody>
      </p:sp>
      <p:sp>
        <p:nvSpPr>
          <p:cNvPr id="14"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Valor analítico del cierre</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Qué aporta el pipeline a la comprensión del problema y al modelamiento posterior</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Sebastián Navarrete Soto  ·  Diapositiva 15 / 17</a:t>
            </a:r>
          </a:p>
        </p:txBody>
      </p:sp>
      <p:sp>
        <p:nvSpPr>
          <p:cNvPr id="7" name="Rectangle 6"/>
          <p:cNvSpPr/>
          <p:nvPr/>
        </p:nvSpPr>
        <p:spPr>
          <a:xfrm>
            <a:off x="365760" y="1280160"/>
            <a:ext cx="3657600" cy="333756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80160"/>
            <a:ext cx="365760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389888"/>
            <a:ext cx="338328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Comprensión del problema</a:t>
            </a:r>
          </a:p>
        </p:txBody>
      </p:sp>
      <p:sp>
        <p:nvSpPr>
          <p:cNvPr id="10" name="TextBox 9"/>
          <p:cNvSpPr txBox="1"/>
          <p:nvPr/>
        </p:nvSpPr>
        <p:spPr>
          <a:xfrm>
            <a:off x="502920" y="1783080"/>
            <a:ext cx="3401568" cy="2788920"/>
          </a:xfrm>
          <a:prstGeom prst="rect">
            <a:avLst/>
          </a:prstGeom>
          <a:noFill/>
        </p:spPr>
        <p:txBody>
          <a:bodyPr wrap="square" lIns="45720" rIns="45720" tIns="27432" bIns="27432" anchor="t">
            <a:spAutoFit/>
          </a:bodyPr>
          <a:lstStyle/>
          <a:p>
            <a:pPr algn="l" marL="219456" indent="-219456">
              <a:spcAft>
                <a:spcPts val="1000"/>
              </a:spcAft>
              <a:buClr>
                <a:srgbClr val="4FC3F7"/>
              </a:buClr>
              <a:buFont typeface="Arial"/>
              <a:buChar char="▸"/>
            </a:pPr>
            <a:r>
              <a:rPr sz="1350" b="0" i="0">
                <a:solidFill>
                  <a:srgbClr val="B0C4DE"/>
                </a:solidFill>
                <a:latin typeface="Calibri"/>
              </a:rPr>
              <a:t>La tarifa observada mezcla precio y tamaño de grupo.</a:t>
            </a:r>
          </a:p>
          <a:p>
            <a:pPr algn="l" marL="219456" indent="-219456">
              <a:spcAft>
                <a:spcPts val="1000"/>
              </a:spcAft>
              <a:buClr>
                <a:srgbClr val="4FC3F7"/>
              </a:buClr>
              <a:buFont typeface="Arial"/>
              <a:buChar char="▸"/>
            </a:pPr>
            <a:r>
              <a:rPr sz="1350" b="0" i="0">
                <a:solidFill>
                  <a:srgbClr val="B0C4DE"/>
                </a:solidFill>
                <a:latin typeface="Calibri"/>
              </a:rPr>
              <a:t>El efecto de la clase no es uniforme por sexo: en mujeres solo cae con fuerza en 3.ª clase (92,1 → 50,0 %); en hombres ya es bajo desde la 2.ª (36,9 → 15,7 %).</a:t>
            </a:r>
          </a:p>
          <a:p>
            <a:pPr algn="l" marL="219456" indent="-219456">
              <a:spcAft>
                <a:spcPts val="1000"/>
              </a:spcAft>
              <a:buClr>
                <a:srgbClr val="4FC3F7"/>
              </a:buClr>
              <a:buFont typeface="Arial"/>
              <a:buChar char="▸"/>
            </a:pPr>
            <a:r>
              <a:rPr sz="1350" b="0" i="0">
                <a:solidFill>
                  <a:srgbClr val="B0C4DE"/>
                </a:solidFill>
                <a:latin typeface="Calibri"/>
              </a:rPr>
              <a:t>Señal dominante: sexo × clase, título y tarifa por persona.</a:t>
            </a:r>
          </a:p>
        </p:txBody>
      </p:sp>
      <p:sp>
        <p:nvSpPr>
          <p:cNvPr id="11" name="Rectangle 10"/>
          <p:cNvSpPr/>
          <p:nvPr/>
        </p:nvSpPr>
        <p:spPr>
          <a:xfrm>
            <a:off x="4206240" y="1280160"/>
            <a:ext cx="3657600" cy="333756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280160"/>
            <a:ext cx="3657600" cy="73152"/>
          </a:xfrm>
          <a:prstGeom prst="rect">
            <a:avLst/>
          </a:prstGeom>
          <a:solidFill>
            <a:srgbClr val="81C7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1389888"/>
            <a:ext cx="3383280" cy="347472"/>
          </a:xfrm>
          <a:prstGeom prst="rect">
            <a:avLst/>
          </a:prstGeom>
          <a:noFill/>
        </p:spPr>
        <p:txBody>
          <a:bodyPr wrap="square" lIns="45720" rIns="45720" tIns="27432" bIns="27432" anchor="t">
            <a:spAutoFit/>
          </a:bodyPr>
          <a:lstStyle/>
          <a:p>
            <a:pPr algn="l">
              <a:spcAft>
                <a:spcPts val="0"/>
              </a:spcAft>
            </a:pPr>
            <a:r>
              <a:rPr sz="1250" b="1" i="0">
                <a:solidFill>
                  <a:srgbClr val="81C784"/>
                </a:solidFill>
                <a:latin typeface="Calibri"/>
              </a:rPr>
              <a:t>Etapa de modelamiento</a:t>
            </a:r>
          </a:p>
        </p:txBody>
      </p:sp>
      <p:sp>
        <p:nvSpPr>
          <p:cNvPr id="14" name="TextBox 13"/>
          <p:cNvSpPr txBox="1"/>
          <p:nvPr/>
        </p:nvSpPr>
        <p:spPr>
          <a:xfrm>
            <a:off x="4343400" y="1783080"/>
            <a:ext cx="3401568" cy="2788920"/>
          </a:xfrm>
          <a:prstGeom prst="rect">
            <a:avLst/>
          </a:prstGeom>
          <a:noFill/>
        </p:spPr>
        <p:txBody>
          <a:bodyPr wrap="square" lIns="45720" rIns="45720" tIns="27432" bIns="27432" anchor="t">
            <a:spAutoFit/>
          </a:bodyPr>
          <a:lstStyle/>
          <a:p>
            <a:pPr algn="l" marL="219456" indent="-219456">
              <a:spcAft>
                <a:spcPts val="1000"/>
              </a:spcAft>
              <a:buClr>
                <a:srgbClr val="4FC3F7"/>
              </a:buClr>
              <a:buFont typeface="Arial"/>
              <a:buChar char="▸"/>
            </a:pPr>
            <a:r>
              <a:rPr sz="1350" b="0" i="0">
                <a:solidFill>
                  <a:srgbClr val="B0C4DE"/>
                </a:solidFill>
                <a:latin typeface="Calibri"/>
              </a:rPr>
              <a:t>27 características acotadas, codificadas y escaladas.</a:t>
            </a:r>
          </a:p>
          <a:p>
            <a:pPr algn="l" marL="219456" indent="-219456">
              <a:spcAft>
                <a:spcPts val="1000"/>
              </a:spcAft>
              <a:buClr>
                <a:srgbClr val="4FC3F7"/>
              </a:buClr>
              <a:buFont typeface="Arial"/>
              <a:buChar char="▸"/>
            </a:pPr>
            <a:r>
              <a:rPr sz="1350" b="0" i="0">
                <a:solidFill>
                  <a:srgbClr val="B0C4DE"/>
                </a:solidFill>
                <a:latin typeface="Calibri"/>
              </a:rPr>
              <a:t>Sex_Pclass permite a un modelo lineal capturar un efecto no aditivo.</a:t>
            </a:r>
          </a:p>
          <a:p>
            <a:pPr algn="l" marL="219456" indent="-219456">
              <a:spcAft>
                <a:spcPts val="1000"/>
              </a:spcAft>
              <a:buClr>
                <a:srgbClr val="4FC3F7"/>
              </a:buClr>
              <a:buFont typeface="Arial"/>
              <a:buChar char="▸"/>
            </a:pPr>
            <a:r>
              <a:rPr sz="1350" b="0" i="0">
                <a:solidFill>
                  <a:srgbClr val="B0C4DE"/>
                </a:solidFill>
                <a:latin typeface="Calibri"/>
              </a:rPr>
              <a:t>Líneas base sugeridas: regresión logística regularizada y árboles.</a:t>
            </a:r>
          </a:p>
        </p:txBody>
      </p:sp>
      <p:sp>
        <p:nvSpPr>
          <p:cNvPr id="15" name="Rectangle 14"/>
          <p:cNvSpPr/>
          <p:nvPr/>
        </p:nvSpPr>
        <p:spPr>
          <a:xfrm>
            <a:off x="8046720" y="1280160"/>
            <a:ext cx="3657600" cy="333756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280160"/>
            <a:ext cx="3657600" cy="73152"/>
          </a:xfrm>
          <a:prstGeom prst="rect">
            <a:avLst/>
          </a:prstGeom>
          <a:solidFill>
            <a:srgbClr val="FFB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389888"/>
            <a:ext cx="3383280" cy="347472"/>
          </a:xfrm>
          <a:prstGeom prst="rect">
            <a:avLst/>
          </a:prstGeom>
          <a:noFill/>
        </p:spPr>
        <p:txBody>
          <a:bodyPr wrap="square" lIns="45720" rIns="45720" tIns="27432" bIns="27432" anchor="t">
            <a:spAutoFit/>
          </a:bodyPr>
          <a:lstStyle/>
          <a:p>
            <a:pPr algn="l">
              <a:spcAft>
                <a:spcPts val="0"/>
              </a:spcAft>
            </a:pPr>
            <a:r>
              <a:rPr sz="1250" b="1" i="0">
                <a:solidFill>
                  <a:srgbClr val="FFB74D"/>
                </a:solidFill>
                <a:latin typeface="Calibri"/>
              </a:rPr>
              <a:t>Confianza en el resultado</a:t>
            </a:r>
          </a:p>
        </p:txBody>
      </p:sp>
      <p:sp>
        <p:nvSpPr>
          <p:cNvPr id="18" name="TextBox 17"/>
          <p:cNvSpPr txBox="1"/>
          <p:nvPr/>
        </p:nvSpPr>
        <p:spPr>
          <a:xfrm>
            <a:off x="8183880" y="1783080"/>
            <a:ext cx="3401568" cy="2788920"/>
          </a:xfrm>
          <a:prstGeom prst="rect">
            <a:avLst/>
          </a:prstGeom>
          <a:noFill/>
        </p:spPr>
        <p:txBody>
          <a:bodyPr wrap="square" lIns="45720" rIns="45720" tIns="27432" bIns="27432" anchor="t">
            <a:spAutoFit/>
          </a:bodyPr>
          <a:lstStyle/>
          <a:p>
            <a:pPr algn="l" marL="219456" indent="-219456">
              <a:spcAft>
                <a:spcPts val="1000"/>
              </a:spcAft>
              <a:buClr>
                <a:srgbClr val="4FC3F7"/>
              </a:buClr>
              <a:buFont typeface="Arial"/>
              <a:buChar char="▸"/>
            </a:pPr>
            <a:r>
              <a:rPr sz="1350" b="0" i="0">
                <a:solidFill>
                  <a:srgbClr val="B0C4DE"/>
                </a:solidFill>
                <a:latin typeface="Calibri"/>
              </a:rPr>
              <a:t>Sin colinealidad exacta (rango completo); la redundancia parcial queda documentada.</a:t>
            </a:r>
          </a:p>
          <a:p>
            <a:pPr algn="l" marL="219456" indent="-219456">
              <a:spcAft>
                <a:spcPts val="1000"/>
              </a:spcAft>
              <a:buClr>
                <a:srgbClr val="4FC3F7"/>
              </a:buClr>
              <a:buFont typeface="Arial"/>
              <a:buChar char="▸"/>
            </a:pPr>
            <a:r>
              <a:rPr sz="1350" b="0" i="0">
                <a:solidFill>
                  <a:srgbClr val="B0C4DE"/>
                </a:solidFill>
                <a:latin typeface="Calibri"/>
              </a:rPr>
              <a:t>Sin fuga hacia el objetivo en la construcción de las variables.</a:t>
            </a:r>
          </a:p>
          <a:p>
            <a:pPr algn="l" marL="219456" indent="-219456">
              <a:spcAft>
                <a:spcPts val="1000"/>
              </a:spcAft>
              <a:buClr>
                <a:srgbClr val="4FC3F7"/>
              </a:buClr>
              <a:buFont typeface="Arial"/>
              <a:buChar char="▸"/>
            </a:pPr>
            <a:r>
              <a:rPr sz="1350" b="0" i="0">
                <a:solidFill>
                  <a:srgbClr val="B0C4DE"/>
                </a:solidFill>
                <a:latin typeface="Calibri"/>
              </a:rPr>
              <a:t>Cada decisión respaldada por evidencia: test de razón de verosimilitudes y estabilidad de MI.</a:t>
            </a:r>
          </a:p>
        </p:txBody>
      </p:sp>
      <p:sp>
        <p:nvSpPr>
          <p:cNvPr id="19" name="Rectangle 18"/>
          <p:cNvSpPr/>
          <p:nvPr/>
        </p:nvSpPr>
        <p:spPr>
          <a:xfrm>
            <a:off x="365760" y="4846320"/>
            <a:ext cx="9509760" cy="109728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892040"/>
            <a:ext cx="9235440" cy="1005839"/>
          </a:xfrm>
          <a:prstGeom prst="rect">
            <a:avLst/>
          </a:prstGeom>
          <a:noFill/>
        </p:spPr>
        <p:txBody>
          <a:bodyPr wrap="square" lIns="45720" rIns="45720" tIns="27432" bIns="27432" anchor="ctr">
            <a:spAutoFit/>
          </a:bodyPr>
          <a:lstStyle/>
          <a:p>
            <a:pPr algn="l">
              <a:spcAft>
                <a:spcPts val="0"/>
              </a:spcAft>
            </a:pPr>
            <a:r>
              <a:rPr sz="1400" b="0" i="1">
                <a:solidFill>
                  <a:srgbClr val="4FC3F7"/>
                </a:solidFill>
                <a:latin typeface="Calibri"/>
              </a:rPr>
              <a:t>Próximo paso natural: entrenar modelos de línea base con validación cruzada, ajustando el escalado y la codificación solo con los datos de entrenamiento.</a:t>
            </a:r>
          </a:p>
        </p:txBody>
      </p:sp>
      <p:sp>
        <p:nvSpPr>
          <p:cNvPr id="21"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0607040" cy="640080"/>
          </a:xfrm>
          <a:prstGeom prst="rect">
            <a:avLst/>
          </a:prstGeom>
          <a:noFill/>
        </p:spPr>
        <p:txBody>
          <a:bodyPr wrap="square" lIns="45720" rIns="45720" tIns="27432" bIns="27432" anchor="t">
            <a:spAutoFit/>
          </a:bodyPr>
          <a:lstStyle/>
          <a:p>
            <a:pPr algn="l">
              <a:spcAft>
                <a:spcPts val="0"/>
              </a:spcAft>
            </a:pPr>
            <a:r>
              <a:rPr sz="2400" b="0" i="0">
                <a:solidFill>
                  <a:srgbClr val="E0E6F0"/>
                </a:solidFill>
                <a:latin typeface="Calibri Light"/>
              </a:rPr>
              <a:t>Supuestos y limitaciones</a:t>
            </a:r>
          </a:p>
        </p:txBody>
      </p:sp>
      <p:sp>
        <p:nvSpPr>
          <p:cNvPr id="4" name="TextBox 3"/>
          <p:cNvSpPr txBox="1"/>
          <p:nvPr/>
        </p:nvSpPr>
        <p:spPr>
          <a:xfrm>
            <a:off x="365760" y="804672"/>
            <a:ext cx="10607040" cy="292608"/>
          </a:xfrm>
          <a:prstGeom prst="rect">
            <a:avLst/>
          </a:prstGeom>
          <a:noFill/>
        </p:spPr>
        <p:txBody>
          <a:bodyPr wrap="square" lIns="45720" rIns="45720" tIns="27432" bIns="27432" anchor="t">
            <a:spAutoFit/>
          </a:bodyPr>
          <a:lstStyle/>
          <a:p>
            <a:pPr algn="l">
              <a:spcAft>
                <a:spcPts val="0"/>
              </a:spcAft>
            </a:pPr>
            <a:r>
              <a:rPr sz="1150" b="0" i="0">
                <a:solidFill>
                  <a:srgbClr val="4FC3F7"/>
                </a:solidFill>
                <a:latin typeface="Calibri"/>
              </a:rPr>
              <a:t>Lo que asumimos y lo que no podemos afirmar</a:t>
            </a:r>
          </a:p>
        </p:txBody>
      </p:sp>
      <p:sp>
        <p:nvSpPr>
          <p:cNvPr id="5" name="Rectangle 4"/>
          <p:cNvSpPr/>
          <p:nvPr/>
        </p:nvSpPr>
        <p:spPr>
          <a:xfrm>
            <a:off x="0" y="1097280"/>
            <a:ext cx="12191695" cy="27432"/>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92240"/>
            <a:ext cx="9326880" cy="292608"/>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Sebastián Navarrete Soto  ·  Diapositiva 16 / 17</a:t>
            </a:r>
          </a:p>
        </p:txBody>
      </p:sp>
      <p:sp>
        <p:nvSpPr>
          <p:cNvPr id="7" name="Rectangle 6"/>
          <p:cNvSpPr/>
          <p:nvPr/>
        </p:nvSpPr>
        <p:spPr>
          <a:xfrm>
            <a:off x="365760" y="1280160"/>
            <a:ext cx="5577840" cy="333756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80160"/>
            <a:ext cx="5577840" cy="7315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389888"/>
            <a:ext cx="5303520" cy="347472"/>
          </a:xfrm>
          <a:prstGeom prst="rect">
            <a:avLst/>
          </a:prstGeom>
          <a:noFill/>
        </p:spPr>
        <p:txBody>
          <a:bodyPr wrap="square" lIns="45720" rIns="45720" tIns="27432" bIns="27432" anchor="t">
            <a:spAutoFit/>
          </a:bodyPr>
          <a:lstStyle/>
          <a:p>
            <a:pPr algn="l">
              <a:spcAft>
                <a:spcPts val="0"/>
              </a:spcAft>
            </a:pPr>
            <a:r>
              <a:rPr sz="1250" b="1" i="0">
                <a:solidFill>
                  <a:srgbClr val="4FC3F7"/>
                </a:solidFill>
                <a:latin typeface="Calibri"/>
              </a:rPr>
              <a:t>Supuestos</a:t>
            </a:r>
          </a:p>
        </p:txBody>
      </p:sp>
      <p:sp>
        <p:nvSpPr>
          <p:cNvPr id="10" name="TextBox 9"/>
          <p:cNvSpPr txBox="1"/>
          <p:nvPr/>
        </p:nvSpPr>
        <p:spPr>
          <a:xfrm>
            <a:off x="502920" y="1783080"/>
            <a:ext cx="5349240" cy="2788920"/>
          </a:xfrm>
          <a:prstGeom prst="rect">
            <a:avLst/>
          </a:prstGeom>
          <a:noFill/>
        </p:spPr>
        <p:txBody>
          <a:bodyPr wrap="square" lIns="45720" rIns="45720" tIns="27432" bIns="27432" anchor="t">
            <a:spAutoFit/>
          </a:bodyPr>
          <a:lstStyle/>
          <a:p>
            <a:pPr algn="l" marL="219456" indent="-219456">
              <a:spcAft>
                <a:spcPts val="1000"/>
              </a:spcAft>
              <a:buClr>
                <a:srgbClr val="4FC3F7"/>
              </a:buClr>
              <a:buFont typeface="Arial"/>
              <a:buChar char="▸"/>
            </a:pPr>
            <a:r>
              <a:rPr sz="1400" b="0" i="0">
                <a:solidFill>
                  <a:srgbClr val="B0C4DE"/>
                </a:solidFill>
                <a:latin typeface="Calibri"/>
              </a:rPr>
              <a:t>Los 15 registros con Fare = 0 (todos varones) son un valor legítimo del dominio, quizá personal de la naviera; no es verificable con estos datos.</a:t>
            </a:r>
          </a:p>
          <a:p>
            <a:pPr algn="l" marL="219456" indent="-219456">
              <a:spcAft>
                <a:spcPts val="1000"/>
              </a:spcAft>
              <a:buClr>
                <a:srgbClr val="4FC3F7"/>
              </a:buClr>
              <a:buFont typeface="Arial"/>
              <a:buChar char="▸"/>
            </a:pPr>
            <a:r>
              <a:rPr sz="1400" b="0" i="0">
                <a:solidFill>
                  <a:srgbClr val="B0C4DE"/>
                </a:solidFill>
                <a:latin typeface="Calibri"/>
              </a:rPr>
              <a:t>Los criterios usados bastan para una selección preliminar, que debe revalidarse con el desempeño de un modelo real (en particular el descarte de Age_clean).</a:t>
            </a:r>
          </a:p>
          <a:p>
            <a:pPr algn="l" marL="219456" indent="-219456">
              <a:spcAft>
                <a:spcPts val="1000"/>
              </a:spcAft>
              <a:buClr>
                <a:srgbClr val="4FC3F7"/>
              </a:buClr>
              <a:buFont typeface="Arial"/>
              <a:buChar char="▸"/>
            </a:pPr>
            <a:r>
              <a:rPr sz="1400" b="0" i="0">
                <a:solidFill>
                  <a:srgbClr val="B0C4DE"/>
                </a:solidFill>
                <a:latin typeface="Calibri"/>
              </a:rPr>
              <a:t>El one-hot es adecuado con 891 filas.</a:t>
            </a:r>
          </a:p>
        </p:txBody>
      </p:sp>
      <p:sp>
        <p:nvSpPr>
          <p:cNvPr id="11" name="Rectangle 10"/>
          <p:cNvSpPr/>
          <p:nvPr/>
        </p:nvSpPr>
        <p:spPr>
          <a:xfrm>
            <a:off x="6126480" y="1280160"/>
            <a:ext cx="5669280" cy="333756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1280160"/>
            <a:ext cx="5669280" cy="73152"/>
          </a:xfrm>
          <a:prstGeom prst="rect">
            <a:avLst/>
          </a:prstGeom>
          <a:solidFill>
            <a:srgbClr val="EF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389888"/>
            <a:ext cx="5394960" cy="347472"/>
          </a:xfrm>
          <a:prstGeom prst="rect">
            <a:avLst/>
          </a:prstGeom>
          <a:noFill/>
        </p:spPr>
        <p:txBody>
          <a:bodyPr wrap="square" lIns="45720" rIns="45720" tIns="27432" bIns="27432" anchor="t">
            <a:spAutoFit/>
          </a:bodyPr>
          <a:lstStyle/>
          <a:p>
            <a:pPr algn="l">
              <a:spcAft>
                <a:spcPts val="0"/>
              </a:spcAft>
            </a:pPr>
            <a:r>
              <a:rPr sz="1250" b="1" i="0">
                <a:solidFill>
                  <a:srgbClr val="EF9A9A"/>
                </a:solidFill>
                <a:latin typeface="Calibri"/>
              </a:rPr>
              <a:t>Limitaciones</a:t>
            </a:r>
          </a:p>
        </p:txBody>
      </p:sp>
      <p:sp>
        <p:nvSpPr>
          <p:cNvPr id="14" name="TextBox 13"/>
          <p:cNvSpPr txBox="1"/>
          <p:nvPr/>
        </p:nvSpPr>
        <p:spPr>
          <a:xfrm>
            <a:off x="6263640" y="1783080"/>
            <a:ext cx="5440680" cy="2788920"/>
          </a:xfrm>
          <a:prstGeom prst="rect">
            <a:avLst/>
          </a:prstGeom>
          <a:noFill/>
        </p:spPr>
        <p:txBody>
          <a:bodyPr wrap="square" lIns="45720" rIns="45720" tIns="27432" bIns="27432" anchor="t">
            <a:spAutoFit/>
          </a:bodyPr>
          <a:lstStyle/>
          <a:p>
            <a:pPr algn="l" marL="219456" indent="-219456">
              <a:spcAft>
                <a:spcPts val="1000"/>
              </a:spcAft>
              <a:buClr>
                <a:srgbClr val="4FC3F7"/>
              </a:buClr>
              <a:buFont typeface="Arial"/>
              <a:buChar char="▸"/>
            </a:pPr>
            <a:r>
              <a:rPr sz="1400" b="0" i="0">
                <a:solidFill>
                  <a:srgbClr val="B0C4DE"/>
                </a:solidFill>
                <a:latin typeface="Calibri"/>
              </a:rPr>
              <a:t>Deck_combinado es ~77 % «Desconocida» (categoría explícita, no imputada).</a:t>
            </a:r>
          </a:p>
          <a:p>
            <a:pPr algn="l" marL="219456" indent="-219456">
              <a:spcAft>
                <a:spcPts val="1000"/>
              </a:spcAft>
              <a:buClr>
                <a:srgbClr val="4FC3F7"/>
              </a:buClr>
              <a:buFont typeface="Arial"/>
              <a:buChar char="▸"/>
            </a:pPr>
            <a:r>
              <a:rPr sz="1400" b="0" i="0">
                <a:solidFill>
                  <a:srgbClr val="B0C4DE"/>
                </a:solidFill>
                <a:latin typeface="Calibri"/>
              </a:rPr>
              <a:t>Persiste redundancia parcial entre Title_agrupado y Sex_Pclass (R² ≈ 0,99).</a:t>
            </a:r>
          </a:p>
          <a:p>
            <a:pPr algn="l" marL="219456" indent="-219456">
              <a:spcAft>
                <a:spcPts val="1000"/>
              </a:spcAft>
              <a:buClr>
                <a:srgbClr val="4FC3F7"/>
              </a:buClr>
              <a:buFont typeface="Arial"/>
              <a:buChar char="▸"/>
            </a:pPr>
            <a:r>
              <a:rPr sz="1400" b="0" i="0">
                <a:solidFill>
                  <a:srgbClr val="B0C4DE"/>
                </a:solidFill>
                <a:latin typeface="Calibri"/>
              </a:rPr>
              <a:t>La evidencia de relevancia es univariada: no descarta otras interacciones.</a:t>
            </a:r>
          </a:p>
          <a:p>
            <a:pPr algn="l" marL="219456" indent="-219456">
              <a:spcAft>
                <a:spcPts val="1000"/>
              </a:spcAft>
              <a:buClr>
                <a:srgbClr val="4FC3F7"/>
              </a:buClr>
              <a:buFont typeface="Arial"/>
              <a:buChar char="▸"/>
            </a:pPr>
            <a:r>
              <a:rPr sz="1400" b="0" i="0">
                <a:solidFill>
                  <a:srgbClr val="B0C4DE"/>
                </a:solidFill>
                <a:latin typeface="Calibri"/>
              </a:rPr>
              <a:t>Con 891 casos, los subgrupos pequeños son frágiles.</a:t>
            </a:r>
          </a:p>
          <a:p>
            <a:pPr algn="l" marL="219456" indent="-219456">
              <a:spcAft>
                <a:spcPts val="1000"/>
              </a:spcAft>
              <a:buClr>
                <a:srgbClr val="4FC3F7"/>
              </a:buClr>
              <a:buFont typeface="Arial"/>
              <a:buChar char="▸"/>
            </a:pPr>
            <a:r>
              <a:rPr sz="1400" b="1" i="0">
                <a:solidFill>
                  <a:srgbClr val="E0E6F0"/>
                </a:solidFill>
                <a:latin typeface="Calibri"/>
              </a:rPr>
              <a:t>Fuga por ajuste: </a:t>
            </a:r>
            <a:r>
              <a:rPr sz="1400" b="0" i="0">
                <a:solidFill>
                  <a:srgbClr val="B0C4DE"/>
                </a:solidFill>
                <a:latin typeface="Calibri"/>
              </a:rPr>
              <a:t>RobustScaler y one-hot se ajustaron con los 891 registros; al modelar, solo con los de entrenamiento.</a:t>
            </a:r>
          </a:p>
        </p:txBody>
      </p:sp>
      <p:sp>
        <p:nvSpPr>
          <p:cNvPr id="15" name="Rectangle 14"/>
          <p:cNvSpPr/>
          <p:nvPr/>
        </p:nvSpPr>
        <p:spPr>
          <a:xfrm>
            <a:off x="365760" y="4846320"/>
            <a:ext cx="9509760" cy="1097280"/>
          </a:xfrm>
          <a:prstGeom prst="rect">
            <a:avLst/>
          </a:prstGeom>
          <a:solidFill>
            <a:srgbClr val="12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892040"/>
            <a:ext cx="9235440" cy="1005839"/>
          </a:xfrm>
          <a:prstGeom prst="rect">
            <a:avLst/>
          </a:prstGeom>
          <a:noFill/>
        </p:spPr>
        <p:txBody>
          <a:bodyPr wrap="square" lIns="45720" rIns="45720" tIns="27432" bIns="27432" anchor="ctr">
            <a:spAutoFit/>
          </a:bodyPr>
          <a:lstStyle/>
          <a:p>
            <a:pPr algn="l">
              <a:spcAft>
                <a:spcPts val="0"/>
              </a:spcAft>
            </a:pPr>
            <a:r>
              <a:rPr sz="1400" b="0" i="1">
                <a:solidFill>
                  <a:srgbClr val="4FC3F7"/>
                </a:solidFill>
                <a:latin typeface="Calibri"/>
              </a:rPr>
              <a:t>Recomendación: encapsular el preprocesamiento en un Pipeline de scikit-learn dentro de la validación cruzada para evitar fuga de información entre entrenamiento y prueba.</a:t>
            </a:r>
          </a:p>
        </p:txBody>
      </p:sp>
      <p:sp>
        <p:nvSpPr>
          <p:cNvPr id="17"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 y="0"/>
            <a:ext cx="36576" cy="6858000"/>
          </a:xfrm>
          <a:prstGeom prst="rect">
            <a:avLst/>
          </a:prstGeom>
          <a:solidFill>
            <a:srgbClr val="2A3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006840" y="0"/>
            <a:ext cx="3184855" cy="6858000"/>
          </a:xfrm>
          <a:prstGeom prst="rect">
            <a:avLst/>
          </a:prstGeom>
          <a:solidFill>
            <a:srgbClr val="152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98280" y="1554480"/>
            <a:ext cx="2926080" cy="2377440"/>
          </a:xfrm>
          <a:prstGeom prst="rect">
            <a:avLst/>
          </a:prstGeom>
          <a:noFill/>
        </p:spPr>
        <p:txBody>
          <a:bodyPr wrap="square" lIns="45720" rIns="45720" tIns="27432" bIns="27432" anchor="ctr">
            <a:spAutoFit/>
          </a:bodyPr>
          <a:lstStyle/>
          <a:p>
            <a:pPr algn="ctr">
              <a:spcAft>
                <a:spcPts val="0"/>
              </a:spcAft>
            </a:pPr>
            <a:r>
              <a:rPr sz="2400" b="0" i="0">
                <a:solidFill>
                  <a:srgbClr val="4FC3F7"/>
                </a:solidFill>
                <a:latin typeface="Calibri Light"/>
              </a:rPr>
              <a:t>MCDI503</a:t>
            </a:r>
          </a:p>
          <a:p>
            <a:pPr algn="ctr">
              <a:spcAft>
                <a:spcPts val="0"/>
              </a:spcAft>
            </a:pPr>
            <a:r>
              <a:rPr sz="2400" b="0" i="0">
                <a:solidFill>
                  <a:srgbClr val="4FC3F7"/>
                </a:solidFill>
                <a:latin typeface="Calibri Light"/>
              </a:rPr>
              <a:t>Grupo 5</a:t>
            </a:r>
          </a:p>
          <a:p>
            <a:pPr algn="ctr">
              <a:spcAft>
                <a:spcPts val="0"/>
              </a:spcAft>
            </a:pPr>
            <a:r>
              <a:rPr sz="2400" b="0" i="0">
                <a:solidFill>
                  <a:srgbClr val="4FC3F7"/>
                </a:solidFill>
                <a:latin typeface="Calibri Light"/>
              </a:rPr>
              <a:t>2026</a:t>
            </a:r>
          </a:p>
        </p:txBody>
      </p:sp>
      <p:sp>
        <p:nvSpPr>
          <p:cNvPr id="7" name="TextBox 6"/>
          <p:cNvSpPr txBox="1"/>
          <p:nvPr/>
        </p:nvSpPr>
        <p:spPr>
          <a:xfrm>
            <a:off x="411480" y="548640"/>
            <a:ext cx="8321040" cy="502920"/>
          </a:xfrm>
          <a:prstGeom prst="rect">
            <a:avLst/>
          </a:prstGeom>
          <a:noFill/>
        </p:spPr>
        <p:txBody>
          <a:bodyPr wrap="square" lIns="45720" rIns="45720" tIns="27432" bIns="27432" anchor="t">
            <a:spAutoFit/>
          </a:bodyPr>
          <a:lstStyle/>
          <a:p>
            <a:pPr algn="l">
              <a:spcAft>
                <a:spcPts val="0"/>
              </a:spcAft>
            </a:pPr>
            <a:r>
              <a:rPr sz="1400" b="1" i="0">
                <a:solidFill>
                  <a:srgbClr val="4FC3F7"/>
                </a:solidFill>
                <a:latin typeface="Calibri"/>
              </a:rPr>
              <a:t>Síntesis del estudio</a:t>
            </a:r>
          </a:p>
        </p:txBody>
      </p:sp>
      <p:sp>
        <p:nvSpPr>
          <p:cNvPr id="8" name="TextBox 7"/>
          <p:cNvSpPr txBox="1"/>
          <p:nvPr/>
        </p:nvSpPr>
        <p:spPr>
          <a:xfrm>
            <a:off x="420624" y="1097280"/>
            <a:ext cx="8412480" cy="2468880"/>
          </a:xfrm>
          <a:prstGeom prst="rect">
            <a:avLst/>
          </a:prstGeom>
          <a:noFill/>
        </p:spPr>
        <p:txBody>
          <a:bodyPr wrap="square" lIns="45720" rIns="45720" tIns="27432" bIns="27432" anchor="t">
            <a:spAutoFit/>
          </a:bodyPr>
          <a:lstStyle/>
          <a:p>
            <a:pPr algn="l">
              <a:lnSpc>
                <a:spcPct val="105000"/>
              </a:lnSpc>
              <a:spcAft>
                <a:spcPts val="0"/>
              </a:spcAft>
            </a:pPr>
            <a:r>
              <a:rPr sz="1900" b="0" i="0">
                <a:solidFill>
                  <a:srgbClr val="E0E6F0"/>
                </a:solidFill>
                <a:latin typeface="Calibri Light"/>
              </a:rPr>
              <a:t>Partimos de un dataset ya limpio y, con un pipeline reproducible, obtuvimos 27 características justificadas para predecir la supervivencia en el Titanic. Las transformaciones nacieron de hallazgos concretos (atípicos de tarifa, tickets compartidos, interacción sexo × clase) y la selección se apoyó en criterios explícitos y evidencia estadística.</a:t>
            </a:r>
          </a:p>
        </p:txBody>
      </p:sp>
      <p:sp>
        <p:nvSpPr>
          <p:cNvPr id="9" name="Rectangle 8"/>
          <p:cNvSpPr/>
          <p:nvPr/>
        </p:nvSpPr>
        <p:spPr>
          <a:xfrm>
            <a:off x="411480" y="3703320"/>
            <a:ext cx="6995160" cy="45720"/>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3840480"/>
            <a:ext cx="3657600" cy="365760"/>
          </a:xfrm>
          <a:prstGeom prst="rect">
            <a:avLst/>
          </a:prstGeom>
          <a:noFill/>
        </p:spPr>
        <p:txBody>
          <a:bodyPr wrap="square" lIns="45720" rIns="45720" tIns="27432" bIns="27432" anchor="t">
            <a:spAutoFit/>
          </a:bodyPr>
          <a:lstStyle/>
          <a:p>
            <a:pPr algn="l">
              <a:spcAft>
                <a:spcPts val="0"/>
              </a:spcAft>
            </a:pPr>
            <a:r>
              <a:rPr sz="1300" b="1" i="0">
                <a:solidFill>
                  <a:srgbClr val="4FC3F7"/>
                </a:solidFill>
                <a:latin typeface="Calibri"/>
              </a:rPr>
              <a:t>Integrantes</a:t>
            </a:r>
          </a:p>
        </p:txBody>
      </p:sp>
      <p:sp>
        <p:nvSpPr>
          <p:cNvPr id="11" name="TextBox 10"/>
          <p:cNvSpPr txBox="1"/>
          <p:nvPr/>
        </p:nvSpPr>
        <p:spPr>
          <a:xfrm>
            <a:off x="411480" y="4251960"/>
            <a:ext cx="4206240" cy="1371600"/>
          </a:xfrm>
          <a:prstGeom prst="rect">
            <a:avLst/>
          </a:prstGeom>
          <a:noFill/>
        </p:spPr>
        <p:txBody>
          <a:bodyPr wrap="square" lIns="45720" rIns="45720" tIns="27432" bIns="27432" anchor="t">
            <a:spAutoFit/>
          </a:bodyPr>
          <a:lstStyle/>
          <a:p>
            <a:pPr algn="l">
              <a:spcAft>
                <a:spcPts val="300"/>
              </a:spcAft>
            </a:pPr>
            <a:r>
              <a:rPr sz="1300" b="0" i="0">
                <a:solidFill>
                  <a:srgbClr val="B0C4DE"/>
                </a:solidFill>
                <a:latin typeface="Calibri"/>
              </a:rPr>
              <a:t>Arturo Knopke Vera</a:t>
            </a:r>
          </a:p>
          <a:p>
            <a:pPr algn="l">
              <a:spcAft>
                <a:spcPts val="300"/>
              </a:spcAft>
            </a:pPr>
            <a:r>
              <a:rPr sz="1300" b="0" i="0">
                <a:solidFill>
                  <a:srgbClr val="B0C4DE"/>
                </a:solidFill>
                <a:latin typeface="Calibri"/>
              </a:rPr>
              <a:t>Nicolás Soletic Cobos</a:t>
            </a:r>
          </a:p>
          <a:p>
            <a:pPr algn="l">
              <a:spcAft>
                <a:spcPts val="300"/>
              </a:spcAft>
            </a:pPr>
            <a:r>
              <a:rPr sz="1300" b="0" i="0">
                <a:solidFill>
                  <a:srgbClr val="B0C4DE"/>
                </a:solidFill>
                <a:latin typeface="Calibri"/>
              </a:rPr>
              <a:t>Roberto Moncada González</a:t>
            </a:r>
          </a:p>
          <a:p>
            <a:pPr algn="l">
              <a:spcAft>
                <a:spcPts val="300"/>
              </a:spcAft>
            </a:pPr>
            <a:r>
              <a:rPr sz="1300" b="0" i="0">
                <a:solidFill>
                  <a:srgbClr val="B0C4DE"/>
                </a:solidFill>
                <a:latin typeface="Calibri"/>
              </a:rPr>
              <a:t>Sebastián Navarrete Soto</a:t>
            </a:r>
          </a:p>
        </p:txBody>
      </p:sp>
      <p:sp>
        <p:nvSpPr>
          <p:cNvPr id="12" name="TextBox 11"/>
          <p:cNvSpPr txBox="1"/>
          <p:nvPr/>
        </p:nvSpPr>
        <p:spPr>
          <a:xfrm>
            <a:off x="4572000" y="3840480"/>
            <a:ext cx="4297680" cy="365760"/>
          </a:xfrm>
          <a:prstGeom prst="rect">
            <a:avLst/>
          </a:prstGeom>
          <a:noFill/>
        </p:spPr>
        <p:txBody>
          <a:bodyPr wrap="square" lIns="45720" rIns="45720" tIns="27432" bIns="27432" anchor="t">
            <a:spAutoFit/>
          </a:bodyPr>
          <a:lstStyle/>
          <a:p>
            <a:pPr algn="l">
              <a:spcAft>
                <a:spcPts val="0"/>
              </a:spcAft>
            </a:pPr>
            <a:r>
              <a:rPr sz="1300" b="1" i="0">
                <a:solidFill>
                  <a:srgbClr val="4FC3F7"/>
                </a:solidFill>
                <a:latin typeface="Calibri"/>
              </a:rPr>
              <a:t>Repositorio</a:t>
            </a:r>
          </a:p>
        </p:txBody>
      </p:sp>
      <p:sp>
        <p:nvSpPr>
          <p:cNvPr id="13" name="TextBox 12"/>
          <p:cNvSpPr txBox="1"/>
          <p:nvPr/>
        </p:nvSpPr>
        <p:spPr>
          <a:xfrm>
            <a:off x="4572000" y="4251960"/>
            <a:ext cx="4297680" cy="1371600"/>
          </a:xfrm>
          <a:prstGeom prst="rect">
            <a:avLst/>
          </a:prstGeom>
          <a:noFill/>
        </p:spPr>
        <p:txBody>
          <a:bodyPr wrap="square" lIns="45720" rIns="45720" tIns="27432" bIns="27432" anchor="t">
            <a:spAutoFit/>
          </a:bodyPr>
          <a:lstStyle/>
          <a:p>
            <a:pPr algn="l">
              <a:spcAft>
                <a:spcPts val="200"/>
              </a:spcAft>
            </a:pPr>
            <a:r>
              <a:rPr sz="1200" b="0" i="0">
                <a:solidFill>
                  <a:srgbClr val="B0C4DE"/>
                </a:solidFill>
                <a:latin typeface="Calibri"/>
              </a:rPr>
              <a:t>github.com/robertomoncada-blip/</a:t>
            </a:r>
          </a:p>
          <a:p>
            <a:pPr algn="l">
              <a:spcAft>
                <a:spcPts val="200"/>
              </a:spcAft>
            </a:pPr>
            <a:r>
              <a:rPr sz="1200" b="0" i="0">
                <a:solidFill>
                  <a:srgbClr val="B0C4DE"/>
                </a:solidFill>
                <a:latin typeface="Calibri"/>
              </a:rPr>
              <a:t>Magister_ciencia_datos</a:t>
            </a:r>
          </a:p>
          <a:p>
            <a:pPr algn="l">
              <a:spcAft>
                <a:spcPts val="200"/>
              </a:spcAft>
            </a:pPr>
            <a:r>
              <a:rPr sz="1200" b="0" i="0">
                <a:solidFill>
                  <a:srgbClr val="B0C4DE"/>
                </a:solidFill>
                <a:latin typeface="Calibri"/>
              </a:rPr>
              <a:t>carpeta MCDI503 (notebook, informe y datos)</a:t>
            </a:r>
          </a:p>
        </p:txBody>
      </p:sp>
      <p:sp>
        <p:nvSpPr>
          <p:cNvPr id="14" name="TextBox 13"/>
          <p:cNvSpPr txBox="1"/>
          <p:nvPr/>
        </p:nvSpPr>
        <p:spPr>
          <a:xfrm>
            <a:off x="411480" y="5760720"/>
            <a:ext cx="8321040" cy="585216"/>
          </a:xfrm>
          <a:prstGeom prst="rect">
            <a:avLst/>
          </a:prstGeom>
          <a:noFill/>
        </p:spPr>
        <p:txBody>
          <a:bodyPr wrap="square" lIns="45720" rIns="45720" tIns="27432" bIns="27432" anchor="t">
            <a:spAutoFit/>
          </a:bodyPr>
          <a:lstStyle/>
          <a:p>
            <a:pPr algn="l">
              <a:spcAft>
                <a:spcPts val="0"/>
              </a:spcAft>
            </a:pPr>
            <a:r>
              <a:rPr sz="2800" b="0" i="0">
                <a:solidFill>
                  <a:srgbClr val="E0E6F0"/>
                </a:solidFill>
                <a:latin typeface="Calibri Light"/>
              </a:rPr>
              <a:t>Gracias.</a:t>
            </a:r>
          </a:p>
        </p:txBody>
      </p:sp>
      <p:sp>
        <p:nvSpPr>
          <p:cNvPr id="15" name="TextBox 14"/>
          <p:cNvSpPr txBox="1"/>
          <p:nvPr/>
        </p:nvSpPr>
        <p:spPr>
          <a:xfrm>
            <a:off x="365760" y="6492240"/>
            <a:ext cx="8229600" cy="274320"/>
          </a:xfrm>
          <a:prstGeom prst="rect">
            <a:avLst/>
          </a:prstGeom>
          <a:noFill/>
        </p:spPr>
        <p:txBody>
          <a:bodyPr wrap="square" lIns="45720" rIns="45720" tIns="27432" bIns="27432" anchor="t">
            <a:spAutoFit/>
          </a:bodyPr>
          <a:lstStyle/>
          <a:p>
            <a:pPr algn="l">
              <a:spcAft>
                <a:spcPts val="0"/>
              </a:spcAft>
            </a:pPr>
            <a:r>
              <a:rPr sz="900" b="0" i="0">
                <a:solidFill>
                  <a:srgbClr val="7090B0"/>
                </a:solidFill>
                <a:latin typeface="Calibri"/>
              </a:rPr>
              <a:t>Sebastián Navarrete Soto  ·  Diapositiva 17 / 17</a:t>
            </a:r>
          </a:p>
        </p:txBody>
      </p:sp>
      <p:sp>
        <p:nvSpPr>
          <p:cNvPr id="16" name="Marcador webcam (reemplazar por video)"/>
          <p:cNvSpPr/>
          <p:nvPr/>
        </p:nvSpPr>
        <p:spPr>
          <a:xfrm>
            <a:off x="10049256" y="4718304"/>
            <a:ext cx="2057400" cy="2057400"/>
          </a:xfrm>
          <a:prstGeom prst="ellipse">
            <a:avLst/>
          </a:prstGeom>
          <a:solidFill>
            <a:srgbClr val="121C2C"/>
          </a:solidFill>
          <a:ln w="15875">
            <a:solidFill>
              <a:srgbClr val="2A3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3144</Words>
  <Application>Microsoft Macintosh PowerPoint</Application>
  <PresentationFormat>Custom</PresentationFormat>
  <Paragraphs>397</Paragraphs>
  <Slides>12</Slides>
  <Notes>12</Notes>
  <HiddenSlides>0</HiddenSlides>
  <MMClips>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Ingeniería de variables y selección de características — Titanic — MCDI503 Fase 4 (Grupo 5)</dc:title>
  <dc:subject/>
  <dc:creator>Grupo 5 — MCDI503</dc:creator>
  <cp:keywords/>
  <dc:description>generated using python-pptx</dc:description>
  <cp:lastModifiedBy>Arturo Knopke Vera</cp:lastModifiedBy>
  <cp:revision>3</cp:revision>
  <dcterms:created xsi:type="dcterms:W3CDTF">2013-01-27T09:14:16Z</dcterms:created>
  <dcterms:modified xsi:type="dcterms:W3CDTF">2026-06-20T16:39:10Z</dcterms:modified>
  <cp:category/>
</cp:coreProperties>
</file>